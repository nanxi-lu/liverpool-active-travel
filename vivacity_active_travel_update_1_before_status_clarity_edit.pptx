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Today I’m presenting the current progress of my dissertation analysis on active travel interventions and walking/cycling uptake. The focus is on what data I selected, how I cleaned it, how I built the contextual and control comparison, what modelling has been done, and what limitations remain. At this stage, the work supports an exploratory causal analysis rather than a definitive impact estimate.</a:t>
            </a:r>
          </a:p>
          <a:p>
            <a:endParaRPr lang="en-GB"/>
          </a:p>
          <a:p>
            <a:r>
              <a:rPr lang="en-GB"/>
              <a:t>This presentation summarises where the dissertation analysis currently stands. The project now focuses on Vivacity sensor data as the main evidence base, with LSOA, IMD and Census context used to interpret the socio-economic setting of each sensor.</a:t>
            </a:r>
            <a:endParaRPr lang="en-GB"/>
          </a:p>
          <a:p>
            <a:endParaRPr lang="en-GB"/>
          </a:p>
          <a:p>
            <a:r>
              <a:rPr lang="en-GB"/>
              <a:t>The key point is that this is not yet a final causal impact evaluation. It is an exploratory workflow that tests how much the available data can support active travel evaluation.</a:t>
            </a:r>
            <a:endParaRPr lang="en-GB"/>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The research question asks whether deprived and affluent neighbourhoods show different walking and cycling trajectories after active travel interventions, compared with matched non-intervention areas. I have operationalised this using Vivacity countline sensor data, linked to LSOA-level deprivation and Census context. The current answer is cautious: the evidence shows mixed relative trajectories, but not a clear causal increase in walking or cycling.</a:t>
            </a:r>
          </a:p>
          <a:p>
            <a:endParaRPr lang="en-GB"/>
          </a:p>
          <a:p>
            <a:r>
              <a:rPr lang="en-GB"/>
              <a:t>The research question has become more operational. Instead of asking generally whether active travel schemes increase walking and cycling, I am comparing time-series trajectories at treated countlines with matched non-intervention countlines.</a:t>
            </a:r>
            <a:endParaRPr lang="en-GB"/>
          </a:p>
          <a:p>
            <a:endParaRPr lang="en-GB"/>
          </a:p>
          <a:p>
            <a:r>
              <a:rPr lang="en-GB"/>
              <a:t>The equity element comes from asking whether these trajectories differ across more deprived, middle and more affluent neighbourhood contexts. However, because the sample is small, the equity analysis should be interpreted as contextual rather than a robust deprivation-effect model.</a:t>
            </a:r>
            <a:endParaRPr lang="en-GB"/>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I started with five treated scheme groups: 12b, 12d, 12e, 12f, and 13. The exact scheme dates are now available and certain, so I will use the confirmed dates directly as the model intervention dates. The previous classification modelled 12d, 12f and 13, while keeping 12b and 12e descriptive. This now needs to be rechecked against the confirmed exact dates.</a:t>
            </a:r>
            <a:r>
              <a:rPr lang="fr-FR"/>
              <a:t> </a:t>
            </a:r>
            <a:endParaRPr lang="fr-FR"/>
          </a:p>
          <a:p>
            <a:endParaRPr lang="en-GB"/>
          </a:p>
          <a:p>
            <a:r>
              <a:rPr lang="en-GB"/>
              <a:t>Schemes 12b and 12e were previously retained for descriptive analysis because their reliable treated sensor data appeared to begin after the assumed month-start intervention date. With exact dates now available, their status should be reassessed by comparing each first reliable sensor date against the confirmed scheme date.</a:t>
            </a:r>
            <a:endParaRPr lang="en-GB"/>
          </a:p>
          <a:p>
            <a:endParaRPr lang="en-GB"/>
          </a:p>
          <a:p>
            <a:r>
              <a:rPr lang="en-GB"/>
              <a:t>Schemes 12d, 12f and 13 remain the strongest current modelling candidates, but their pre/post windows should also be recalculated using the confirmed exact dates.</a:t>
            </a:r>
            <a:endParaRPr lang="en-GB"/>
          </a:p>
          <a:p>
            <a:endParaRPr lang="en-GB"/>
          </a:p>
          <a:p>
            <a:r>
              <a:rPr lang="en-GB"/>
              <a:t>The date uncertainty limitation has now been reduced because exact scheme dates are available. The next step is to replace month-start assumptions, rebuild the pre/post classifications, and rerun diagnostics.</a:t>
            </a:r>
            <a:endParaRPr lang="en-GB"/>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The cleaning process was designed to avoid mistaking missing sensor history for real zero flows. I aggregated raw Vivacity exports to daily countline totals, then filtered to complete days up to 26 May 2026. I also identified each countline’s first reliable date, based on positive active travel flow and sufficient reliable days in the following 21-day window. This means early unreliable periods are excluded rather than treated as low activity.</a:t>
            </a:r>
          </a:p>
          <a:p/>
          <a:p>
            <a:r>
              <a:rPr lang="en-GB"/>
              <a:t>A major risk in the raw data is that early zero counts may not mean no one was walking or cycling. They may mean the sensor was not yet active or was not producing reliable data.</a:t>
            </a:r>
            <a:endParaRPr lang="en-GB"/>
          </a:p>
          <a:p>
            <a:r>
              <a:rPr lang="en-GB"/>
              <a:t>Therefore, the cleaning process identifies the first reliable date for each countline and removes unreliable early periods from analysis. This avoids underestimating pre-intervention activity or creating artificial changes after installation.</a:t>
            </a:r>
            <a:endParaRPr lang="en-GB"/>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Before modelling, I built an integrity gate for all treated and control countlines. In total, 55 countlines were assessed: 21 treated and 34 controls. Thirteen controls met the pragmatic causal threshold, but only two met the stricter seasonal threshold. This is one reason the analysis remains exploratory. </a:t>
            </a:r>
          </a:p>
          <a:p/>
          <a:p>
            <a:r>
              <a:t>Controls also still need manual checks to make sure they were not affected by other nearby schemes.</a:t>
            </a:r>
          </a:p>
          <a:p>
            <a:endParaRPr lang="en-GB"/>
          </a:p>
          <a:p>
            <a:r>
              <a:rPr lang="en-GB"/>
              <a:t>The integrity gate is important because it prevents weak control sites from entering the main model. A control countline must have reliable observations before the intervention month and enough post-intervention coverage.</a:t>
            </a:r>
            <a:endParaRPr lang="en-GB"/>
          </a:p>
          <a:p>
            <a:endParaRPr lang="en-GB"/>
          </a:p>
          <a:p>
            <a:r>
              <a:rPr lang="en-GB"/>
              <a:t>Controls that fail this rule are not deleted from the project, but they are treated as descriptive-only. This makes the modelling sample smaller, but it makes the analysis more transparent.</a:t>
            </a:r>
            <a:endParaRPr lang="en-GB"/>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For the contextual analysis, I used LSOA 2021 as the common spatial unit. Sensor points were spatially joined to LSOA boundaries, then linked to IMD, income and employment deprivation, population density, car availability, and Census commute variables. This allowed me to compare treated and control areas socio-economically, and to shortlist controls based on contextual similarity rather than only geographic closeness.</a:t>
            </a:r>
          </a:p>
          <a:p/>
          <a:p>
            <a:r>
              <a:rPr lang="en-GB"/>
              <a:t>The LSOA 2021 join allows each sensor to be linked to deprivation and Census variables. This does not tell us the income or deprivation status of individual people passing the sensor.</a:t>
            </a:r>
            <a:endParaRPr lang="en-GB"/>
          </a:p>
          <a:p>
            <a:r>
              <a:rPr lang="en-GB"/>
              <a:t>Instead, it describes the neighbourhood context around the sensor. So the analysis is about area-level equity context, not individual-level behaviour.</a:t>
            </a:r>
            <a:endParaRPr lang="en-GB"/>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The modelling approach is an exploratory matched-control interrupted time-series. I aggregate the data to weekly countline-level outcomes and estimate models separately for each scheme and outcome. </a:t>
            </a:r>
          </a:p>
          <a:p/>
          <a:p>
            <a:r>
              <a:t>The key outcomes are pedestrian counts, cyclist counts, and total active travel per observed countline-day. The model includes time, post-intervention level change, post-intervention slope change, seasonality, and countline fixed effects, with cluster-robust standard errors by countline.</a:t>
            </a:r>
          </a:p>
          <a:p>
            <a:endParaRPr lang="en-GB"/>
          </a:p>
          <a:p>
            <a:r>
              <a:rPr lang="en-GB"/>
              <a:t>The model estimates whether treated countlines changed differently from valid controls after the confirmed intervention date.</a:t>
            </a:r>
            <a:endParaRPr lang="en-GB"/>
          </a:p>
          <a:p>
            <a:endParaRPr lang="en-GB"/>
          </a:p>
          <a:p>
            <a:r>
              <a:rPr lang="en-GB"/>
              <a:t>The immediate level term captures whether there was a step change after the confirmed intervention date, while the slope term captures whether the trajectory changed over time. I use weekly aggregation to reduce daily noise, and seasonality controls are included because walking and cycling naturally vary across the year.</a:t>
            </a:r>
            <a:endParaRPr lang="en-GB"/>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The causal diagnostics explain why the claims need to stay cautious. I ran pre-trend tests and event-study diagnostics. All three modelled schemes show weak causal readiness: 12d has two pre-trend warnings, while 12f and 13 have pre-event warnings in the event-study checks. These diagnostics are useful because they make the uncertainty explicit, but they do not support a strong causal claim.</a:t>
            </a:r>
          </a:p>
          <a:p/>
          <a:p>
            <a:r>
              <a:rPr lang="en-GB"/>
              <a:t>The diagnostics are used to test whether stronger causal interpretation is credible. For scheme 12d, treated and control trends were already different before the intervention, which weakens causal interpretation.</a:t>
            </a:r>
            <a:endParaRPr lang="en-GB"/>
          </a:p>
          <a:p>
            <a:endParaRPr lang="en-GB"/>
          </a:p>
          <a:p>
            <a:r>
              <a:rPr lang="en-GB"/>
              <a:t>For 12f and 13, the linear pre-trend tests are better, but the event-study checks still show pre-period warnings. Therefore, all three schemes remain exploratory rather than definitive causal evidence.</a:t>
            </a:r>
            <a:endParaRPr lang="en-GB"/>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The descriptive analysis covers all five schemes, including those not suitable for causal modelling. I produced weekly and monthly trend plots, mode-specific summaries, route-type comparisons, seasonality profiles, pre/post summaries, and sensitivity-ready scenarios. This part is valuable for describing observed patterns, especially for 12b and 12e, even though it does not solve the causal identification problem.</a:t>
            </a:r>
          </a:p>
          <a:p>
            <a:endParaRPr lang="en-GB"/>
          </a:p>
          <a:p>
            <a:r>
              <a:rPr lang="en-GB"/>
              <a:t>The descriptive analysis is still useful because it includes all five schemes, including those that cannot enter the causal model. The next version should explicitly separate pedestrian from cyclist trends, and road countlines from path or cycle-facility countlines.</a:t>
            </a:r>
            <a:endParaRPr lang="en-GB"/>
          </a:p>
          <a:p>
            <a:r>
              <a:rPr lang="en-GB"/>
              <a:t>This matters because combined active travel totals can hide different walking and cycling responses, and mixed road/path countlines can hide whether change is happening on the dedicated facility or the carriageway.</a:t>
            </a:r>
            <a:endParaRPr lang="en-GB"/>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The exploratory model results are mixed. There is no clear positive uptake signal across the modelled schemes. For 12d, cyclist counts show a negative statistically flagged slope relative to controls, around minus 0.15 percent per week. For 12f, active travel shows a negative statistically flagged slope of around minus 0.11 percent per week. For 13, the results are mostly uncertain. I would describe these as relative trajectory differences, not direct scheme effects.</a:t>
            </a:r>
          </a:p>
          <a:p>
            <a:endParaRPr lang="en-GB"/>
          </a:p>
          <a:p>
            <a:r>
              <a:rPr lang="en-GB"/>
              <a:t>The model results do not show a clear positive uptake signal relative to controls. The next modelling step should separate pedestrian and cyclist outcomes, and where sample size allows, separate road countlines from path or cycle-facility countlines.</a:t>
            </a:r>
            <a:r>
              <a:rPr lang="fr-FR" altLang="en-GB"/>
              <a:t> </a:t>
            </a:r>
            <a:r>
              <a:rPr lang="en-GB"/>
              <a:t>This should not be written as proof that the schemes reduced active travel. A safer interpretation is that the combined treated countlines did not clearly outperform controls, and that mode-specific and route-type-specific analysis is needed before making scheme-level claims.</a:t>
            </a:r>
            <a:endParaRPr lang="en-GB"/>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The equity and deprivation component links each countline to local socio-economic context. This lets me discuss whether schemes and controls sit in more deprived or more affluent neighbourhoods, and whether observed walking and cycling patterns differ across those contexts. However, the sample is small and not balanced across IMD bands, so this should be treated as contextual interpretation rather than a robust deprivation-effect model.</a:t>
            </a:r>
          </a:p>
          <a:p/>
          <a:p>
            <a:r>
              <a:rPr lang="en-GB"/>
              <a:t>The equity analysis is limited by sample balance. More deprived areas are well represented, especially in schemes 12d and 13, but more affluent contexts are limited.</a:t>
            </a:r>
            <a:endParaRPr lang="en-GB"/>
          </a:p>
          <a:p>
            <a:r>
              <a:rPr lang="en-GB"/>
              <a:t>Therefore, the dissertation can discuss whether the usable evidence base is uneven across deprivation contexts, but it should not claim a strong deprived-versus-affluent causal difference.</a:t>
            </a:r>
            <a:endParaRPr lang="en-GB"/>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The main limitations are now possible control contamination, limited pre-intervention coverage for some schemes after exact-date recalculation, a small pool of valid controls, and sensor measurement issues. My recommended framing is: this is exploratory matched-control interrupted time-series evidence of relative trajectory differences after confirmed intervention dates. The next </a:t>
            </a:r>
            <a:r>
              <a:rPr lang="fr-FR"/>
              <a:t>questions</a:t>
            </a:r>
            <a:r>
              <a:t> are to separate pedestrian/cyclist and road/path outcomes, and then prioritise manual verification of control sites.</a:t>
            </a:r>
          </a:p>
          <a:p>
            <a:endParaRPr lang="en-GB"/>
          </a:p>
          <a:p>
            <a:r>
              <a:rPr lang="en-GB"/>
              <a:t>The main limitations are not just technical; they affect the strength of the dissertation claims. The exact scheme dates are now available, but some schemes may still lack pre-intervention baselines after recalculation, and the control sites still need manual checking.</a:t>
            </a:r>
            <a:endParaRPr lang="en-GB"/>
          </a:p>
          <a:p>
            <a:endParaRPr lang="en-GB"/>
          </a:p>
          <a:p>
            <a:r>
              <a:rPr lang="en-GB"/>
              <a:t>The results chapter should report pedestrian and cyclist outcomes separately first, and should also separate road and path/cycle-facility countlines where the sample supports it. Active travel total should be used only as a summary measure after these disaggregated results.</a:t>
            </a:r>
            <a:endParaRPr lang="en-GB"/>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s 1"/>
          <p:cNvSpPr>
            <a:spLocks noGrp="1"/>
          </p:cNvSpPr>
          <p:nvPr/>
        </p:nvSpPr>
        <p:spPr>
          <a:xfrm>
            <a:off x="0" y="0"/>
            <a:ext cx="12192000" cy="6858000"/>
          </a:xfrm>
          <a:prstGeom prst="rect">
            <a:avLst/>
          </a:prstGeom>
          <a:solidFill>
            <a:srgbClr val="FAFBFB"/>
          </a:solidFill>
          <a:ln w="0">
            <a:noFill/>
            <a:prstDash val="solid"/>
          </a:ln>
        </p:spPr>
      </p:sp>
      <p:sp>
        <p:nvSpPr>
          <p:cNvPr id="3" name="Rectangles 2"/>
          <p:cNvSpPr>
            <a:spLocks noGrp="1"/>
          </p:cNvSpPr>
          <p:nvPr/>
        </p:nvSpPr>
        <p:spPr>
          <a:xfrm>
            <a:off x="7048500" y="0"/>
            <a:ext cx="5143500" cy="6858000"/>
          </a:xfrm>
          <a:prstGeom prst="rect">
            <a:avLst/>
          </a:prstGeom>
          <a:solidFill>
            <a:srgbClr val="DCEBF0"/>
          </a:solidFill>
          <a:ln w="0">
            <a:noFill/>
            <a:prstDash val="solid"/>
          </a:ln>
        </p:spPr>
      </p:sp>
      <p:sp>
        <p:nvSpPr>
          <p:cNvPr id="4" name="Rounded Rectangle 3"/>
          <p:cNvSpPr>
            <a:spLocks noGrp="1"/>
          </p:cNvSpPr>
          <p:nvPr/>
        </p:nvSpPr>
        <p:spPr>
          <a:xfrm>
            <a:off x="7953375" y="1333500"/>
            <a:ext cx="3619500" cy="3619500"/>
          </a:xfrm>
          <a:prstGeom prst="roundRect">
            <a:avLst>
              <a:gd name="adj" fmla="val 3158"/>
            </a:avLst>
          </a:prstGeom>
          <a:solidFill>
            <a:srgbClr val="FFFFFF"/>
          </a:solidFill>
          <a:ln w="0">
            <a:noFill/>
            <a:prstDash val="solid"/>
          </a:ln>
        </p:spPr>
      </p:sp>
      <p:sp>
        <p:nvSpPr>
          <p:cNvPr id="6" name="Rectangles 5"/>
          <p:cNvSpPr>
            <a:spLocks noGrp="1"/>
          </p:cNvSpPr>
          <p:nvPr/>
        </p:nvSpPr>
        <p:spPr>
          <a:xfrm>
            <a:off x="609600" y="990600"/>
            <a:ext cx="6572250" cy="1352550"/>
          </a:xfrm>
          <a:prstGeom prst="rect">
            <a:avLst/>
          </a:prstGeom>
        </p:spPr>
        <p:txBody>
          <a:bodyPr lIns="0" tIns="0" rIns="0" bIns="0">
            <a:normAutofit/>
          </a:bodyPr>
          <a:lstStyle/>
          <a:p>
            <a:pPr algn="l">
              <a:defRPr sz="3600" b="1" i="0">
                <a:solidFill>
                  <a:srgbClr val="16202A"/>
                </a:solidFill>
                <a:latin typeface="Aptos"/>
                <a:ea typeface="Aptos"/>
                <a:cs typeface="Aptos"/>
              </a:defRPr>
            </a:pPr>
            <a:r>
              <a:t>Active travel interventions and walking/cycling uptake</a:t>
            </a:r>
          </a:p>
        </p:txBody>
      </p:sp>
      <p:sp>
        <p:nvSpPr>
          <p:cNvPr id="7" name="Rectangles 6"/>
          <p:cNvSpPr>
            <a:spLocks noGrp="1"/>
          </p:cNvSpPr>
          <p:nvPr/>
        </p:nvSpPr>
        <p:spPr>
          <a:xfrm>
            <a:off x="628650" y="2647950"/>
            <a:ext cx="5810250" cy="723900"/>
          </a:xfrm>
          <a:prstGeom prst="rect">
            <a:avLst/>
          </a:prstGeom>
        </p:spPr>
        <p:txBody>
          <a:bodyPr lIns="0" tIns="0" rIns="0" bIns="0">
            <a:normAutofit/>
          </a:bodyPr>
          <a:lstStyle/>
          <a:p>
            <a:pPr algn="l">
              <a:defRPr sz="1650" b="0" i="0">
                <a:solidFill>
                  <a:srgbClr val="536170"/>
                </a:solidFill>
                <a:latin typeface="Aptos"/>
                <a:ea typeface="Aptos"/>
                <a:cs typeface="Aptos"/>
              </a:defRPr>
            </a:pPr>
            <a:r>
              <a:t>Data selection, cleaning, contextual matching, exploratory modelling, causal diagnostics, and current limitations.</a:t>
            </a:r>
          </a:p>
        </p:txBody>
      </p:sp>
      <p:sp>
        <p:nvSpPr>
          <p:cNvPr id="8" name="Rounded Rectangle 7"/>
          <p:cNvSpPr>
            <a:spLocks noGrp="1"/>
          </p:cNvSpPr>
          <p:nvPr/>
        </p:nvSpPr>
        <p:spPr>
          <a:xfrm>
            <a:off x="628650" y="3714750"/>
            <a:ext cx="1714500" cy="323850"/>
          </a:xfrm>
          <a:prstGeom prst="roundRect">
            <a:avLst>
              <a:gd name="adj" fmla="val 47059"/>
            </a:avLst>
          </a:prstGeom>
          <a:solidFill>
            <a:srgbClr val="1F6F8B"/>
          </a:solidFill>
          <a:ln w="0">
            <a:noFill/>
            <a:prstDash val="solid"/>
          </a:ln>
        </p:spPr>
      </p:sp>
      <p:sp>
        <p:nvSpPr>
          <p:cNvPr id="9" name="Rectangles 8"/>
          <p:cNvSpPr>
            <a:spLocks noGrp="1"/>
          </p:cNvSpPr>
          <p:nvPr/>
        </p:nvSpPr>
        <p:spPr>
          <a:xfrm>
            <a:off x="742950" y="3781425"/>
            <a:ext cx="1485900" cy="190500"/>
          </a:xfrm>
          <a:prstGeom prst="rect">
            <a:avLst/>
          </a:prstGeom>
        </p:spPr>
        <p:txBody>
          <a:bodyPr lIns="0" tIns="0" rIns="0" bIns="0">
            <a:normAutofit/>
          </a:bodyPr>
          <a:lstStyle/>
          <a:p>
            <a:pPr algn="ctr">
              <a:defRPr sz="975" b="1" i="0">
                <a:solidFill>
                  <a:srgbClr val="FFFFFF"/>
                </a:solidFill>
                <a:latin typeface="Aptos"/>
                <a:ea typeface="Aptos"/>
                <a:cs typeface="Aptos"/>
              </a:defRPr>
            </a:pPr>
            <a:r>
              <a:t>Vivacity sensor data</a:t>
            </a:r>
          </a:p>
        </p:txBody>
      </p:sp>
      <p:sp>
        <p:nvSpPr>
          <p:cNvPr id="10" name="Rounded Rectangle 9"/>
          <p:cNvSpPr>
            <a:spLocks noGrp="1"/>
          </p:cNvSpPr>
          <p:nvPr/>
        </p:nvSpPr>
        <p:spPr>
          <a:xfrm>
            <a:off x="2495550" y="3714750"/>
            <a:ext cx="2381250" cy="323850"/>
          </a:xfrm>
          <a:prstGeom prst="roundRect">
            <a:avLst>
              <a:gd name="adj" fmla="val 47059"/>
            </a:avLst>
          </a:prstGeom>
          <a:solidFill>
            <a:srgbClr val="2A9D8F"/>
          </a:solidFill>
          <a:ln w="0">
            <a:noFill/>
            <a:prstDash val="solid"/>
          </a:ln>
        </p:spPr>
      </p:sp>
      <p:sp>
        <p:nvSpPr>
          <p:cNvPr id="11" name="Rectangles 10"/>
          <p:cNvSpPr>
            <a:spLocks noGrp="1"/>
          </p:cNvSpPr>
          <p:nvPr/>
        </p:nvSpPr>
        <p:spPr>
          <a:xfrm>
            <a:off x="2609850" y="3781425"/>
            <a:ext cx="2152650" cy="190500"/>
          </a:xfrm>
          <a:prstGeom prst="rect">
            <a:avLst/>
          </a:prstGeom>
        </p:spPr>
        <p:txBody>
          <a:bodyPr lIns="0" tIns="0" rIns="0" bIns="0">
            <a:normAutofit/>
          </a:bodyPr>
          <a:lstStyle/>
          <a:p>
            <a:pPr algn="ctr">
              <a:defRPr sz="975" b="1" i="0">
                <a:solidFill>
                  <a:srgbClr val="FFFFFF"/>
                </a:solidFill>
                <a:latin typeface="Aptos"/>
                <a:ea typeface="Aptos"/>
                <a:cs typeface="Aptos"/>
              </a:defRPr>
            </a:pPr>
            <a:r>
              <a:t>LSOA + IMD + Census context</a:t>
            </a:r>
          </a:p>
        </p:txBody>
      </p:sp>
      <p:sp>
        <p:nvSpPr>
          <p:cNvPr id="12" name="Rounded Rectangle 11"/>
          <p:cNvSpPr>
            <a:spLocks noGrp="1"/>
          </p:cNvSpPr>
          <p:nvPr/>
        </p:nvSpPr>
        <p:spPr>
          <a:xfrm>
            <a:off x="5048250" y="3714750"/>
            <a:ext cx="1428750" cy="323850"/>
          </a:xfrm>
          <a:prstGeom prst="roundRect">
            <a:avLst>
              <a:gd name="adj" fmla="val 47059"/>
            </a:avLst>
          </a:prstGeom>
          <a:solidFill>
            <a:srgbClr val="334155"/>
          </a:solidFill>
          <a:ln w="0">
            <a:noFill/>
            <a:prstDash val="solid"/>
          </a:ln>
        </p:spPr>
      </p:sp>
      <p:sp>
        <p:nvSpPr>
          <p:cNvPr id="13" name="Rectangles 12"/>
          <p:cNvSpPr>
            <a:spLocks noGrp="1"/>
          </p:cNvSpPr>
          <p:nvPr/>
        </p:nvSpPr>
        <p:spPr>
          <a:xfrm>
            <a:off x="5162550" y="3781425"/>
            <a:ext cx="1200150" cy="190500"/>
          </a:xfrm>
          <a:prstGeom prst="rect">
            <a:avLst/>
          </a:prstGeom>
        </p:spPr>
        <p:txBody>
          <a:bodyPr lIns="0" tIns="0" rIns="0" bIns="0">
            <a:normAutofit/>
          </a:bodyPr>
          <a:lstStyle/>
          <a:p>
            <a:pPr algn="ctr">
              <a:defRPr sz="975" b="1" i="0">
                <a:solidFill>
                  <a:srgbClr val="FFFFFF"/>
                </a:solidFill>
                <a:latin typeface="Aptos"/>
                <a:ea typeface="Aptos"/>
                <a:cs typeface="Aptos"/>
              </a:defRPr>
            </a:pPr>
            <a:r>
              <a:t>Exploratory ITS</a:t>
            </a:r>
          </a:p>
        </p:txBody>
      </p:sp>
      <p:sp>
        <p:nvSpPr>
          <p:cNvPr id="14" name="Rectangles 13"/>
          <p:cNvSpPr>
            <a:spLocks noGrp="1"/>
          </p:cNvSpPr>
          <p:nvPr/>
        </p:nvSpPr>
        <p:spPr>
          <a:xfrm>
            <a:off x="8295005" y="1865630"/>
            <a:ext cx="1333500" cy="533400"/>
          </a:xfrm>
          <a:prstGeom prst="rect">
            <a:avLst/>
          </a:prstGeom>
        </p:spPr>
        <p:txBody>
          <a:bodyPr lIns="0" tIns="0" rIns="0" bIns="0">
            <a:normAutofit/>
          </a:bodyPr>
          <a:lstStyle/>
          <a:p>
            <a:pPr algn="ctr">
              <a:defRPr sz="3150" b="1" i="0">
                <a:solidFill>
                  <a:srgbClr val="1F6F8B"/>
                </a:solidFill>
                <a:latin typeface="Aptos"/>
                <a:ea typeface="Aptos"/>
                <a:cs typeface="Aptos"/>
              </a:defRPr>
            </a:pPr>
            <a:r>
              <a:t>55</a:t>
            </a:r>
          </a:p>
        </p:txBody>
      </p:sp>
      <p:sp>
        <p:nvSpPr>
          <p:cNvPr id="15" name="Rectangles 14"/>
          <p:cNvSpPr>
            <a:spLocks noGrp="1"/>
          </p:cNvSpPr>
          <p:nvPr/>
        </p:nvSpPr>
        <p:spPr>
          <a:xfrm>
            <a:off x="8295005" y="2360930"/>
            <a:ext cx="1333500" cy="400050"/>
          </a:xfrm>
          <a:prstGeom prst="rect">
            <a:avLst/>
          </a:prstGeom>
        </p:spPr>
        <p:txBody>
          <a:bodyPr lIns="0" tIns="0" rIns="0" bIns="0">
            <a:normAutofit/>
          </a:bodyPr>
          <a:lstStyle/>
          <a:p>
            <a:pPr algn="ctr">
              <a:defRPr sz="1050" b="0" i="0">
                <a:solidFill>
                  <a:srgbClr val="536170"/>
                </a:solidFill>
                <a:latin typeface="Aptos"/>
                <a:ea typeface="Aptos"/>
                <a:cs typeface="Aptos"/>
              </a:defRPr>
            </a:pPr>
            <a:r>
              <a:t>countlines assessed</a:t>
            </a:r>
          </a:p>
        </p:txBody>
      </p:sp>
      <p:sp>
        <p:nvSpPr>
          <p:cNvPr id="16" name="Rectangles 15"/>
          <p:cNvSpPr>
            <a:spLocks noGrp="1"/>
          </p:cNvSpPr>
          <p:nvPr/>
        </p:nvSpPr>
        <p:spPr>
          <a:xfrm>
            <a:off x="9819005" y="1865630"/>
            <a:ext cx="1428750" cy="533400"/>
          </a:xfrm>
          <a:prstGeom prst="rect">
            <a:avLst/>
          </a:prstGeom>
        </p:spPr>
        <p:txBody>
          <a:bodyPr lIns="0" tIns="0" rIns="0" bIns="0">
            <a:normAutofit/>
          </a:bodyPr>
          <a:lstStyle/>
          <a:p>
            <a:pPr algn="ctr">
              <a:defRPr sz="3150" b="1" i="0">
                <a:solidFill>
                  <a:srgbClr val="2A9D8F"/>
                </a:solidFill>
                <a:latin typeface="Aptos"/>
                <a:ea typeface="Aptos"/>
                <a:cs typeface="Aptos"/>
              </a:defRPr>
            </a:pPr>
            <a:r>
              <a:t>13</a:t>
            </a:r>
          </a:p>
        </p:txBody>
      </p:sp>
      <p:sp>
        <p:nvSpPr>
          <p:cNvPr id="17" name="Rectangles 16"/>
          <p:cNvSpPr>
            <a:spLocks noGrp="1"/>
          </p:cNvSpPr>
          <p:nvPr/>
        </p:nvSpPr>
        <p:spPr>
          <a:xfrm>
            <a:off x="9819005" y="2360930"/>
            <a:ext cx="1428750" cy="400050"/>
          </a:xfrm>
          <a:prstGeom prst="rect">
            <a:avLst/>
          </a:prstGeom>
        </p:spPr>
        <p:txBody>
          <a:bodyPr lIns="0" tIns="0" rIns="0" bIns="0">
            <a:normAutofit/>
          </a:bodyPr>
          <a:lstStyle/>
          <a:p>
            <a:pPr algn="ctr">
              <a:defRPr sz="1050" b="0" i="0">
                <a:solidFill>
                  <a:srgbClr val="536170"/>
                </a:solidFill>
                <a:latin typeface="Aptos"/>
                <a:ea typeface="Aptos"/>
                <a:cs typeface="Aptos"/>
              </a:defRPr>
            </a:pPr>
            <a:r>
              <a:t>pragmatic controls</a:t>
            </a:r>
          </a:p>
        </p:txBody>
      </p:sp>
      <p:sp>
        <p:nvSpPr>
          <p:cNvPr id="18" name="Rectangles 17"/>
          <p:cNvSpPr>
            <a:spLocks noGrp="1"/>
          </p:cNvSpPr>
          <p:nvPr/>
        </p:nvSpPr>
        <p:spPr>
          <a:xfrm>
            <a:off x="9104630" y="3218180"/>
            <a:ext cx="1428750" cy="533400"/>
          </a:xfrm>
          <a:prstGeom prst="rect">
            <a:avLst/>
          </a:prstGeom>
        </p:spPr>
        <p:txBody>
          <a:bodyPr lIns="0" tIns="0" rIns="0" bIns="0">
            <a:normAutofit/>
          </a:bodyPr>
          <a:lstStyle/>
          <a:p>
            <a:pPr algn="ctr">
              <a:defRPr sz="3150" b="1" i="0">
                <a:solidFill>
                  <a:srgbClr val="C84C3A"/>
                </a:solidFill>
                <a:latin typeface="Aptos"/>
                <a:ea typeface="Aptos"/>
                <a:cs typeface="Aptos"/>
              </a:defRPr>
            </a:pPr>
            <a:r>
              <a:t>3</a:t>
            </a:r>
          </a:p>
        </p:txBody>
      </p:sp>
      <p:sp>
        <p:nvSpPr>
          <p:cNvPr id="19" name="Rectangles 18"/>
          <p:cNvSpPr>
            <a:spLocks noGrp="1"/>
          </p:cNvSpPr>
          <p:nvPr/>
        </p:nvSpPr>
        <p:spPr>
          <a:xfrm>
            <a:off x="9104630" y="3713480"/>
            <a:ext cx="1428750" cy="400050"/>
          </a:xfrm>
          <a:prstGeom prst="rect">
            <a:avLst/>
          </a:prstGeom>
        </p:spPr>
        <p:txBody>
          <a:bodyPr lIns="0" tIns="0" rIns="0" bIns="0">
            <a:normAutofit/>
          </a:bodyPr>
          <a:lstStyle/>
          <a:p>
            <a:pPr algn="ctr">
              <a:defRPr sz="1050" b="0" i="0">
                <a:solidFill>
                  <a:srgbClr val="536170"/>
                </a:solidFill>
                <a:latin typeface="Aptos"/>
                <a:ea typeface="Aptos"/>
                <a:cs typeface="Aptos"/>
              </a:defRPr>
            </a:pPr>
            <a:r>
              <a:t>schemes modelled</a:t>
            </a:r>
          </a:p>
        </p:txBody>
      </p:sp>
      <p:sp>
        <p:nvSpPr>
          <p:cNvPr id="21" name="Rectangles 20"/>
          <p:cNvSpPr>
            <a:spLocks noGrp="1"/>
          </p:cNvSpPr>
          <p:nvPr/>
        </p:nvSpPr>
        <p:spPr>
          <a:xfrm>
            <a:off x="11239500" y="6419850"/>
            <a:ext cx="381000" cy="228600"/>
          </a:xfrm>
          <a:prstGeom prst="rect">
            <a:avLst/>
          </a:prstGeom>
        </p:spPr>
        <p:txBody>
          <a:bodyPr lIns="0" tIns="0" rIns="0" bIns="0">
            <a:normAutofit/>
          </a:bodyPr>
          <a:lstStyle/>
          <a:p>
            <a:pPr algn="r">
              <a:defRPr sz="900" b="0" i="0">
                <a:solidFill>
                  <a:srgbClr val="7B8794"/>
                </a:solidFill>
                <a:latin typeface="Aptos"/>
                <a:ea typeface="Aptos"/>
                <a:cs typeface="Aptos"/>
              </a:defRPr>
            </a:pPr>
            <a:r>
              <a:t>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s 1"/>
          <p:cNvSpPr>
            <a:spLocks noGrp="1"/>
          </p:cNvSpPr>
          <p:nvPr/>
        </p:nvSpPr>
        <p:spPr>
          <a:xfrm>
            <a:off x="0" y="0"/>
            <a:ext cx="12192000" cy="6858000"/>
          </a:xfrm>
          <a:prstGeom prst="rect">
            <a:avLst/>
          </a:prstGeom>
          <a:solidFill>
            <a:srgbClr val="FAFBFB"/>
          </a:solidFill>
          <a:ln w="0">
            <a:noFill/>
            <a:prstDash val="solid"/>
          </a:ln>
        </p:spPr>
      </p:sp>
      <p:sp>
        <p:nvSpPr>
          <p:cNvPr id="3" name="Rectangles 2"/>
          <p:cNvSpPr>
            <a:spLocks noGrp="1"/>
          </p:cNvSpPr>
          <p:nvPr/>
        </p:nvSpPr>
        <p:spPr>
          <a:xfrm>
            <a:off x="609600" y="342900"/>
            <a:ext cx="7048500" cy="266700"/>
          </a:xfrm>
          <a:prstGeom prst="rect">
            <a:avLst/>
          </a:prstGeom>
        </p:spPr>
        <p:txBody>
          <a:bodyPr lIns="0" tIns="0" rIns="0" bIns="0">
            <a:normAutofit/>
          </a:bodyPr>
          <a:lstStyle/>
          <a:p>
            <a:pPr algn="l">
              <a:defRPr sz="1125" b="1" i="0">
                <a:solidFill>
                  <a:srgbClr val="1F6F8B"/>
                </a:solidFill>
                <a:latin typeface="Aptos"/>
                <a:ea typeface="Aptos"/>
                <a:cs typeface="Aptos"/>
              </a:defRPr>
            </a:pPr>
            <a:r>
              <a:t>RESEARCH FOCUS</a:t>
            </a:r>
          </a:p>
        </p:txBody>
      </p:sp>
      <p:sp>
        <p:nvSpPr>
          <p:cNvPr id="4" name="Rectangles 3"/>
          <p:cNvSpPr>
            <a:spLocks noGrp="1"/>
          </p:cNvSpPr>
          <p:nvPr/>
        </p:nvSpPr>
        <p:spPr>
          <a:xfrm>
            <a:off x="609600" y="666750"/>
            <a:ext cx="8191500" cy="838200"/>
          </a:xfrm>
          <a:prstGeom prst="rect">
            <a:avLst/>
          </a:prstGeom>
        </p:spPr>
        <p:txBody>
          <a:bodyPr lIns="0" tIns="0" rIns="0" bIns="0">
            <a:normAutofit fontScale="91667"/>
          </a:bodyPr>
          <a:lstStyle/>
          <a:p>
            <a:pPr algn="l">
              <a:defRPr sz="3000" b="1" i="0">
                <a:solidFill>
                  <a:srgbClr val="16202A"/>
                </a:solidFill>
                <a:latin typeface="Aptos"/>
                <a:ea typeface="Aptos"/>
                <a:cs typeface="Aptos"/>
              </a:defRPr>
            </a:pPr>
            <a:r>
              <a:t>The dissertation question is now operationalised as a trajectory comparison</a:t>
            </a:r>
          </a:p>
        </p:txBody>
      </p:sp>
      <p:sp>
        <p:nvSpPr>
          <p:cNvPr id="5" name="Rectangles 4"/>
          <p:cNvSpPr>
            <a:spLocks noGrp="1"/>
          </p:cNvSpPr>
          <p:nvPr/>
        </p:nvSpPr>
        <p:spPr>
          <a:xfrm>
            <a:off x="609600" y="1609725"/>
            <a:ext cx="8858250" cy="457200"/>
          </a:xfrm>
          <a:prstGeom prst="rect">
            <a:avLst/>
          </a:prstGeom>
        </p:spPr>
        <p:txBody>
          <a:bodyPr lIns="0" tIns="0" rIns="0" bIns="0">
            <a:normAutofit/>
          </a:bodyPr>
          <a:lstStyle/>
          <a:p>
            <a:pPr algn="l">
              <a:defRPr sz="1350" b="0" i="0">
                <a:solidFill>
                  <a:srgbClr val="536170"/>
                </a:solidFill>
                <a:latin typeface="Aptos"/>
                <a:ea typeface="Aptos"/>
                <a:cs typeface="Aptos"/>
              </a:defRPr>
            </a:pPr>
            <a:r>
              <a:t>The work has moved to a reproducible exploratory treated-control time-series workflow.</a:t>
            </a:r>
          </a:p>
        </p:txBody>
      </p:sp>
      <p:sp>
        <p:nvSpPr>
          <p:cNvPr id="6" name="Rounded Rectangle 5"/>
          <p:cNvSpPr>
            <a:spLocks noGrp="1"/>
          </p:cNvSpPr>
          <p:nvPr/>
        </p:nvSpPr>
        <p:spPr>
          <a:xfrm>
            <a:off x="685800" y="2171700"/>
            <a:ext cx="4953000" cy="1476375"/>
          </a:xfrm>
          <a:prstGeom prst="roundRect">
            <a:avLst>
              <a:gd name="adj" fmla="val 5161"/>
            </a:avLst>
          </a:prstGeom>
          <a:solidFill>
            <a:srgbClr val="FFFFFF"/>
          </a:solidFill>
          <a:ln w="0">
            <a:noFill/>
            <a:prstDash val="solid"/>
          </a:ln>
        </p:spPr>
      </p:sp>
      <p:sp>
        <p:nvSpPr>
          <p:cNvPr id="7" name="Rounded Rectangle 6"/>
          <p:cNvSpPr>
            <a:spLocks noGrp="1"/>
          </p:cNvSpPr>
          <p:nvPr/>
        </p:nvSpPr>
        <p:spPr>
          <a:xfrm>
            <a:off x="819150" y="2286000"/>
            <a:ext cx="66675" cy="1247775"/>
          </a:xfrm>
          <a:prstGeom prst="roundRect">
            <a:avLst>
              <a:gd name="adj" fmla="val 50000"/>
            </a:avLst>
          </a:prstGeom>
          <a:solidFill>
            <a:srgbClr val="1F6F8B"/>
          </a:solidFill>
          <a:ln w="0">
            <a:noFill/>
            <a:prstDash val="solid"/>
          </a:ln>
        </p:spPr>
      </p:sp>
      <p:sp>
        <p:nvSpPr>
          <p:cNvPr id="8" name="Rectangles 7"/>
          <p:cNvSpPr>
            <a:spLocks noGrp="1"/>
          </p:cNvSpPr>
          <p:nvPr/>
        </p:nvSpPr>
        <p:spPr>
          <a:xfrm>
            <a:off x="1009650" y="2343150"/>
            <a:ext cx="4438650" cy="266700"/>
          </a:xfrm>
          <a:prstGeom prst="rect">
            <a:avLst/>
          </a:prstGeom>
        </p:spPr>
        <p:txBody>
          <a:bodyPr lIns="0" tIns="0" rIns="0" bIns="0">
            <a:normAutofit/>
          </a:bodyPr>
          <a:lstStyle/>
          <a:p>
            <a:pPr algn="l">
              <a:defRPr sz="1350" b="1" i="0">
                <a:solidFill>
                  <a:srgbClr val="16202A"/>
                </a:solidFill>
                <a:latin typeface="Aptos"/>
                <a:ea typeface="Aptos"/>
                <a:cs typeface="Aptos"/>
              </a:defRPr>
            </a:pPr>
            <a:r>
              <a:t>Study question</a:t>
            </a:r>
          </a:p>
        </p:txBody>
      </p:sp>
      <p:sp>
        <p:nvSpPr>
          <p:cNvPr id="9" name="Rectangles 8"/>
          <p:cNvSpPr>
            <a:spLocks noGrp="1"/>
          </p:cNvSpPr>
          <p:nvPr/>
        </p:nvSpPr>
        <p:spPr>
          <a:xfrm>
            <a:off x="1009650" y="2667000"/>
            <a:ext cx="4438650" cy="866775"/>
          </a:xfrm>
          <a:prstGeom prst="rect">
            <a:avLst/>
          </a:prstGeom>
        </p:spPr>
        <p:txBody>
          <a:bodyPr lIns="0" tIns="0" rIns="0" bIns="0">
            <a:normAutofit/>
          </a:bodyPr>
          <a:lstStyle/>
          <a:p>
            <a:pPr algn="l">
              <a:defRPr sz="1125" b="0" i="0">
                <a:solidFill>
                  <a:srgbClr val="536170"/>
                </a:solidFill>
                <a:latin typeface="Aptos"/>
                <a:ea typeface="Aptos"/>
                <a:cs typeface="Aptos"/>
              </a:defRPr>
            </a:pPr>
            <a:r>
              <a:t>Do deprived and affluent neighbourhoods exhibit different time-series trajectories in walking and cycling uptake after active travel interventions, compared with matched non-intervention areas?</a:t>
            </a:r>
          </a:p>
        </p:txBody>
      </p:sp>
      <p:sp>
        <p:nvSpPr>
          <p:cNvPr id="10" name="Rounded Rectangle 9"/>
          <p:cNvSpPr>
            <a:spLocks noGrp="1"/>
          </p:cNvSpPr>
          <p:nvPr/>
        </p:nvSpPr>
        <p:spPr>
          <a:xfrm>
            <a:off x="6153150" y="2171700"/>
            <a:ext cx="4762500" cy="1476375"/>
          </a:xfrm>
          <a:prstGeom prst="roundRect">
            <a:avLst>
              <a:gd name="adj" fmla="val 5161"/>
            </a:avLst>
          </a:prstGeom>
          <a:solidFill>
            <a:srgbClr val="FFFFFF"/>
          </a:solidFill>
          <a:ln w="0">
            <a:noFill/>
            <a:prstDash val="solid"/>
          </a:ln>
        </p:spPr>
      </p:sp>
      <p:sp>
        <p:nvSpPr>
          <p:cNvPr id="11" name="Rounded Rectangle 10"/>
          <p:cNvSpPr>
            <a:spLocks noGrp="1"/>
          </p:cNvSpPr>
          <p:nvPr/>
        </p:nvSpPr>
        <p:spPr>
          <a:xfrm>
            <a:off x="6286500" y="2286000"/>
            <a:ext cx="66675" cy="1247775"/>
          </a:xfrm>
          <a:prstGeom prst="roundRect">
            <a:avLst>
              <a:gd name="adj" fmla="val 50000"/>
            </a:avLst>
          </a:prstGeom>
          <a:solidFill>
            <a:srgbClr val="C84C3A"/>
          </a:solidFill>
          <a:ln w="0">
            <a:noFill/>
            <a:prstDash val="solid"/>
          </a:ln>
        </p:spPr>
      </p:sp>
      <p:sp>
        <p:nvSpPr>
          <p:cNvPr id="12" name="Rectangles 11"/>
          <p:cNvSpPr>
            <a:spLocks noGrp="1"/>
          </p:cNvSpPr>
          <p:nvPr/>
        </p:nvSpPr>
        <p:spPr>
          <a:xfrm>
            <a:off x="6477000" y="2343150"/>
            <a:ext cx="4248150" cy="266700"/>
          </a:xfrm>
          <a:prstGeom prst="rect">
            <a:avLst/>
          </a:prstGeom>
        </p:spPr>
        <p:txBody>
          <a:bodyPr lIns="0" tIns="0" rIns="0" bIns="0">
            <a:normAutofit/>
          </a:bodyPr>
          <a:lstStyle/>
          <a:p>
            <a:pPr algn="l">
              <a:defRPr sz="1350" b="1" i="0">
                <a:solidFill>
                  <a:srgbClr val="16202A"/>
                </a:solidFill>
                <a:latin typeface="Aptos"/>
                <a:ea typeface="Aptos"/>
                <a:cs typeface="Aptos"/>
              </a:defRPr>
            </a:pPr>
            <a:r>
              <a:t>Current answer</a:t>
            </a:r>
          </a:p>
        </p:txBody>
      </p:sp>
      <p:sp>
        <p:nvSpPr>
          <p:cNvPr id="13" name="Rectangles 12"/>
          <p:cNvSpPr>
            <a:spLocks noGrp="1"/>
          </p:cNvSpPr>
          <p:nvPr/>
        </p:nvSpPr>
        <p:spPr>
          <a:xfrm>
            <a:off x="6477000" y="2667000"/>
            <a:ext cx="4248150" cy="866775"/>
          </a:xfrm>
          <a:prstGeom prst="rect">
            <a:avLst/>
          </a:prstGeom>
        </p:spPr>
        <p:txBody>
          <a:bodyPr lIns="0" tIns="0" rIns="0" bIns="0">
            <a:normAutofit/>
          </a:bodyPr>
          <a:lstStyle/>
          <a:p>
            <a:pPr algn="l">
              <a:defRPr sz="1125" b="0" i="0">
                <a:solidFill>
                  <a:srgbClr val="536170"/>
                </a:solidFill>
                <a:latin typeface="Aptos"/>
                <a:ea typeface="Aptos"/>
                <a:cs typeface="Aptos"/>
              </a:defRPr>
            </a:pPr>
            <a:r>
              <a:t>The current evidence is mixed and uncertain. It supports exploratory comparison of relative trajectories, but not a definitive causal impact claim.</a:t>
            </a:r>
          </a:p>
        </p:txBody>
      </p:sp>
      <p:sp>
        <p:nvSpPr>
          <p:cNvPr id="14" name="Rounded Rectangle 13"/>
          <p:cNvSpPr>
            <a:spLocks noGrp="1"/>
          </p:cNvSpPr>
          <p:nvPr/>
        </p:nvSpPr>
        <p:spPr>
          <a:xfrm>
            <a:off x="685800" y="4000500"/>
            <a:ext cx="3238500" cy="1428750"/>
          </a:xfrm>
          <a:prstGeom prst="roundRect">
            <a:avLst>
              <a:gd name="adj" fmla="val 5333"/>
            </a:avLst>
          </a:prstGeom>
          <a:solidFill>
            <a:srgbClr val="FFFFFF"/>
          </a:solidFill>
          <a:ln w="0">
            <a:noFill/>
            <a:prstDash val="solid"/>
          </a:ln>
        </p:spPr>
      </p:sp>
      <p:sp>
        <p:nvSpPr>
          <p:cNvPr id="15" name="Rounded Rectangle 14"/>
          <p:cNvSpPr>
            <a:spLocks noGrp="1"/>
          </p:cNvSpPr>
          <p:nvPr/>
        </p:nvSpPr>
        <p:spPr>
          <a:xfrm>
            <a:off x="819150" y="4114800"/>
            <a:ext cx="66675" cy="1200150"/>
          </a:xfrm>
          <a:prstGeom prst="roundRect">
            <a:avLst>
              <a:gd name="adj" fmla="val 50000"/>
            </a:avLst>
          </a:prstGeom>
          <a:solidFill>
            <a:srgbClr val="2A9D8F"/>
          </a:solidFill>
          <a:ln w="0">
            <a:noFill/>
            <a:prstDash val="solid"/>
          </a:ln>
        </p:spPr>
      </p:sp>
      <p:sp>
        <p:nvSpPr>
          <p:cNvPr id="16" name="Rectangles 15"/>
          <p:cNvSpPr>
            <a:spLocks noGrp="1"/>
          </p:cNvSpPr>
          <p:nvPr/>
        </p:nvSpPr>
        <p:spPr>
          <a:xfrm>
            <a:off x="1009650" y="4171950"/>
            <a:ext cx="2724150" cy="266700"/>
          </a:xfrm>
          <a:prstGeom prst="rect">
            <a:avLst/>
          </a:prstGeom>
        </p:spPr>
        <p:txBody>
          <a:bodyPr lIns="0" tIns="0" rIns="0" bIns="0">
            <a:normAutofit/>
          </a:bodyPr>
          <a:lstStyle/>
          <a:p>
            <a:pPr algn="l">
              <a:defRPr sz="1350" b="1" i="0">
                <a:solidFill>
                  <a:srgbClr val="16202A"/>
                </a:solidFill>
                <a:latin typeface="Aptos"/>
                <a:ea typeface="Aptos"/>
                <a:cs typeface="Aptos"/>
              </a:defRPr>
            </a:pPr>
            <a:r>
              <a:t>Unit of analysis</a:t>
            </a:r>
          </a:p>
        </p:txBody>
      </p:sp>
      <p:sp>
        <p:nvSpPr>
          <p:cNvPr id="17" name="Rectangles 16"/>
          <p:cNvSpPr>
            <a:spLocks noGrp="1"/>
          </p:cNvSpPr>
          <p:nvPr/>
        </p:nvSpPr>
        <p:spPr>
          <a:xfrm>
            <a:off x="1009650" y="4495800"/>
            <a:ext cx="2724150" cy="819150"/>
          </a:xfrm>
          <a:prstGeom prst="rect">
            <a:avLst/>
          </a:prstGeom>
        </p:spPr>
        <p:txBody>
          <a:bodyPr lIns="0" tIns="0" rIns="0" bIns="0">
            <a:normAutofit/>
          </a:bodyPr>
          <a:lstStyle/>
          <a:p>
            <a:pPr algn="l">
              <a:defRPr sz="1125" b="0" i="0">
                <a:solidFill>
                  <a:srgbClr val="536170"/>
                </a:solidFill>
                <a:latin typeface="Aptos"/>
                <a:ea typeface="Aptos"/>
                <a:cs typeface="Aptos"/>
              </a:defRPr>
            </a:pPr>
            <a:r>
              <a:t>Vivacity countline-day data, aggregated to weekly countline-level outcomes for modelling.</a:t>
            </a:r>
          </a:p>
        </p:txBody>
      </p:sp>
      <p:sp>
        <p:nvSpPr>
          <p:cNvPr id="18" name="Rounded Rectangle 17"/>
          <p:cNvSpPr>
            <a:spLocks noGrp="1"/>
          </p:cNvSpPr>
          <p:nvPr/>
        </p:nvSpPr>
        <p:spPr>
          <a:xfrm>
            <a:off x="4191000" y="4000500"/>
            <a:ext cx="3238500" cy="1428750"/>
          </a:xfrm>
          <a:prstGeom prst="roundRect">
            <a:avLst>
              <a:gd name="adj" fmla="val 5333"/>
            </a:avLst>
          </a:prstGeom>
          <a:solidFill>
            <a:srgbClr val="FFFFFF"/>
          </a:solidFill>
          <a:ln w="0">
            <a:noFill/>
            <a:prstDash val="solid"/>
          </a:ln>
        </p:spPr>
      </p:sp>
      <p:sp>
        <p:nvSpPr>
          <p:cNvPr id="19" name="Rounded Rectangle 18"/>
          <p:cNvSpPr>
            <a:spLocks noGrp="1"/>
          </p:cNvSpPr>
          <p:nvPr/>
        </p:nvSpPr>
        <p:spPr>
          <a:xfrm>
            <a:off x="4324350" y="4114800"/>
            <a:ext cx="66675" cy="1200150"/>
          </a:xfrm>
          <a:prstGeom prst="roundRect">
            <a:avLst>
              <a:gd name="adj" fmla="val 50000"/>
            </a:avLst>
          </a:prstGeom>
          <a:solidFill>
            <a:srgbClr val="E9C46A"/>
          </a:solidFill>
          <a:ln w="0">
            <a:noFill/>
            <a:prstDash val="solid"/>
          </a:ln>
        </p:spPr>
      </p:sp>
      <p:sp>
        <p:nvSpPr>
          <p:cNvPr id="20" name="Rectangles 19"/>
          <p:cNvSpPr>
            <a:spLocks noGrp="1"/>
          </p:cNvSpPr>
          <p:nvPr/>
        </p:nvSpPr>
        <p:spPr>
          <a:xfrm>
            <a:off x="4514850" y="4171950"/>
            <a:ext cx="2724150" cy="266700"/>
          </a:xfrm>
          <a:prstGeom prst="rect">
            <a:avLst/>
          </a:prstGeom>
        </p:spPr>
        <p:txBody>
          <a:bodyPr lIns="0" tIns="0" rIns="0" bIns="0">
            <a:normAutofit/>
          </a:bodyPr>
          <a:lstStyle/>
          <a:p>
            <a:pPr algn="l">
              <a:defRPr sz="1350" b="1" i="0">
                <a:solidFill>
                  <a:srgbClr val="16202A"/>
                </a:solidFill>
                <a:latin typeface="Aptos"/>
                <a:ea typeface="Aptos"/>
                <a:cs typeface="Aptos"/>
              </a:defRPr>
            </a:pPr>
            <a:r>
              <a:t>Main outcomes</a:t>
            </a:r>
          </a:p>
        </p:txBody>
      </p:sp>
      <p:sp>
        <p:nvSpPr>
          <p:cNvPr id="21" name="Rectangles 20"/>
          <p:cNvSpPr>
            <a:spLocks noGrp="1"/>
          </p:cNvSpPr>
          <p:nvPr/>
        </p:nvSpPr>
        <p:spPr>
          <a:xfrm>
            <a:off x="4514850" y="4495800"/>
            <a:ext cx="2724150" cy="819150"/>
          </a:xfrm>
          <a:prstGeom prst="rect">
            <a:avLst/>
          </a:prstGeom>
        </p:spPr>
        <p:txBody>
          <a:bodyPr lIns="0" tIns="0" rIns="0" bIns="0">
            <a:normAutofit/>
          </a:bodyPr>
          <a:lstStyle/>
          <a:p>
            <a:pPr algn="l">
              <a:defRPr sz="1125" b="0" i="0">
                <a:solidFill>
                  <a:srgbClr val="536170"/>
                </a:solidFill>
                <a:latin typeface="Aptos"/>
                <a:ea typeface="Aptos"/>
                <a:cs typeface="Aptos"/>
              </a:defRPr>
            </a:pPr>
            <a:r>
              <a:t>Pedestrian counts, cyclist counts, and combined active travel counts per observed countline-day.</a:t>
            </a:r>
          </a:p>
        </p:txBody>
      </p:sp>
      <p:sp>
        <p:nvSpPr>
          <p:cNvPr id="22" name="Rounded Rectangle 21"/>
          <p:cNvSpPr>
            <a:spLocks noGrp="1"/>
          </p:cNvSpPr>
          <p:nvPr/>
        </p:nvSpPr>
        <p:spPr>
          <a:xfrm>
            <a:off x="7696200" y="4000500"/>
            <a:ext cx="3238500" cy="1428750"/>
          </a:xfrm>
          <a:prstGeom prst="roundRect">
            <a:avLst>
              <a:gd name="adj" fmla="val 5333"/>
            </a:avLst>
          </a:prstGeom>
          <a:solidFill>
            <a:srgbClr val="FFFFFF"/>
          </a:solidFill>
          <a:ln w="0">
            <a:noFill/>
            <a:prstDash val="solid"/>
          </a:ln>
        </p:spPr>
      </p:sp>
      <p:sp>
        <p:nvSpPr>
          <p:cNvPr id="23" name="Rounded Rectangle 22"/>
          <p:cNvSpPr>
            <a:spLocks noGrp="1"/>
          </p:cNvSpPr>
          <p:nvPr/>
        </p:nvSpPr>
        <p:spPr>
          <a:xfrm>
            <a:off x="7829550" y="4114800"/>
            <a:ext cx="66675" cy="1200150"/>
          </a:xfrm>
          <a:prstGeom prst="roundRect">
            <a:avLst>
              <a:gd name="adj" fmla="val 50000"/>
            </a:avLst>
          </a:prstGeom>
          <a:solidFill>
            <a:srgbClr val="3B8B5D"/>
          </a:solidFill>
          <a:ln w="0">
            <a:noFill/>
            <a:prstDash val="solid"/>
          </a:ln>
        </p:spPr>
      </p:sp>
      <p:sp>
        <p:nvSpPr>
          <p:cNvPr id="24" name="Rectangles 23"/>
          <p:cNvSpPr>
            <a:spLocks noGrp="1"/>
          </p:cNvSpPr>
          <p:nvPr/>
        </p:nvSpPr>
        <p:spPr>
          <a:xfrm>
            <a:off x="8020050" y="4171950"/>
            <a:ext cx="2724150" cy="266700"/>
          </a:xfrm>
          <a:prstGeom prst="rect">
            <a:avLst/>
          </a:prstGeom>
        </p:spPr>
        <p:txBody>
          <a:bodyPr lIns="0" tIns="0" rIns="0" bIns="0">
            <a:normAutofit/>
          </a:bodyPr>
          <a:lstStyle/>
          <a:p>
            <a:pPr algn="l">
              <a:defRPr sz="1350" b="1" i="0">
                <a:solidFill>
                  <a:srgbClr val="16202A"/>
                </a:solidFill>
                <a:latin typeface="Aptos"/>
                <a:ea typeface="Aptos"/>
                <a:cs typeface="Aptos"/>
              </a:defRPr>
            </a:pPr>
            <a:r>
              <a:t>Context lens</a:t>
            </a:r>
          </a:p>
        </p:txBody>
      </p:sp>
      <p:sp>
        <p:nvSpPr>
          <p:cNvPr id="25" name="Rectangles 24"/>
          <p:cNvSpPr>
            <a:spLocks noGrp="1"/>
          </p:cNvSpPr>
          <p:nvPr/>
        </p:nvSpPr>
        <p:spPr>
          <a:xfrm>
            <a:off x="8020050" y="4495800"/>
            <a:ext cx="2724150" cy="819150"/>
          </a:xfrm>
          <a:prstGeom prst="rect">
            <a:avLst/>
          </a:prstGeom>
        </p:spPr>
        <p:txBody>
          <a:bodyPr lIns="0" tIns="0" rIns="0" bIns="0">
            <a:normAutofit/>
          </a:bodyPr>
          <a:lstStyle/>
          <a:p>
            <a:pPr algn="l">
              <a:defRPr sz="1125" b="0" i="0">
                <a:solidFill>
                  <a:srgbClr val="536170"/>
                </a:solidFill>
                <a:latin typeface="Aptos"/>
                <a:ea typeface="Aptos"/>
                <a:cs typeface="Aptos"/>
              </a:defRPr>
            </a:pPr>
            <a:r>
              <a:t>LSOA 2021, IMD deciles, income/employment deprivation, car availability, density, and commute mode shares.</a:t>
            </a:r>
          </a:p>
        </p:txBody>
      </p:sp>
      <p:sp>
        <p:nvSpPr>
          <p:cNvPr id="27" name="Rectangles 26"/>
          <p:cNvSpPr>
            <a:spLocks noGrp="1"/>
          </p:cNvSpPr>
          <p:nvPr/>
        </p:nvSpPr>
        <p:spPr>
          <a:xfrm>
            <a:off x="11239500" y="6419850"/>
            <a:ext cx="381000" cy="228600"/>
          </a:xfrm>
          <a:prstGeom prst="rect">
            <a:avLst/>
          </a:prstGeom>
        </p:spPr>
        <p:txBody>
          <a:bodyPr lIns="0" tIns="0" rIns="0" bIns="0">
            <a:normAutofit/>
          </a:bodyPr>
          <a:lstStyle/>
          <a:p>
            <a:pPr algn="r">
              <a:defRPr sz="900" b="0" i="0">
                <a:solidFill>
                  <a:srgbClr val="7B8794"/>
                </a:solidFill>
                <a:latin typeface="Aptos"/>
                <a:ea typeface="Aptos"/>
                <a:cs typeface="Aptos"/>
              </a:defRPr>
            </a:pPr>
            <a:r>
              <a:t>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s 1"/>
          <p:cNvSpPr>
            <a:spLocks noGrp="1"/>
          </p:cNvSpPr>
          <p:nvPr/>
        </p:nvSpPr>
        <p:spPr>
          <a:xfrm>
            <a:off x="0" y="0"/>
            <a:ext cx="12192000" cy="6858000"/>
          </a:xfrm>
          <a:prstGeom prst="rect">
            <a:avLst/>
          </a:prstGeom>
          <a:solidFill>
            <a:srgbClr val="FAFBFB"/>
          </a:solidFill>
          <a:ln w="0">
            <a:noFill/>
            <a:prstDash val="solid"/>
          </a:ln>
        </p:spPr>
      </p:sp>
      <p:sp>
        <p:nvSpPr>
          <p:cNvPr id="3" name="Rectangles 2"/>
          <p:cNvSpPr>
            <a:spLocks noGrp="1"/>
          </p:cNvSpPr>
          <p:nvPr/>
        </p:nvSpPr>
        <p:spPr>
          <a:xfrm>
            <a:off x="609600" y="342900"/>
            <a:ext cx="7048500" cy="266700"/>
          </a:xfrm>
          <a:prstGeom prst="rect">
            <a:avLst/>
          </a:prstGeom>
        </p:spPr>
        <p:txBody>
          <a:bodyPr lIns="0" tIns="0" rIns="0" bIns="0">
            <a:normAutofit/>
          </a:bodyPr>
          <a:lstStyle/>
          <a:p>
            <a:pPr algn="l">
              <a:defRPr sz="1125" b="1" i="0">
                <a:solidFill>
                  <a:srgbClr val="1F6F8B"/>
                </a:solidFill>
                <a:latin typeface="Aptos"/>
                <a:ea typeface="Aptos"/>
                <a:cs typeface="Aptos"/>
              </a:defRPr>
            </a:pPr>
            <a:r>
              <a:t>DATA SELECTION</a:t>
            </a:r>
          </a:p>
        </p:txBody>
      </p:sp>
      <p:sp>
        <p:nvSpPr>
          <p:cNvPr id="4" name="Rectangles 3"/>
          <p:cNvSpPr>
            <a:spLocks noGrp="1"/>
          </p:cNvSpPr>
          <p:nvPr/>
        </p:nvSpPr>
        <p:spPr>
          <a:xfrm>
            <a:off x="609600" y="666750"/>
            <a:ext cx="8191500" cy="838200"/>
          </a:xfrm>
          <a:prstGeom prst="rect">
            <a:avLst/>
          </a:prstGeom>
        </p:spPr>
        <p:txBody>
          <a:bodyPr lIns="0" tIns="0" rIns="0" bIns="0">
            <a:normAutofit fontScale="91667"/>
          </a:bodyPr>
          <a:lstStyle/>
          <a:p>
            <a:pPr algn="l">
              <a:defRPr sz="3000" b="1" i="0">
                <a:solidFill>
                  <a:srgbClr val="16202A"/>
                </a:solidFill>
                <a:latin typeface="Aptos"/>
                <a:ea typeface="Aptos"/>
                <a:cs typeface="Aptos"/>
              </a:defRPr>
            </a:pPr>
            <a:r>
              <a:t>Five treated scheme groups were prepared; modelling should now be rerun with exact dates</a:t>
            </a:r>
          </a:p>
        </p:txBody>
      </p:sp>
      <p:sp>
        <p:nvSpPr>
          <p:cNvPr id="5" name="Rectangles 4"/>
          <p:cNvSpPr>
            <a:spLocks noGrp="1"/>
          </p:cNvSpPr>
          <p:nvPr/>
        </p:nvSpPr>
        <p:spPr>
          <a:xfrm>
            <a:off x="609600" y="1504950"/>
            <a:ext cx="8858250" cy="457200"/>
          </a:xfrm>
          <a:prstGeom prst="rect">
            <a:avLst/>
          </a:prstGeom>
        </p:spPr>
        <p:txBody>
          <a:bodyPr lIns="0" tIns="0" rIns="0" bIns="0">
            <a:normAutofit/>
          </a:bodyPr>
          <a:lstStyle/>
          <a:p>
            <a:pPr algn="l">
              <a:defRPr sz="1350" b="0" i="0">
                <a:solidFill>
                  <a:srgbClr val="536170"/>
                </a:solidFill>
                <a:latin typeface="Aptos"/>
                <a:ea typeface="Aptos"/>
                <a:cs typeface="Aptos"/>
              </a:defRPr>
            </a:pPr>
            <a:r>
              <a:t>Exact scheme dates are now available and certain. These confirmed dates should be used directly as intervention dates in the next model run.</a:t>
            </a:r>
          </a:p>
        </p:txBody>
      </p:sp>
      <p:sp>
        <p:nvSpPr>
          <p:cNvPr id="6" name="Rectangles 5"/>
          <p:cNvSpPr>
            <a:spLocks noGrp="1"/>
          </p:cNvSpPr>
          <p:nvPr/>
        </p:nvSpPr>
        <p:spPr>
          <a:xfrm>
            <a:off x="876300" y="2237740"/>
            <a:ext cx="876300" cy="476250"/>
          </a:xfrm>
          <a:prstGeom prst="rect">
            <a:avLst/>
          </a:prstGeom>
          <a:solidFill>
            <a:srgbClr val="1F6F8B"/>
          </a:solidFill>
          <a:ln w="0">
            <a:noFill/>
            <a:prstDash val="solid"/>
          </a:ln>
        </p:spPr>
      </p:sp>
      <p:sp>
        <p:nvSpPr>
          <p:cNvPr id="7" name="Rectangles 6"/>
          <p:cNvSpPr>
            <a:spLocks noGrp="1"/>
          </p:cNvSpPr>
          <p:nvPr/>
        </p:nvSpPr>
        <p:spPr>
          <a:xfrm>
            <a:off x="971550" y="2313940"/>
            <a:ext cx="685800" cy="361950"/>
          </a:xfrm>
          <a:prstGeom prst="rect">
            <a:avLst/>
          </a:prstGeom>
        </p:spPr>
        <p:txBody>
          <a:bodyPr lIns="0" tIns="0" rIns="0" bIns="0">
            <a:normAutofit/>
          </a:bodyPr>
          <a:lstStyle/>
          <a:p>
            <a:pPr algn="l">
              <a:defRPr sz="975" b="1" i="0">
                <a:solidFill>
                  <a:srgbClr val="FFFFFF"/>
                </a:solidFill>
                <a:latin typeface="Aptos"/>
                <a:ea typeface="Aptos"/>
                <a:cs typeface="Aptos"/>
              </a:defRPr>
            </a:pPr>
            <a:r>
              <a:t>Scheme</a:t>
            </a:r>
          </a:p>
        </p:txBody>
      </p:sp>
      <p:sp>
        <p:nvSpPr>
          <p:cNvPr id="8" name="Rectangles 7"/>
          <p:cNvSpPr>
            <a:spLocks noGrp="1"/>
          </p:cNvSpPr>
          <p:nvPr/>
        </p:nvSpPr>
        <p:spPr>
          <a:xfrm>
            <a:off x="1752600" y="2237740"/>
            <a:ext cx="3295650" cy="476250"/>
          </a:xfrm>
          <a:prstGeom prst="rect">
            <a:avLst/>
          </a:prstGeom>
          <a:solidFill>
            <a:srgbClr val="1F6F8B"/>
          </a:solidFill>
          <a:ln w="0">
            <a:noFill/>
            <a:prstDash val="solid"/>
          </a:ln>
        </p:spPr>
      </p:sp>
      <p:sp>
        <p:nvSpPr>
          <p:cNvPr id="9" name="Rectangles 8"/>
          <p:cNvSpPr>
            <a:spLocks noGrp="1"/>
          </p:cNvSpPr>
          <p:nvPr/>
        </p:nvSpPr>
        <p:spPr>
          <a:xfrm>
            <a:off x="1847850" y="2313940"/>
            <a:ext cx="3105150" cy="361950"/>
          </a:xfrm>
          <a:prstGeom prst="rect">
            <a:avLst/>
          </a:prstGeom>
        </p:spPr>
        <p:txBody>
          <a:bodyPr lIns="0" tIns="0" rIns="0" bIns="0">
            <a:normAutofit/>
          </a:bodyPr>
          <a:lstStyle/>
          <a:p>
            <a:pPr algn="l">
              <a:defRPr sz="975" b="1" i="0">
                <a:solidFill>
                  <a:srgbClr val="FFFFFF"/>
                </a:solidFill>
                <a:latin typeface="Aptos"/>
                <a:ea typeface="Aptos"/>
                <a:cs typeface="Aptos"/>
              </a:defRPr>
            </a:pPr>
            <a:r>
              <a:t>Location</a:t>
            </a:r>
          </a:p>
        </p:txBody>
      </p:sp>
      <p:sp>
        <p:nvSpPr>
          <p:cNvPr id="10" name="Rectangles 9"/>
          <p:cNvSpPr>
            <a:spLocks noGrp="1"/>
          </p:cNvSpPr>
          <p:nvPr/>
        </p:nvSpPr>
        <p:spPr>
          <a:xfrm>
            <a:off x="5048250" y="2237740"/>
            <a:ext cx="1619250" cy="476250"/>
          </a:xfrm>
          <a:prstGeom prst="rect">
            <a:avLst/>
          </a:prstGeom>
          <a:solidFill>
            <a:srgbClr val="1F6F8B"/>
          </a:solidFill>
          <a:ln w="0">
            <a:noFill/>
            <a:prstDash val="solid"/>
          </a:ln>
        </p:spPr>
      </p:sp>
      <p:sp>
        <p:nvSpPr>
          <p:cNvPr id="11" name="Rectangles 10"/>
          <p:cNvSpPr>
            <a:spLocks noGrp="1"/>
          </p:cNvSpPr>
          <p:nvPr/>
        </p:nvSpPr>
        <p:spPr>
          <a:xfrm>
            <a:off x="5143500" y="2313940"/>
            <a:ext cx="1428750" cy="361950"/>
          </a:xfrm>
          <a:prstGeom prst="rect">
            <a:avLst/>
          </a:prstGeom>
        </p:spPr>
        <p:txBody>
          <a:bodyPr lIns="0" tIns="0" rIns="0" bIns="0">
            <a:normAutofit/>
          </a:bodyPr>
          <a:lstStyle/>
          <a:p>
            <a:pPr algn="l">
              <a:defRPr sz="975" b="1" i="0">
                <a:solidFill>
                  <a:srgbClr val="FFFFFF"/>
                </a:solidFill>
                <a:latin typeface="Aptos"/>
                <a:ea typeface="Aptos"/>
                <a:cs typeface="Aptos"/>
              </a:defRPr>
            </a:pPr>
            <a:r>
              <a:t>Install month</a:t>
            </a:r>
          </a:p>
        </p:txBody>
      </p:sp>
      <p:sp>
        <p:nvSpPr>
          <p:cNvPr id="12" name="Rectangles 11"/>
          <p:cNvSpPr>
            <a:spLocks noGrp="1"/>
          </p:cNvSpPr>
          <p:nvPr/>
        </p:nvSpPr>
        <p:spPr>
          <a:xfrm>
            <a:off x="6667500" y="2237740"/>
            <a:ext cx="1809750" cy="476250"/>
          </a:xfrm>
          <a:prstGeom prst="rect">
            <a:avLst/>
          </a:prstGeom>
          <a:solidFill>
            <a:srgbClr val="1F6F8B"/>
          </a:solidFill>
          <a:ln w="0">
            <a:noFill/>
            <a:prstDash val="solid"/>
          </a:ln>
        </p:spPr>
      </p:sp>
      <p:sp>
        <p:nvSpPr>
          <p:cNvPr id="13" name="Rectangles 12"/>
          <p:cNvSpPr>
            <a:spLocks noGrp="1"/>
          </p:cNvSpPr>
          <p:nvPr/>
        </p:nvSpPr>
        <p:spPr>
          <a:xfrm>
            <a:off x="6762750" y="2313940"/>
            <a:ext cx="1619250" cy="361950"/>
          </a:xfrm>
          <a:prstGeom prst="rect">
            <a:avLst/>
          </a:prstGeom>
        </p:spPr>
        <p:txBody>
          <a:bodyPr lIns="0" tIns="0" rIns="0" bIns="0">
            <a:normAutofit/>
          </a:bodyPr>
          <a:lstStyle/>
          <a:p>
            <a:pPr algn="l">
              <a:defRPr sz="975" b="1" i="0">
                <a:solidFill>
                  <a:srgbClr val="FFFFFF"/>
                </a:solidFill>
                <a:latin typeface="Aptos"/>
                <a:ea typeface="Aptos"/>
                <a:cs typeface="Aptos"/>
              </a:defRPr>
            </a:pPr>
            <a:r>
              <a:t>Previous model date</a:t>
            </a:r>
          </a:p>
        </p:txBody>
      </p:sp>
      <p:sp>
        <p:nvSpPr>
          <p:cNvPr id="14" name="Rectangles 13"/>
          <p:cNvSpPr>
            <a:spLocks noGrp="1"/>
          </p:cNvSpPr>
          <p:nvPr/>
        </p:nvSpPr>
        <p:spPr>
          <a:xfrm>
            <a:off x="8477250" y="2237740"/>
            <a:ext cx="1524000" cy="476250"/>
          </a:xfrm>
          <a:prstGeom prst="rect">
            <a:avLst/>
          </a:prstGeom>
          <a:solidFill>
            <a:srgbClr val="1F6F8B"/>
          </a:solidFill>
          <a:ln w="0">
            <a:noFill/>
            <a:prstDash val="solid"/>
          </a:ln>
        </p:spPr>
      </p:sp>
      <p:sp>
        <p:nvSpPr>
          <p:cNvPr id="15" name="Rectangles 14"/>
          <p:cNvSpPr>
            <a:spLocks noGrp="1"/>
          </p:cNvSpPr>
          <p:nvPr/>
        </p:nvSpPr>
        <p:spPr>
          <a:xfrm>
            <a:off x="8572500" y="2313940"/>
            <a:ext cx="1333500" cy="361950"/>
          </a:xfrm>
          <a:prstGeom prst="rect">
            <a:avLst/>
          </a:prstGeom>
        </p:spPr>
        <p:txBody>
          <a:bodyPr lIns="0" tIns="0" rIns="0" bIns="0">
            <a:normAutofit/>
          </a:bodyPr>
          <a:lstStyle/>
          <a:p>
            <a:pPr algn="l">
              <a:defRPr sz="975" b="1" i="0">
                <a:solidFill>
                  <a:srgbClr val="FFFFFF"/>
                </a:solidFill>
                <a:latin typeface="Aptos"/>
                <a:ea typeface="Aptos"/>
                <a:cs typeface="Aptos"/>
              </a:defRPr>
            </a:pPr>
            <a:r>
              <a:t>Current output</a:t>
            </a:r>
          </a:p>
        </p:txBody>
      </p:sp>
      <p:sp>
        <p:nvSpPr>
          <p:cNvPr id="16" name="Rectangles 15"/>
          <p:cNvSpPr>
            <a:spLocks noGrp="1"/>
          </p:cNvSpPr>
          <p:nvPr/>
        </p:nvSpPr>
        <p:spPr>
          <a:xfrm>
            <a:off x="876300" y="2713990"/>
            <a:ext cx="876300" cy="476250"/>
          </a:xfrm>
          <a:prstGeom prst="rect">
            <a:avLst/>
          </a:prstGeom>
          <a:solidFill>
            <a:srgbClr val="FFFFFF"/>
          </a:solidFill>
          <a:ln w="0">
            <a:noFill/>
            <a:prstDash val="solid"/>
          </a:ln>
        </p:spPr>
      </p:sp>
      <p:sp>
        <p:nvSpPr>
          <p:cNvPr id="17" name="Rectangles 16"/>
          <p:cNvSpPr>
            <a:spLocks noGrp="1"/>
          </p:cNvSpPr>
          <p:nvPr/>
        </p:nvSpPr>
        <p:spPr>
          <a:xfrm>
            <a:off x="971550" y="2790190"/>
            <a:ext cx="685800" cy="361950"/>
          </a:xfrm>
          <a:prstGeom prst="rect">
            <a:avLst/>
          </a:prstGeom>
        </p:spPr>
        <p:txBody>
          <a:bodyPr lIns="0" tIns="0" rIns="0" bIns="0">
            <a:normAutofit/>
          </a:bodyPr>
          <a:lstStyle/>
          <a:p>
            <a:pPr algn="l">
              <a:defRPr sz="900" b="0" i="0">
                <a:solidFill>
                  <a:srgbClr val="16202A"/>
                </a:solidFill>
                <a:latin typeface="Aptos"/>
                <a:ea typeface="Aptos"/>
                <a:cs typeface="Aptos"/>
              </a:defRPr>
            </a:pPr>
            <a:r>
              <a:t>12b</a:t>
            </a:r>
          </a:p>
        </p:txBody>
      </p:sp>
      <p:sp>
        <p:nvSpPr>
          <p:cNvPr id="18" name="Rectangles 17"/>
          <p:cNvSpPr>
            <a:spLocks noGrp="1"/>
          </p:cNvSpPr>
          <p:nvPr/>
        </p:nvSpPr>
        <p:spPr>
          <a:xfrm>
            <a:off x="1752600" y="2713990"/>
            <a:ext cx="3295650" cy="476250"/>
          </a:xfrm>
          <a:prstGeom prst="rect">
            <a:avLst/>
          </a:prstGeom>
          <a:solidFill>
            <a:srgbClr val="FFFFFF"/>
          </a:solidFill>
          <a:ln w="0">
            <a:noFill/>
            <a:prstDash val="solid"/>
          </a:ln>
        </p:spPr>
      </p:sp>
      <p:sp>
        <p:nvSpPr>
          <p:cNvPr id="19" name="Rectangles 18"/>
          <p:cNvSpPr>
            <a:spLocks noGrp="1"/>
          </p:cNvSpPr>
          <p:nvPr/>
        </p:nvSpPr>
        <p:spPr>
          <a:xfrm>
            <a:off x="1847850" y="2790190"/>
            <a:ext cx="3105150" cy="361950"/>
          </a:xfrm>
          <a:prstGeom prst="rect">
            <a:avLst/>
          </a:prstGeom>
        </p:spPr>
        <p:txBody>
          <a:bodyPr lIns="0" tIns="0" rIns="0" bIns="0">
            <a:normAutofit/>
          </a:bodyPr>
          <a:lstStyle/>
          <a:p>
            <a:pPr algn="l">
              <a:defRPr sz="900" b="0" i="0">
                <a:solidFill>
                  <a:srgbClr val="16202A"/>
                </a:solidFill>
                <a:latin typeface="Aptos"/>
                <a:ea typeface="Aptos"/>
                <a:cs typeface="Aptos"/>
              </a:defRPr>
            </a:pPr>
            <a:r>
              <a:t>Cronton / Sandy Lane</a:t>
            </a:r>
          </a:p>
        </p:txBody>
      </p:sp>
      <p:sp>
        <p:nvSpPr>
          <p:cNvPr id="20" name="Rectangles 19"/>
          <p:cNvSpPr>
            <a:spLocks noGrp="1"/>
          </p:cNvSpPr>
          <p:nvPr/>
        </p:nvSpPr>
        <p:spPr>
          <a:xfrm>
            <a:off x="5048250" y="2713990"/>
            <a:ext cx="1619250" cy="476250"/>
          </a:xfrm>
          <a:prstGeom prst="rect">
            <a:avLst/>
          </a:prstGeom>
          <a:solidFill>
            <a:srgbClr val="FFFFFF"/>
          </a:solidFill>
          <a:ln w="0">
            <a:noFill/>
            <a:prstDash val="solid"/>
          </a:ln>
        </p:spPr>
      </p:sp>
      <p:sp>
        <p:nvSpPr>
          <p:cNvPr id="21" name="Rectangles 20"/>
          <p:cNvSpPr>
            <a:spLocks noGrp="1"/>
          </p:cNvSpPr>
          <p:nvPr/>
        </p:nvSpPr>
        <p:spPr>
          <a:xfrm>
            <a:off x="5143500" y="2790190"/>
            <a:ext cx="1428750" cy="361950"/>
          </a:xfrm>
          <a:prstGeom prst="rect">
            <a:avLst/>
          </a:prstGeom>
        </p:spPr>
        <p:txBody>
          <a:bodyPr lIns="0" tIns="0" rIns="0" bIns="0">
            <a:normAutofit/>
          </a:bodyPr>
          <a:lstStyle/>
          <a:p>
            <a:pPr algn="l">
              <a:defRPr sz="900" b="0" i="0">
                <a:solidFill>
                  <a:srgbClr val="16202A"/>
                </a:solidFill>
                <a:latin typeface="Aptos"/>
                <a:ea typeface="Aptos"/>
                <a:cs typeface="Aptos"/>
              </a:defRPr>
            </a:pPr>
            <a:r>
              <a:t>Mar 2023</a:t>
            </a:r>
          </a:p>
        </p:txBody>
      </p:sp>
      <p:sp>
        <p:nvSpPr>
          <p:cNvPr id="22" name="Rectangles 21"/>
          <p:cNvSpPr>
            <a:spLocks noGrp="1"/>
          </p:cNvSpPr>
          <p:nvPr/>
        </p:nvSpPr>
        <p:spPr>
          <a:xfrm>
            <a:off x="6667500" y="2713990"/>
            <a:ext cx="1809750" cy="476250"/>
          </a:xfrm>
          <a:prstGeom prst="rect">
            <a:avLst/>
          </a:prstGeom>
          <a:solidFill>
            <a:srgbClr val="FFFFFF"/>
          </a:solidFill>
          <a:ln w="0">
            <a:noFill/>
            <a:prstDash val="solid"/>
          </a:ln>
        </p:spPr>
      </p:sp>
      <p:sp>
        <p:nvSpPr>
          <p:cNvPr id="23" name="Rectangles 22"/>
          <p:cNvSpPr>
            <a:spLocks noGrp="1"/>
          </p:cNvSpPr>
          <p:nvPr/>
        </p:nvSpPr>
        <p:spPr>
          <a:xfrm>
            <a:off x="6762750" y="2790190"/>
            <a:ext cx="1619250" cy="361950"/>
          </a:xfrm>
          <a:prstGeom prst="rect">
            <a:avLst/>
          </a:prstGeom>
        </p:spPr>
        <p:txBody>
          <a:bodyPr lIns="0" tIns="0" rIns="0" bIns="0">
            <a:normAutofit/>
          </a:bodyPr>
          <a:lstStyle/>
          <a:p>
            <a:pPr algn="l">
              <a:defRPr sz="900" b="0" i="0">
                <a:solidFill>
                  <a:srgbClr val="16202A"/>
                </a:solidFill>
                <a:latin typeface="Aptos"/>
                <a:ea typeface="Aptos"/>
                <a:cs typeface="Aptos"/>
              </a:defRPr>
            </a:pPr>
            <a:r>
              <a:t>2023-03-01</a:t>
            </a:r>
          </a:p>
        </p:txBody>
      </p:sp>
      <p:sp>
        <p:nvSpPr>
          <p:cNvPr id="24" name="Rectangles 23"/>
          <p:cNvSpPr>
            <a:spLocks noGrp="1"/>
          </p:cNvSpPr>
          <p:nvPr/>
        </p:nvSpPr>
        <p:spPr>
          <a:xfrm>
            <a:off x="8477250" y="2713990"/>
            <a:ext cx="1524000" cy="476250"/>
          </a:xfrm>
          <a:prstGeom prst="rect">
            <a:avLst/>
          </a:prstGeom>
          <a:solidFill>
            <a:srgbClr val="FFFFFF"/>
          </a:solidFill>
          <a:ln w="0">
            <a:noFill/>
            <a:prstDash val="solid"/>
          </a:ln>
        </p:spPr>
      </p:sp>
      <p:sp>
        <p:nvSpPr>
          <p:cNvPr id="25" name="Rectangles 24"/>
          <p:cNvSpPr>
            <a:spLocks noGrp="1"/>
          </p:cNvSpPr>
          <p:nvPr/>
        </p:nvSpPr>
        <p:spPr>
          <a:xfrm>
            <a:off x="8572500" y="2790190"/>
            <a:ext cx="1333500" cy="361950"/>
          </a:xfrm>
          <a:prstGeom prst="rect">
            <a:avLst/>
          </a:prstGeom>
        </p:spPr>
        <p:txBody>
          <a:bodyPr lIns="0" tIns="0" rIns="0" bIns="0">
            <a:normAutofit/>
          </a:bodyPr>
          <a:lstStyle/>
          <a:p>
            <a:pPr algn="l">
              <a:defRPr sz="900" b="0" i="0">
                <a:solidFill>
                  <a:srgbClr val="16202A"/>
                </a:solidFill>
                <a:latin typeface="Aptos"/>
                <a:ea typeface="Aptos"/>
                <a:cs typeface="Aptos"/>
              </a:defRPr>
            </a:pPr>
            <a:r>
              <a:t>Descriptive</a:t>
            </a:r>
          </a:p>
        </p:txBody>
      </p:sp>
      <p:sp>
        <p:nvSpPr>
          <p:cNvPr id="26" name="Rectangles 25"/>
          <p:cNvSpPr>
            <a:spLocks noGrp="1"/>
          </p:cNvSpPr>
          <p:nvPr/>
        </p:nvSpPr>
        <p:spPr>
          <a:xfrm>
            <a:off x="876300" y="3190240"/>
            <a:ext cx="876300" cy="476250"/>
          </a:xfrm>
          <a:prstGeom prst="rect">
            <a:avLst/>
          </a:prstGeom>
          <a:solidFill>
            <a:srgbClr val="FFFFFF"/>
          </a:solidFill>
          <a:ln w="0">
            <a:noFill/>
            <a:prstDash val="solid"/>
          </a:ln>
        </p:spPr>
      </p:sp>
      <p:sp>
        <p:nvSpPr>
          <p:cNvPr id="27" name="Rectangles 26"/>
          <p:cNvSpPr>
            <a:spLocks noGrp="1"/>
          </p:cNvSpPr>
          <p:nvPr/>
        </p:nvSpPr>
        <p:spPr>
          <a:xfrm>
            <a:off x="971550" y="3266440"/>
            <a:ext cx="685800" cy="361950"/>
          </a:xfrm>
          <a:prstGeom prst="rect">
            <a:avLst/>
          </a:prstGeom>
        </p:spPr>
        <p:txBody>
          <a:bodyPr lIns="0" tIns="0" rIns="0" bIns="0">
            <a:normAutofit/>
          </a:bodyPr>
          <a:lstStyle/>
          <a:p>
            <a:pPr algn="l">
              <a:defRPr sz="900" b="0" i="0">
                <a:solidFill>
                  <a:srgbClr val="16202A"/>
                </a:solidFill>
                <a:latin typeface="Aptos"/>
                <a:ea typeface="Aptos"/>
                <a:cs typeface="Aptos"/>
              </a:defRPr>
            </a:pPr>
            <a:r>
              <a:t>12d</a:t>
            </a:r>
          </a:p>
        </p:txBody>
      </p:sp>
      <p:sp>
        <p:nvSpPr>
          <p:cNvPr id="28" name="Rectangles 27"/>
          <p:cNvSpPr>
            <a:spLocks noGrp="1"/>
          </p:cNvSpPr>
          <p:nvPr/>
        </p:nvSpPr>
        <p:spPr>
          <a:xfrm>
            <a:off x="1752600" y="3190240"/>
            <a:ext cx="3295650" cy="476250"/>
          </a:xfrm>
          <a:prstGeom prst="rect">
            <a:avLst/>
          </a:prstGeom>
          <a:solidFill>
            <a:srgbClr val="FFFFFF"/>
          </a:solidFill>
          <a:ln w="0">
            <a:noFill/>
            <a:prstDash val="solid"/>
          </a:ln>
        </p:spPr>
      </p:sp>
      <p:sp>
        <p:nvSpPr>
          <p:cNvPr id="29" name="Rectangles 28"/>
          <p:cNvSpPr>
            <a:spLocks noGrp="1"/>
          </p:cNvSpPr>
          <p:nvPr/>
        </p:nvSpPr>
        <p:spPr>
          <a:xfrm>
            <a:off x="1847850" y="3266440"/>
            <a:ext cx="3105150" cy="361950"/>
          </a:xfrm>
          <a:prstGeom prst="rect">
            <a:avLst/>
          </a:prstGeom>
        </p:spPr>
        <p:txBody>
          <a:bodyPr lIns="0" tIns="0" rIns="0" bIns="0">
            <a:normAutofit/>
          </a:bodyPr>
          <a:lstStyle/>
          <a:p>
            <a:pPr algn="l">
              <a:defRPr sz="900" b="0" i="0">
                <a:solidFill>
                  <a:srgbClr val="16202A"/>
                </a:solidFill>
                <a:latin typeface="Aptos"/>
                <a:ea typeface="Aptos"/>
                <a:cs typeface="Aptos"/>
              </a:defRPr>
            </a:pPr>
            <a:r>
              <a:t>Aigburth Road</a:t>
            </a:r>
          </a:p>
        </p:txBody>
      </p:sp>
      <p:sp>
        <p:nvSpPr>
          <p:cNvPr id="30" name="Rectangles 29"/>
          <p:cNvSpPr>
            <a:spLocks noGrp="1"/>
          </p:cNvSpPr>
          <p:nvPr/>
        </p:nvSpPr>
        <p:spPr>
          <a:xfrm>
            <a:off x="5048250" y="3190240"/>
            <a:ext cx="1619250" cy="476250"/>
          </a:xfrm>
          <a:prstGeom prst="rect">
            <a:avLst/>
          </a:prstGeom>
          <a:solidFill>
            <a:srgbClr val="FFFFFF"/>
          </a:solidFill>
          <a:ln w="0">
            <a:noFill/>
            <a:prstDash val="solid"/>
          </a:ln>
        </p:spPr>
      </p:sp>
      <p:sp>
        <p:nvSpPr>
          <p:cNvPr id="31" name="Rectangles 30"/>
          <p:cNvSpPr>
            <a:spLocks noGrp="1"/>
          </p:cNvSpPr>
          <p:nvPr/>
        </p:nvSpPr>
        <p:spPr>
          <a:xfrm>
            <a:off x="5143500" y="3266440"/>
            <a:ext cx="1428750" cy="361950"/>
          </a:xfrm>
          <a:prstGeom prst="rect">
            <a:avLst/>
          </a:prstGeom>
        </p:spPr>
        <p:txBody>
          <a:bodyPr lIns="0" tIns="0" rIns="0" bIns="0">
            <a:normAutofit/>
          </a:bodyPr>
          <a:lstStyle/>
          <a:p>
            <a:pPr algn="l">
              <a:defRPr sz="900" b="0" i="0">
                <a:solidFill>
                  <a:srgbClr val="16202A"/>
                </a:solidFill>
                <a:latin typeface="Aptos"/>
                <a:ea typeface="Aptos"/>
                <a:cs typeface="Aptos"/>
              </a:defRPr>
            </a:pPr>
            <a:r>
              <a:t>Mar 2023</a:t>
            </a:r>
          </a:p>
        </p:txBody>
      </p:sp>
      <p:sp>
        <p:nvSpPr>
          <p:cNvPr id="32" name="Rectangles 31"/>
          <p:cNvSpPr>
            <a:spLocks noGrp="1"/>
          </p:cNvSpPr>
          <p:nvPr/>
        </p:nvSpPr>
        <p:spPr>
          <a:xfrm>
            <a:off x="6667500" y="3190240"/>
            <a:ext cx="1809750" cy="476250"/>
          </a:xfrm>
          <a:prstGeom prst="rect">
            <a:avLst/>
          </a:prstGeom>
          <a:solidFill>
            <a:srgbClr val="FFFFFF"/>
          </a:solidFill>
          <a:ln w="0">
            <a:noFill/>
            <a:prstDash val="solid"/>
          </a:ln>
        </p:spPr>
      </p:sp>
      <p:sp>
        <p:nvSpPr>
          <p:cNvPr id="33" name="Rectangles 32"/>
          <p:cNvSpPr>
            <a:spLocks noGrp="1"/>
          </p:cNvSpPr>
          <p:nvPr/>
        </p:nvSpPr>
        <p:spPr>
          <a:xfrm>
            <a:off x="6762750" y="3266440"/>
            <a:ext cx="1619250" cy="361950"/>
          </a:xfrm>
          <a:prstGeom prst="rect">
            <a:avLst/>
          </a:prstGeom>
        </p:spPr>
        <p:txBody>
          <a:bodyPr lIns="0" tIns="0" rIns="0" bIns="0">
            <a:normAutofit/>
          </a:bodyPr>
          <a:lstStyle/>
          <a:p>
            <a:pPr algn="l">
              <a:defRPr sz="900" b="0" i="0">
                <a:solidFill>
                  <a:srgbClr val="16202A"/>
                </a:solidFill>
                <a:latin typeface="Aptos"/>
                <a:ea typeface="Aptos"/>
                <a:cs typeface="Aptos"/>
              </a:defRPr>
            </a:pPr>
            <a:r>
              <a:t>2023-03-01</a:t>
            </a:r>
          </a:p>
        </p:txBody>
      </p:sp>
      <p:sp>
        <p:nvSpPr>
          <p:cNvPr id="34" name="Rectangles 33"/>
          <p:cNvSpPr>
            <a:spLocks noGrp="1"/>
          </p:cNvSpPr>
          <p:nvPr/>
        </p:nvSpPr>
        <p:spPr>
          <a:xfrm>
            <a:off x="8477250" y="3190240"/>
            <a:ext cx="1524000" cy="476250"/>
          </a:xfrm>
          <a:prstGeom prst="rect">
            <a:avLst/>
          </a:prstGeom>
          <a:solidFill>
            <a:srgbClr val="FFFFFF"/>
          </a:solidFill>
          <a:ln w="0">
            <a:noFill/>
            <a:prstDash val="solid"/>
          </a:ln>
        </p:spPr>
      </p:sp>
      <p:sp>
        <p:nvSpPr>
          <p:cNvPr id="35" name="Rectangles 34"/>
          <p:cNvSpPr>
            <a:spLocks noGrp="1"/>
          </p:cNvSpPr>
          <p:nvPr/>
        </p:nvSpPr>
        <p:spPr>
          <a:xfrm>
            <a:off x="8572500" y="3266440"/>
            <a:ext cx="1333500" cy="361950"/>
          </a:xfrm>
          <a:prstGeom prst="rect">
            <a:avLst/>
          </a:prstGeom>
        </p:spPr>
        <p:txBody>
          <a:bodyPr lIns="0" tIns="0" rIns="0" bIns="0">
            <a:normAutofit/>
          </a:bodyPr>
          <a:lstStyle/>
          <a:p>
            <a:pPr algn="l">
              <a:defRPr sz="900" b="0" i="0">
                <a:solidFill>
                  <a:srgbClr val="16202A"/>
                </a:solidFill>
                <a:latin typeface="Aptos"/>
                <a:ea typeface="Aptos"/>
                <a:cs typeface="Aptos"/>
              </a:defRPr>
            </a:pPr>
            <a:r>
              <a:t>Modelled</a:t>
            </a:r>
          </a:p>
        </p:txBody>
      </p:sp>
      <p:sp>
        <p:nvSpPr>
          <p:cNvPr id="36" name="Rectangles 35"/>
          <p:cNvSpPr>
            <a:spLocks noGrp="1"/>
          </p:cNvSpPr>
          <p:nvPr/>
        </p:nvSpPr>
        <p:spPr>
          <a:xfrm>
            <a:off x="876300" y="3666490"/>
            <a:ext cx="876300" cy="476250"/>
          </a:xfrm>
          <a:prstGeom prst="rect">
            <a:avLst/>
          </a:prstGeom>
          <a:solidFill>
            <a:srgbClr val="FFFFFF"/>
          </a:solidFill>
          <a:ln w="0">
            <a:noFill/>
            <a:prstDash val="solid"/>
          </a:ln>
        </p:spPr>
      </p:sp>
      <p:sp>
        <p:nvSpPr>
          <p:cNvPr id="37" name="Rectangles 36"/>
          <p:cNvSpPr>
            <a:spLocks noGrp="1"/>
          </p:cNvSpPr>
          <p:nvPr/>
        </p:nvSpPr>
        <p:spPr>
          <a:xfrm>
            <a:off x="971550" y="3742690"/>
            <a:ext cx="685800" cy="361950"/>
          </a:xfrm>
          <a:prstGeom prst="rect">
            <a:avLst/>
          </a:prstGeom>
        </p:spPr>
        <p:txBody>
          <a:bodyPr lIns="0" tIns="0" rIns="0" bIns="0">
            <a:normAutofit/>
          </a:bodyPr>
          <a:lstStyle/>
          <a:p>
            <a:pPr algn="l">
              <a:defRPr sz="900" b="0" i="0">
                <a:solidFill>
                  <a:srgbClr val="16202A"/>
                </a:solidFill>
                <a:latin typeface="Aptos"/>
                <a:ea typeface="Aptos"/>
                <a:cs typeface="Aptos"/>
              </a:defRPr>
            </a:pPr>
            <a:r>
              <a:t>12e</a:t>
            </a:r>
          </a:p>
        </p:txBody>
      </p:sp>
      <p:sp>
        <p:nvSpPr>
          <p:cNvPr id="38" name="Rectangles 37"/>
          <p:cNvSpPr>
            <a:spLocks noGrp="1"/>
          </p:cNvSpPr>
          <p:nvPr/>
        </p:nvSpPr>
        <p:spPr>
          <a:xfrm>
            <a:off x="1752600" y="3666490"/>
            <a:ext cx="3295650" cy="476250"/>
          </a:xfrm>
          <a:prstGeom prst="rect">
            <a:avLst/>
          </a:prstGeom>
          <a:solidFill>
            <a:srgbClr val="FFFFFF"/>
          </a:solidFill>
          <a:ln w="0">
            <a:noFill/>
            <a:prstDash val="solid"/>
          </a:ln>
        </p:spPr>
      </p:sp>
      <p:sp>
        <p:nvSpPr>
          <p:cNvPr id="39" name="Rectangles 38"/>
          <p:cNvSpPr>
            <a:spLocks noGrp="1"/>
          </p:cNvSpPr>
          <p:nvPr/>
        </p:nvSpPr>
        <p:spPr>
          <a:xfrm>
            <a:off x="1847850" y="3742690"/>
            <a:ext cx="3105150" cy="361950"/>
          </a:xfrm>
          <a:prstGeom prst="rect">
            <a:avLst/>
          </a:prstGeom>
        </p:spPr>
        <p:txBody>
          <a:bodyPr lIns="0" tIns="0" rIns="0" bIns="0">
            <a:normAutofit/>
          </a:bodyPr>
          <a:lstStyle/>
          <a:p>
            <a:pPr algn="l">
              <a:defRPr sz="900" b="0" i="0">
                <a:solidFill>
                  <a:srgbClr val="16202A"/>
                </a:solidFill>
                <a:latin typeface="Aptos"/>
                <a:ea typeface="Aptos"/>
                <a:cs typeface="Aptos"/>
              </a:defRPr>
            </a:pPr>
            <a:r>
              <a:t>Park Road / Path off Park Road</a:t>
            </a:r>
          </a:p>
        </p:txBody>
      </p:sp>
      <p:sp>
        <p:nvSpPr>
          <p:cNvPr id="40" name="Rectangles 39"/>
          <p:cNvSpPr>
            <a:spLocks noGrp="1"/>
          </p:cNvSpPr>
          <p:nvPr/>
        </p:nvSpPr>
        <p:spPr>
          <a:xfrm>
            <a:off x="5048250" y="3666490"/>
            <a:ext cx="1619250" cy="476250"/>
          </a:xfrm>
          <a:prstGeom prst="rect">
            <a:avLst/>
          </a:prstGeom>
          <a:solidFill>
            <a:srgbClr val="FFFFFF"/>
          </a:solidFill>
          <a:ln w="0">
            <a:noFill/>
            <a:prstDash val="solid"/>
          </a:ln>
        </p:spPr>
      </p:sp>
      <p:sp>
        <p:nvSpPr>
          <p:cNvPr id="41" name="Rectangles 40"/>
          <p:cNvSpPr>
            <a:spLocks noGrp="1"/>
          </p:cNvSpPr>
          <p:nvPr/>
        </p:nvSpPr>
        <p:spPr>
          <a:xfrm>
            <a:off x="5143500" y="3742690"/>
            <a:ext cx="1428750" cy="361950"/>
          </a:xfrm>
          <a:prstGeom prst="rect">
            <a:avLst/>
          </a:prstGeom>
        </p:spPr>
        <p:txBody>
          <a:bodyPr lIns="0" tIns="0" rIns="0" bIns="0">
            <a:normAutofit/>
          </a:bodyPr>
          <a:lstStyle/>
          <a:p>
            <a:pPr algn="l">
              <a:defRPr sz="900" b="0" i="0">
                <a:solidFill>
                  <a:srgbClr val="16202A"/>
                </a:solidFill>
                <a:latin typeface="Aptos"/>
                <a:ea typeface="Aptos"/>
                <a:cs typeface="Aptos"/>
              </a:defRPr>
            </a:pPr>
            <a:r>
              <a:t>Mar 2023</a:t>
            </a:r>
          </a:p>
        </p:txBody>
      </p:sp>
      <p:sp>
        <p:nvSpPr>
          <p:cNvPr id="42" name="Rectangles 41"/>
          <p:cNvSpPr>
            <a:spLocks noGrp="1"/>
          </p:cNvSpPr>
          <p:nvPr/>
        </p:nvSpPr>
        <p:spPr>
          <a:xfrm>
            <a:off x="6667500" y="3666490"/>
            <a:ext cx="1809750" cy="476250"/>
          </a:xfrm>
          <a:prstGeom prst="rect">
            <a:avLst/>
          </a:prstGeom>
          <a:solidFill>
            <a:srgbClr val="FFFFFF"/>
          </a:solidFill>
          <a:ln w="0">
            <a:noFill/>
            <a:prstDash val="solid"/>
          </a:ln>
        </p:spPr>
      </p:sp>
      <p:sp>
        <p:nvSpPr>
          <p:cNvPr id="43" name="Rectangles 42"/>
          <p:cNvSpPr>
            <a:spLocks noGrp="1"/>
          </p:cNvSpPr>
          <p:nvPr/>
        </p:nvSpPr>
        <p:spPr>
          <a:xfrm>
            <a:off x="6762750" y="3742690"/>
            <a:ext cx="1619250" cy="361950"/>
          </a:xfrm>
          <a:prstGeom prst="rect">
            <a:avLst/>
          </a:prstGeom>
        </p:spPr>
        <p:txBody>
          <a:bodyPr lIns="0" tIns="0" rIns="0" bIns="0">
            <a:normAutofit/>
          </a:bodyPr>
          <a:lstStyle/>
          <a:p>
            <a:pPr algn="l">
              <a:defRPr sz="900" b="0" i="0">
                <a:solidFill>
                  <a:srgbClr val="16202A"/>
                </a:solidFill>
                <a:latin typeface="Aptos"/>
                <a:ea typeface="Aptos"/>
                <a:cs typeface="Aptos"/>
              </a:defRPr>
            </a:pPr>
            <a:r>
              <a:t>2023-03-01</a:t>
            </a:r>
          </a:p>
        </p:txBody>
      </p:sp>
      <p:sp>
        <p:nvSpPr>
          <p:cNvPr id="44" name="Rectangles 43"/>
          <p:cNvSpPr>
            <a:spLocks noGrp="1"/>
          </p:cNvSpPr>
          <p:nvPr/>
        </p:nvSpPr>
        <p:spPr>
          <a:xfrm>
            <a:off x="8477250" y="3666490"/>
            <a:ext cx="1524000" cy="476250"/>
          </a:xfrm>
          <a:prstGeom prst="rect">
            <a:avLst/>
          </a:prstGeom>
          <a:solidFill>
            <a:srgbClr val="FFFFFF"/>
          </a:solidFill>
          <a:ln w="0">
            <a:noFill/>
            <a:prstDash val="solid"/>
          </a:ln>
        </p:spPr>
      </p:sp>
      <p:sp>
        <p:nvSpPr>
          <p:cNvPr id="45" name="Rectangles 44"/>
          <p:cNvSpPr>
            <a:spLocks noGrp="1"/>
          </p:cNvSpPr>
          <p:nvPr/>
        </p:nvSpPr>
        <p:spPr>
          <a:xfrm>
            <a:off x="8572500" y="3742690"/>
            <a:ext cx="1333500" cy="361950"/>
          </a:xfrm>
          <a:prstGeom prst="rect">
            <a:avLst/>
          </a:prstGeom>
        </p:spPr>
        <p:txBody>
          <a:bodyPr lIns="0" tIns="0" rIns="0" bIns="0">
            <a:normAutofit/>
          </a:bodyPr>
          <a:lstStyle/>
          <a:p>
            <a:pPr algn="l">
              <a:defRPr sz="900" b="0" i="0">
                <a:solidFill>
                  <a:srgbClr val="16202A"/>
                </a:solidFill>
                <a:latin typeface="Aptos"/>
                <a:ea typeface="Aptos"/>
                <a:cs typeface="Aptos"/>
              </a:defRPr>
            </a:pPr>
            <a:r>
              <a:t>Descriptive</a:t>
            </a:r>
          </a:p>
        </p:txBody>
      </p:sp>
      <p:sp>
        <p:nvSpPr>
          <p:cNvPr id="46" name="Rectangles 45"/>
          <p:cNvSpPr>
            <a:spLocks noGrp="1"/>
          </p:cNvSpPr>
          <p:nvPr/>
        </p:nvSpPr>
        <p:spPr>
          <a:xfrm>
            <a:off x="876300" y="4142740"/>
            <a:ext cx="876300" cy="476250"/>
          </a:xfrm>
          <a:prstGeom prst="rect">
            <a:avLst/>
          </a:prstGeom>
          <a:solidFill>
            <a:srgbClr val="FFFFFF"/>
          </a:solidFill>
          <a:ln w="0">
            <a:noFill/>
            <a:prstDash val="solid"/>
          </a:ln>
        </p:spPr>
      </p:sp>
      <p:sp>
        <p:nvSpPr>
          <p:cNvPr id="47" name="Rectangles 46"/>
          <p:cNvSpPr>
            <a:spLocks noGrp="1"/>
          </p:cNvSpPr>
          <p:nvPr/>
        </p:nvSpPr>
        <p:spPr>
          <a:xfrm>
            <a:off x="971550" y="4218940"/>
            <a:ext cx="685800" cy="361950"/>
          </a:xfrm>
          <a:prstGeom prst="rect">
            <a:avLst/>
          </a:prstGeom>
        </p:spPr>
        <p:txBody>
          <a:bodyPr lIns="0" tIns="0" rIns="0" bIns="0">
            <a:normAutofit/>
          </a:bodyPr>
          <a:lstStyle/>
          <a:p>
            <a:pPr algn="l">
              <a:defRPr sz="900" b="0" i="0">
                <a:solidFill>
                  <a:srgbClr val="16202A"/>
                </a:solidFill>
                <a:latin typeface="Aptos"/>
                <a:ea typeface="Aptos"/>
                <a:cs typeface="Aptos"/>
              </a:defRPr>
            </a:pPr>
            <a:r>
              <a:t>12f</a:t>
            </a:r>
          </a:p>
        </p:txBody>
      </p:sp>
      <p:sp>
        <p:nvSpPr>
          <p:cNvPr id="48" name="Rectangles 47"/>
          <p:cNvSpPr>
            <a:spLocks noGrp="1"/>
          </p:cNvSpPr>
          <p:nvPr/>
        </p:nvSpPr>
        <p:spPr>
          <a:xfrm>
            <a:off x="1752600" y="4142740"/>
            <a:ext cx="3295650" cy="476250"/>
          </a:xfrm>
          <a:prstGeom prst="rect">
            <a:avLst/>
          </a:prstGeom>
          <a:solidFill>
            <a:srgbClr val="FFFFFF"/>
          </a:solidFill>
          <a:ln w="0">
            <a:noFill/>
            <a:prstDash val="solid"/>
          </a:ln>
        </p:spPr>
      </p:sp>
      <p:sp>
        <p:nvSpPr>
          <p:cNvPr id="49" name="Rectangles 48"/>
          <p:cNvSpPr>
            <a:spLocks noGrp="1"/>
          </p:cNvSpPr>
          <p:nvPr/>
        </p:nvSpPr>
        <p:spPr>
          <a:xfrm>
            <a:off x="1847850" y="4218940"/>
            <a:ext cx="3105150" cy="361950"/>
          </a:xfrm>
          <a:prstGeom prst="rect">
            <a:avLst/>
          </a:prstGeom>
        </p:spPr>
        <p:txBody>
          <a:bodyPr lIns="0" tIns="0" rIns="0" bIns="0">
            <a:normAutofit/>
          </a:bodyPr>
          <a:lstStyle/>
          <a:p>
            <a:pPr algn="l">
              <a:defRPr sz="900" b="0" i="0">
                <a:solidFill>
                  <a:srgbClr val="16202A"/>
                </a:solidFill>
                <a:latin typeface="Aptos"/>
                <a:ea typeface="Aptos"/>
                <a:cs typeface="Aptos"/>
              </a:defRPr>
            </a:pPr>
            <a:r>
              <a:t>Leasowe / Wallasey corridor</a:t>
            </a:r>
          </a:p>
        </p:txBody>
      </p:sp>
      <p:sp>
        <p:nvSpPr>
          <p:cNvPr id="50" name="Rectangles 49"/>
          <p:cNvSpPr>
            <a:spLocks noGrp="1"/>
          </p:cNvSpPr>
          <p:nvPr/>
        </p:nvSpPr>
        <p:spPr>
          <a:xfrm>
            <a:off x="5048250" y="4142740"/>
            <a:ext cx="1619250" cy="476250"/>
          </a:xfrm>
          <a:prstGeom prst="rect">
            <a:avLst/>
          </a:prstGeom>
          <a:solidFill>
            <a:srgbClr val="FFFFFF"/>
          </a:solidFill>
          <a:ln w="0">
            <a:noFill/>
            <a:prstDash val="solid"/>
          </a:ln>
        </p:spPr>
      </p:sp>
      <p:sp>
        <p:nvSpPr>
          <p:cNvPr id="51" name="Rectangles 50"/>
          <p:cNvSpPr>
            <a:spLocks noGrp="1"/>
          </p:cNvSpPr>
          <p:nvPr/>
        </p:nvSpPr>
        <p:spPr>
          <a:xfrm>
            <a:off x="5143500" y="4218940"/>
            <a:ext cx="1428750" cy="361950"/>
          </a:xfrm>
          <a:prstGeom prst="rect">
            <a:avLst/>
          </a:prstGeom>
        </p:spPr>
        <p:txBody>
          <a:bodyPr lIns="0" tIns="0" rIns="0" bIns="0">
            <a:normAutofit/>
          </a:bodyPr>
          <a:lstStyle/>
          <a:p>
            <a:pPr algn="l">
              <a:defRPr sz="900" b="0" i="0">
                <a:solidFill>
                  <a:srgbClr val="16202A"/>
                </a:solidFill>
                <a:latin typeface="Aptos"/>
                <a:ea typeface="Aptos"/>
                <a:cs typeface="Aptos"/>
              </a:defRPr>
            </a:pPr>
            <a:r>
              <a:t>Jun 2023</a:t>
            </a:r>
          </a:p>
        </p:txBody>
      </p:sp>
      <p:sp>
        <p:nvSpPr>
          <p:cNvPr id="52" name="Rectangles 51"/>
          <p:cNvSpPr>
            <a:spLocks noGrp="1"/>
          </p:cNvSpPr>
          <p:nvPr/>
        </p:nvSpPr>
        <p:spPr>
          <a:xfrm>
            <a:off x="6667500" y="4142740"/>
            <a:ext cx="1809750" cy="476250"/>
          </a:xfrm>
          <a:prstGeom prst="rect">
            <a:avLst/>
          </a:prstGeom>
          <a:solidFill>
            <a:srgbClr val="FFFFFF"/>
          </a:solidFill>
          <a:ln w="0">
            <a:noFill/>
            <a:prstDash val="solid"/>
          </a:ln>
        </p:spPr>
      </p:sp>
      <p:sp>
        <p:nvSpPr>
          <p:cNvPr id="53" name="Rectangles 52"/>
          <p:cNvSpPr>
            <a:spLocks noGrp="1"/>
          </p:cNvSpPr>
          <p:nvPr/>
        </p:nvSpPr>
        <p:spPr>
          <a:xfrm>
            <a:off x="6762750" y="4218940"/>
            <a:ext cx="1619250" cy="361950"/>
          </a:xfrm>
          <a:prstGeom prst="rect">
            <a:avLst/>
          </a:prstGeom>
        </p:spPr>
        <p:txBody>
          <a:bodyPr lIns="0" tIns="0" rIns="0" bIns="0">
            <a:normAutofit/>
          </a:bodyPr>
          <a:lstStyle/>
          <a:p>
            <a:pPr algn="l">
              <a:defRPr sz="900" b="0" i="0">
                <a:solidFill>
                  <a:srgbClr val="16202A"/>
                </a:solidFill>
                <a:latin typeface="Aptos"/>
                <a:ea typeface="Aptos"/>
                <a:cs typeface="Aptos"/>
              </a:defRPr>
            </a:pPr>
            <a:r>
              <a:t>2023-06-01</a:t>
            </a:r>
          </a:p>
        </p:txBody>
      </p:sp>
      <p:sp>
        <p:nvSpPr>
          <p:cNvPr id="54" name="Rectangles 53"/>
          <p:cNvSpPr>
            <a:spLocks noGrp="1"/>
          </p:cNvSpPr>
          <p:nvPr/>
        </p:nvSpPr>
        <p:spPr>
          <a:xfrm>
            <a:off x="8477250" y="4142740"/>
            <a:ext cx="1524000" cy="476250"/>
          </a:xfrm>
          <a:prstGeom prst="rect">
            <a:avLst/>
          </a:prstGeom>
          <a:solidFill>
            <a:srgbClr val="FFFFFF"/>
          </a:solidFill>
          <a:ln w="0">
            <a:noFill/>
            <a:prstDash val="solid"/>
          </a:ln>
        </p:spPr>
      </p:sp>
      <p:sp>
        <p:nvSpPr>
          <p:cNvPr id="55" name="Rectangles 54"/>
          <p:cNvSpPr>
            <a:spLocks noGrp="1"/>
          </p:cNvSpPr>
          <p:nvPr/>
        </p:nvSpPr>
        <p:spPr>
          <a:xfrm>
            <a:off x="8572500" y="4218940"/>
            <a:ext cx="1333500" cy="361950"/>
          </a:xfrm>
          <a:prstGeom prst="rect">
            <a:avLst/>
          </a:prstGeom>
        </p:spPr>
        <p:txBody>
          <a:bodyPr lIns="0" tIns="0" rIns="0" bIns="0">
            <a:normAutofit/>
          </a:bodyPr>
          <a:lstStyle/>
          <a:p>
            <a:pPr algn="l">
              <a:defRPr sz="900" b="0" i="0">
                <a:solidFill>
                  <a:srgbClr val="16202A"/>
                </a:solidFill>
                <a:latin typeface="Aptos"/>
                <a:ea typeface="Aptos"/>
                <a:cs typeface="Aptos"/>
              </a:defRPr>
            </a:pPr>
            <a:r>
              <a:t>Modelled</a:t>
            </a:r>
          </a:p>
        </p:txBody>
      </p:sp>
      <p:sp>
        <p:nvSpPr>
          <p:cNvPr id="56" name="Rectangles 55"/>
          <p:cNvSpPr>
            <a:spLocks noGrp="1"/>
          </p:cNvSpPr>
          <p:nvPr/>
        </p:nvSpPr>
        <p:spPr>
          <a:xfrm>
            <a:off x="876300" y="4618990"/>
            <a:ext cx="876300" cy="476250"/>
          </a:xfrm>
          <a:prstGeom prst="rect">
            <a:avLst/>
          </a:prstGeom>
          <a:solidFill>
            <a:srgbClr val="FFFFFF"/>
          </a:solidFill>
          <a:ln w="0">
            <a:noFill/>
            <a:prstDash val="solid"/>
          </a:ln>
        </p:spPr>
      </p:sp>
      <p:sp>
        <p:nvSpPr>
          <p:cNvPr id="57" name="Rectangles 56"/>
          <p:cNvSpPr>
            <a:spLocks noGrp="1"/>
          </p:cNvSpPr>
          <p:nvPr/>
        </p:nvSpPr>
        <p:spPr>
          <a:xfrm>
            <a:off x="971550" y="4695190"/>
            <a:ext cx="685800" cy="361950"/>
          </a:xfrm>
          <a:prstGeom prst="rect">
            <a:avLst/>
          </a:prstGeom>
        </p:spPr>
        <p:txBody>
          <a:bodyPr lIns="0" tIns="0" rIns="0" bIns="0">
            <a:normAutofit/>
          </a:bodyPr>
          <a:lstStyle/>
          <a:p>
            <a:pPr algn="l">
              <a:defRPr sz="900" b="0" i="0">
                <a:solidFill>
                  <a:srgbClr val="16202A"/>
                </a:solidFill>
                <a:latin typeface="Aptos"/>
                <a:ea typeface="Aptos"/>
                <a:cs typeface="Aptos"/>
              </a:defRPr>
            </a:pPr>
            <a:r>
              <a:t>13</a:t>
            </a:r>
          </a:p>
        </p:txBody>
      </p:sp>
      <p:sp>
        <p:nvSpPr>
          <p:cNvPr id="58" name="Rectangles 57"/>
          <p:cNvSpPr>
            <a:spLocks noGrp="1"/>
          </p:cNvSpPr>
          <p:nvPr/>
        </p:nvSpPr>
        <p:spPr>
          <a:xfrm>
            <a:off x="1752600" y="4618990"/>
            <a:ext cx="3295650" cy="476250"/>
          </a:xfrm>
          <a:prstGeom prst="rect">
            <a:avLst/>
          </a:prstGeom>
          <a:solidFill>
            <a:srgbClr val="FFFFFF"/>
          </a:solidFill>
          <a:ln w="0">
            <a:noFill/>
            <a:prstDash val="solid"/>
          </a:ln>
        </p:spPr>
      </p:sp>
      <p:sp>
        <p:nvSpPr>
          <p:cNvPr id="59" name="Rectangles 58"/>
          <p:cNvSpPr>
            <a:spLocks noGrp="1"/>
          </p:cNvSpPr>
          <p:nvPr/>
        </p:nvSpPr>
        <p:spPr>
          <a:xfrm>
            <a:off x="1847850" y="4695190"/>
            <a:ext cx="3105150" cy="361950"/>
          </a:xfrm>
          <a:prstGeom prst="rect">
            <a:avLst/>
          </a:prstGeom>
        </p:spPr>
        <p:txBody>
          <a:bodyPr lIns="0" tIns="0" rIns="0" bIns="0">
            <a:normAutofit/>
          </a:bodyPr>
          <a:lstStyle/>
          <a:p>
            <a:pPr algn="l">
              <a:defRPr sz="900" b="0" i="0">
                <a:solidFill>
                  <a:srgbClr val="16202A"/>
                </a:solidFill>
                <a:latin typeface="Aptos"/>
                <a:ea typeface="Aptos"/>
                <a:cs typeface="Aptos"/>
              </a:defRPr>
            </a:pPr>
            <a:r>
              <a:t>Astmoor / Warrington Road</a:t>
            </a:r>
          </a:p>
        </p:txBody>
      </p:sp>
      <p:sp>
        <p:nvSpPr>
          <p:cNvPr id="60" name="Rectangles 59"/>
          <p:cNvSpPr>
            <a:spLocks noGrp="1"/>
          </p:cNvSpPr>
          <p:nvPr/>
        </p:nvSpPr>
        <p:spPr>
          <a:xfrm>
            <a:off x="5048250" y="4618990"/>
            <a:ext cx="1619250" cy="476250"/>
          </a:xfrm>
          <a:prstGeom prst="rect">
            <a:avLst/>
          </a:prstGeom>
          <a:solidFill>
            <a:srgbClr val="FFFFFF"/>
          </a:solidFill>
          <a:ln w="0">
            <a:noFill/>
            <a:prstDash val="solid"/>
          </a:ln>
        </p:spPr>
      </p:sp>
      <p:sp>
        <p:nvSpPr>
          <p:cNvPr id="61" name="Rectangles 60"/>
          <p:cNvSpPr>
            <a:spLocks noGrp="1"/>
          </p:cNvSpPr>
          <p:nvPr/>
        </p:nvSpPr>
        <p:spPr>
          <a:xfrm>
            <a:off x="5143500" y="4695190"/>
            <a:ext cx="1428750" cy="361950"/>
          </a:xfrm>
          <a:prstGeom prst="rect">
            <a:avLst/>
          </a:prstGeom>
        </p:spPr>
        <p:txBody>
          <a:bodyPr lIns="0" tIns="0" rIns="0" bIns="0">
            <a:normAutofit/>
          </a:bodyPr>
          <a:lstStyle/>
          <a:p>
            <a:pPr algn="l">
              <a:defRPr sz="900" b="0" i="0">
                <a:solidFill>
                  <a:srgbClr val="16202A"/>
                </a:solidFill>
                <a:latin typeface="Aptos"/>
                <a:ea typeface="Aptos"/>
                <a:cs typeface="Aptos"/>
              </a:defRPr>
            </a:pPr>
            <a:r>
              <a:t>Mar 2024</a:t>
            </a:r>
          </a:p>
        </p:txBody>
      </p:sp>
      <p:sp>
        <p:nvSpPr>
          <p:cNvPr id="62" name="Rectangles 61"/>
          <p:cNvSpPr>
            <a:spLocks noGrp="1"/>
          </p:cNvSpPr>
          <p:nvPr/>
        </p:nvSpPr>
        <p:spPr>
          <a:xfrm>
            <a:off x="6667500" y="4618990"/>
            <a:ext cx="1809750" cy="476250"/>
          </a:xfrm>
          <a:prstGeom prst="rect">
            <a:avLst/>
          </a:prstGeom>
          <a:solidFill>
            <a:srgbClr val="FFFFFF"/>
          </a:solidFill>
          <a:ln w="0">
            <a:noFill/>
            <a:prstDash val="solid"/>
          </a:ln>
        </p:spPr>
      </p:sp>
      <p:sp>
        <p:nvSpPr>
          <p:cNvPr id="63" name="Rectangles 62"/>
          <p:cNvSpPr>
            <a:spLocks noGrp="1"/>
          </p:cNvSpPr>
          <p:nvPr/>
        </p:nvSpPr>
        <p:spPr>
          <a:xfrm>
            <a:off x="6762750" y="4695190"/>
            <a:ext cx="1619250" cy="361950"/>
          </a:xfrm>
          <a:prstGeom prst="rect">
            <a:avLst/>
          </a:prstGeom>
        </p:spPr>
        <p:txBody>
          <a:bodyPr lIns="0" tIns="0" rIns="0" bIns="0">
            <a:normAutofit/>
          </a:bodyPr>
          <a:lstStyle/>
          <a:p>
            <a:pPr algn="l">
              <a:defRPr sz="900" b="0" i="0">
                <a:solidFill>
                  <a:srgbClr val="16202A"/>
                </a:solidFill>
                <a:latin typeface="Aptos"/>
                <a:ea typeface="Aptos"/>
                <a:cs typeface="Aptos"/>
              </a:defRPr>
            </a:pPr>
            <a:r>
              <a:t>2024-03-01</a:t>
            </a:r>
          </a:p>
        </p:txBody>
      </p:sp>
      <p:sp>
        <p:nvSpPr>
          <p:cNvPr id="64" name="Rectangles 63"/>
          <p:cNvSpPr>
            <a:spLocks noGrp="1"/>
          </p:cNvSpPr>
          <p:nvPr/>
        </p:nvSpPr>
        <p:spPr>
          <a:xfrm>
            <a:off x="8477250" y="4618990"/>
            <a:ext cx="1524000" cy="476250"/>
          </a:xfrm>
          <a:prstGeom prst="rect">
            <a:avLst/>
          </a:prstGeom>
          <a:solidFill>
            <a:srgbClr val="FFFFFF"/>
          </a:solidFill>
          <a:ln w="0">
            <a:noFill/>
            <a:prstDash val="solid"/>
          </a:ln>
        </p:spPr>
      </p:sp>
      <p:sp>
        <p:nvSpPr>
          <p:cNvPr id="65" name="Rectangles 64"/>
          <p:cNvSpPr>
            <a:spLocks noGrp="1"/>
          </p:cNvSpPr>
          <p:nvPr/>
        </p:nvSpPr>
        <p:spPr>
          <a:xfrm>
            <a:off x="8572500" y="4695190"/>
            <a:ext cx="1333500" cy="361950"/>
          </a:xfrm>
          <a:prstGeom prst="rect">
            <a:avLst/>
          </a:prstGeom>
        </p:spPr>
        <p:txBody>
          <a:bodyPr lIns="0" tIns="0" rIns="0" bIns="0">
            <a:normAutofit/>
          </a:bodyPr>
          <a:lstStyle/>
          <a:p>
            <a:pPr algn="l">
              <a:defRPr sz="900" b="0" i="0">
                <a:solidFill>
                  <a:srgbClr val="16202A"/>
                </a:solidFill>
                <a:latin typeface="Aptos"/>
                <a:ea typeface="Aptos"/>
                <a:cs typeface="Aptos"/>
              </a:defRPr>
            </a:pPr>
            <a:r>
              <a:t>Modelled</a:t>
            </a:r>
          </a:p>
        </p:txBody>
      </p:sp>
      <p:sp>
        <p:nvSpPr>
          <p:cNvPr id="66" name="Rectangles 65"/>
          <p:cNvSpPr>
            <a:spLocks noGrp="1"/>
          </p:cNvSpPr>
          <p:nvPr/>
        </p:nvSpPr>
        <p:spPr>
          <a:xfrm>
            <a:off x="1123950" y="5476240"/>
            <a:ext cx="9810750" cy="495300"/>
          </a:xfrm>
          <a:prstGeom prst="rect">
            <a:avLst/>
          </a:prstGeom>
        </p:spPr>
        <p:txBody>
          <a:bodyPr lIns="0" tIns="0" rIns="0" bIns="0">
            <a:normAutofit/>
          </a:bodyPr>
          <a:lstStyle/>
          <a:p>
            <a:pPr algn="l">
              <a:defRPr sz="1350" b="0" i="0">
                <a:solidFill>
                  <a:srgbClr val="536170"/>
                </a:solidFill>
                <a:latin typeface="Aptos"/>
                <a:ea typeface="Aptos"/>
                <a:cs typeface="Aptos"/>
              </a:defRPr>
            </a:pPr>
            <a:r>
              <a:t>Why 12b and 12e need rechecking: their causal status should be reassessed using the confirmed exact scheme dates and first reliable sensor dates.</a:t>
            </a:r>
          </a:p>
        </p:txBody>
      </p:sp>
      <p:sp>
        <p:nvSpPr>
          <p:cNvPr id="68" name="Rectangles 67"/>
          <p:cNvSpPr>
            <a:spLocks noGrp="1"/>
          </p:cNvSpPr>
          <p:nvPr/>
        </p:nvSpPr>
        <p:spPr>
          <a:xfrm>
            <a:off x="11239500" y="6419850"/>
            <a:ext cx="381000" cy="228600"/>
          </a:xfrm>
          <a:prstGeom prst="rect">
            <a:avLst/>
          </a:prstGeom>
        </p:spPr>
        <p:txBody>
          <a:bodyPr lIns="0" tIns="0" rIns="0" bIns="0">
            <a:normAutofit/>
          </a:bodyPr>
          <a:lstStyle/>
          <a:p>
            <a:pPr algn="r">
              <a:defRPr sz="900" b="0" i="0">
                <a:solidFill>
                  <a:srgbClr val="7B8794"/>
                </a:solidFill>
                <a:latin typeface="Aptos"/>
                <a:ea typeface="Aptos"/>
                <a:cs typeface="Aptos"/>
              </a:defRPr>
            </a:pPr>
            <a:r>
              <a:t>03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s 1"/>
          <p:cNvSpPr>
            <a:spLocks noGrp="1"/>
          </p:cNvSpPr>
          <p:nvPr/>
        </p:nvSpPr>
        <p:spPr>
          <a:xfrm>
            <a:off x="0" y="0"/>
            <a:ext cx="12192000" cy="6858000"/>
          </a:xfrm>
          <a:prstGeom prst="rect">
            <a:avLst/>
          </a:prstGeom>
          <a:solidFill>
            <a:srgbClr val="FAFBFB"/>
          </a:solidFill>
          <a:ln w="0">
            <a:noFill/>
            <a:prstDash val="solid"/>
          </a:ln>
        </p:spPr>
      </p:sp>
      <p:sp>
        <p:nvSpPr>
          <p:cNvPr id="3" name="Rectangles 2"/>
          <p:cNvSpPr>
            <a:spLocks noGrp="1"/>
          </p:cNvSpPr>
          <p:nvPr/>
        </p:nvSpPr>
        <p:spPr>
          <a:xfrm>
            <a:off x="609600" y="342900"/>
            <a:ext cx="7048500" cy="266700"/>
          </a:xfrm>
          <a:prstGeom prst="rect">
            <a:avLst/>
          </a:prstGeom>
        </p:spPr>
        <p:txBody>
          <a:bodyPr lIns="0" tIns="0" rIns="0" bIns="0">
            <a:normAutofit/>
          </a:bodyPr>
          <a:lstStyle/>
          <a:p>
            <a:pPr algn="l">
              <a:defRPr sz="1125" b="1" i="0">
                <a:solidFill>
                  <a:srgbClr val="1F6F8B"/>
                </a:solidFill>
                <a:latin typeface="Aptos"/>
                <a:ea typeface="Aptos"/>
                <a:cs typeface="Aptos"/>
              </a:defRPr>
            </a:pPr>
            <a:r>
              <a:t>DATA CLEANING</a:t>
            </a:r>
          </a:p>
        </p:txBody>
      </p:sp>
      <p:sp>
        <p:nvSpPr>
          <p:cNvPr id="4" name="Rectangles 3"/>
          <p:cNvSpPr>
            <a:spLocks noGrp="1"/>
          </p:cNvSpPr>
          <p:nvPr/>
        </p:nvSpPr>
        <p:spPr>
          <a:xfrm>
            <a:off x="609600" y="666750"/>
            <a:ext cx="8191500" cy="838200"/>
          </a:xfrm>
          <a:prstGeom prst="rect">
            <a:avLst/>
          </a:prstGeom>
        </p:spPr>
        <p:txBody>
          <a:bodyPr lIns="0" tIns="0" rIns="0" bIns="0">
            <a:normAutofit fontScale="91667"/>
          </a:bodyPr>
          <a:lstStyle/>
          <a:p>
            <a:pPr algn="l">
              <a:defRPr sz="3000" b="1" i="0">
                <a:solidFill>
                  <a:srgbClr val="16202A"/>
                </a:solidFill>
                <a:latin typeface="Aptos"/>
                <a:ea typeface="Aptos"/>
                <a:cs typeface="Aptos"/>
              </a:defRPr>
            </a:pPr>
            <a:r>
              <a:t>The cleaning workflow separates sensor absence from real zero flow</a:t>
            </a:r>
          </a:p>
        </p:txBody>
      </p:sp>
      <p:sp>
        <p:nvSpPr>
          <p:cNvPr id="5" name="Rectangles 4"/>
          <p:cNvSpPr>
            <a:spLocks noGrp="1"/>
          </p:cNvSpPr>
          <p:nvPr/>
        </p:nvSpPr>
        <p:spPr>
          <a:xfrm>
            <a:off x="609600" y="1466850"/>
            <a:ext cx="8858250" cy="457200"/>
          </a:xfrm>
          <a:prstGeom prst="rect">
            <a:avLst/>
          </a:prstGeom>
        </p:spPr>
        <p:txBody>
          <a:bodyPr lIns="0" tIns="0" rIns="0" bIns="0">
            <a:normAutofit/>
          </a:bodyPr>
          <a:lstStyle/>
          <a:p>
            <a:pPr algn="l">
              <a:defRPr sz="1350" b="0" i="0">
                <a:solidFill>
                  <a:srgbClr val="536170"/>
                </a:solidFill>
                <a:latin typeface="Aptos"/>
                <a:ea typeface="Aptos"/>
                <a:cs typeface="Aptos"/>
              </a:defRPr>
            </a:pPr>
            <a:r>
              <a:t>The most important cleaning decision was to avoid treating pre-installation or unreliable early sensor periods as true low activity.</a:t>
            </a:r>
          </a:p>
        </p:txBody>
      </p:sp>
      <p:sp>
        <p:nvSpPr>
          <p:cNvPr id="6" name="Rounded Rectangle 5"/>
          <p:cNvSpPr>
            <a:spLocks noGrp="1"/>
          </p:cNvSpPr>
          <p:nvPr/>
        </p:nvSpPr>
        <p:spPr>
          <a:xfrm>
            <a:off x="666750" y="2238375"/>
            <a:ext cx="2000250" cy="1066800"/>
          </a:xfrm>
          <a:prstGeom prst="roundRect">
            <a:avLst>
              <a:gd name="adj" fmla="val 7143"/>
            </a:avLst>
          </a:prstGeom>
          <a:solidFill>
            <a:srgbClr val="FFFFFF"/>
          </a:solidFill>
          <a:ln w="0">
            <a:noFill/>
            <a:prstDash val="solid"/>
          </a:ln>
        </p:spPr>
      </p:sp>
      <p:sp>
        <p:nvSpPr>
          <p:cNvPr id="7" name="Rounded Rectangle 6"/>
          <p:cNvSpPr>
            <a:spLocks noGrp="1"/>
          </p:cNvSpPr>
          <p:nvPr/>
        </p:nvSpPr>
        <p:spPr>
          <a:xfrm>
            <a:off x="666750" y="2238375"/>
            <a:ext cx="2000250" cy="76200"/>
          </a:xfrm>
          <a:prstGeom prst="roundRect">
            <a:avLst>
              <a:gd name="adj" fmla="val 50000"/>
            </a:avLst>
          </a:prstGeom>
          <a:solidFill>
            <a:srgbClr val="1F6F8B"/>
          </a:solidFill>
          <a:ln w="0">
            <a:noFill/>
            <a:prstDash val="solid"/>
          </a:ln>
        </p:spPr>
      </p:sp>
      <p:sp>
        <p:nvSpPr>
          <p:cNvPr id="8" name="Rectangles 7"/>
          <p:cNvSpPr>
            <a:spLocks noGrp="1"/>
          </p:cNvSpPr>
          <p:nvPr/>
        </p:nvSpPr>
        <p:spPr>
          <a:xfrm>
            <a:off x="838200" y="2447925"/>
            <a:ext cx="1657350" cy="266700"/>
          </a:xfrm>
          <a:prstGeom prst="rect">
            <a:avLst/>
          </a:prstGeom>
        </p:spPr>
        <p:txBody>
          <a:bodyPr lIns="0" tIns="0" rIns="0" bIns="0">
            <a:normAutofit/>
          </a:bodyPr>
          <a:lstStyle/>
          <a:p>
            <a:pPr algn="l">
              <a:defRPr sz="1350" b="1" i="0">
                <a:solidFill>
                  <a:srgbClr val="16202A"/>
                </a:solidFill>
                <a:latin typeface="Aptos"/>
                <a:ea typeface="Aptos"/>
                <a:cs typeface="Aptos"/>
              </a:defRPr>
            </a:pPr>
            <a:r>
              <a:t>Raw exports</a:t>
            </a:r>
          </a:p>
        </p:txBody>
      </p:sp>
      <p:sp>
        <p:nvSpPr>
          <p:cNvPr id="9" name="Rectangles 8"/>
          <p:cNvSpPr>
            <a:spLocks noGrp="1"/>
          </p:cNvSpPr>
          <p:nvPr/>
        </p:nvSpPr>
        <p:spPr>
          <a:xfrm>
            <a:off x="838200" y="2752725"/>
            <a:ext cx="1657350" cy="457200"/>
          </a:xfrm>
          <a:prstGeom prst="rect">
            <a:avLst/>
          </a:prstGeom>
        </p:spPr>
        <p:txBody>
          <a:bodyPr lIns="0" tIns="0" rIns="0" bIns="0">
            <a:normAutofit/>
          </a:bodyPr>
          <a:lstStyle/>
          <a:p>
            <a:pPr algn="l">
              <a:defRPr sz="975" b="0" i="0">
                <a:solidFill>
                  <a:srgbClr val="536170"/>
                </a:solidFill>
                <a:latin typeface="Aptos"/>
                <a:ea typeface="Aptos"/>
                <a:cs typeface="Aptos"/>
              </a:defRPr>
            </a:pPr>
            <a:r>
              <a:t>Vivacity classified countline CSVs for treated and shortlisted control sensors.</a:t>
            </a:r>
          </a:p>
        </p:txBody>
      </p:sp>
      <p:sp>
        <p:nvSpPr>
          <p:cNvPr id="10" name="Rounded Rectangle 9"/>
          <p:cNvSpPr>
            <a:spLocks noGrp="1"/>
          </p:cNvSpPr>
          <p:nvPr/>
        </p:nvSpPr>
        <p:spPr>
          <a:xfrm>
            <a:off x="2971800" y="2238375"/>
            <a:ext cx="2190750" cy="1066800"/>
          </a:xfrm>
          <a:prstGeom prst="roundRect">
            <a:avLst>
              <a:gd name="adj" fmla="val 7143"/>
            </a:avLst>
          </a:prstGeom>
          <a:solidFill>
            <a:srgbClr val="FFFFFF"/>
          </a:solidFill>
          <a:ln w="0">
            <a:noFill/>
            <a:prstDash val="solid"/>
          </a:ln>
        </p:spPr>
      </p:sp>
      <p:sp>
        <p:nvSpPr>
          <p:cNvPr id="11" name="Rounded Rectangle 10"/>
          <p:cNvSpPr>
            <a:spLocks noGrp="1"/>
          </p:cNvSpPr>
          <p:nvPr/>
        </p:nvSpPr>
        <p:spPr>
          <a:xfrm>
            <a:off x="2971800" y="2238375"/>
            <a:ext cx="2190750" cy="76200"/>
          </a:xfrm>
          <a:prstGeom prst="roundRect">
            <a:avLst>
              <a:gd name="adj" fmla="val 50000"/>
            </a:avLst>
          </a:prstGeom>
          <a:solidFill>
            <a:srgbClr val="2A9D8F"/>
          </a:solidFill>
          <a:ln w="0">
            <a:noFill/>
            <a:prstDash val="solid"/>
          </a:ln>
        </p:spPr>
      </p:sp>
      <p:sp>
        <p:nvSpPr>
          <p:cNvPr id="12" name="Rectangles 11"/>
          <p:cNvSpPr>
            <a:spLocks noGrp="1"/>
          </p:cNvSpPr>
          <p:nvPr/>
        </p:nvSpPr>
        <p:spPr>
          <a:xfrm>
            <a:off x="3143250" y="2447925"/>
            <a:ext cx="1847850" cy="266700"/>
          </a:xfrm>
          <a:prstGeom prst="rect">
            <a:avLst/>
          </a:prstGeom>
        </p:spPr>
        <p:txBody>
          <a:bodyPr lIns="0" tIns="0" rIns="0" bIns="0">
            <a:normAutofit/>
          </a:bodyPr>
          <a:lstStyle/>
          <a:p>
            <a:pPr algn="l">
              <a:defRPr sz="1350" b="1" i="0">
                <a:solidFill>
                  <a:srgbClr val="16202A"/>
                </a:solidFill>
                <a:latin typeface="Aptos"/>
                <a:ea typeface="Aptos"/>
                <a:cs typeface="Aptos"/>
              </a:defRPr>
            </a:pPr>
            <a:r>
              <a:t>Daily aggregation</a:t>
            </a:r>
          </a:p>
        </p:txBody>
      </p:sp>
      <p:sp>
        <p:nvSpPr>
          <p:cNvPr id="13" name="Rectangles 12"/>
          <p:cNvSpPr>
            <a:spLocks noGrp="1"/>
          </p:cNvSpPr>
          <p:nvPr/>
        </p:nvSpPr>
        <p:spPr>
          <a:xfrm>
            <a:off x="3143250" y="2752725"/>
            <a:ext cx="1847850" cy="457200"/>
          </a:xfrm>
          <a:prstGeom prst="rect">
            <a:avLst/>
          </a:prstGeom>
        </p:spPr>
        <p:txBody>
          <a:bodyPr lIns="0" tIns="0" rIns="0" bIns="0">
            <a:normAutofit fontScale="92819"/>
          </a:bodyPr>
          <a:lstStyle/>
          <a:p>
            <a:pPr algn="l">
              <a:defRPr sz="975" b="0" i="0">
                <a:solidFill>
                  <a:srgbClr val="536170"/>
                </a:solidFill>
                <a:latin typeface="Aptos"/>
                <a:ea typeface="Aptos"/>
                <a:cs typeface="Aptos"/>
              </a:defRPr>
            </a:pPr>
            <a:r>
              <a:t>Hourly/directional observations summed to daily pedestrian, cyclist, active travel, and motorised totals.</a:t>
            </a:r>
          </a:p>
        </p:txBody>
      </p:sp>
      <p:sp>
        <p:nvSpPr>
          <p:cNvPr id="14" name="Rounded Rectangle 13"/>
          <p:cNvSpPr>
            <a:spLocks noGrp="1"/>
          </p:cNvSpPr>
          <p:nvPr/>
        </p:nvSpPr>
        <p:spPr>
          <a:xfrm>
            <a:off x="5467350" y="2238375"/>
            <a:ext cx="2095500" cy="1066800"/>
          </a:xfrm>
          <a:prstGeom prst="roundRect">
            <a:avLst>
              <a:gd name="adj" fmla="val 7143"/>
            </a:avLst>
          </a:prstGeom>
          <a:solidFill>
            <a:srgbClr val="FFFFFF"/>
          </a:solidFill>
          <a:ln w="0">
            <a:noFill/>
            <a:prstDash val="solid"/>
          </a:ln>
        </p:spPr>
      </p:sp>
      <p:sp>
        <p:nvSpPr>
          <p:cNvPr id="15" name="Rounded Rectangle 14"/>
          <p:cNvSpPr>
            <a:spLocks noGrp="1"/>
          </p:cNvSpPr>
          <p:nvPr/>
        </p:nvSpPr>
        <p:spPr>
          <a:xfrm>
            <a:off x="5467350" y="2238375"/>
            <a:ext cx="2095500" cy="76200"/>
          </a:xfrm>
          <a:prstGeom prst="roundRect">
            <a:avLst>
              <a:gd name="adj" fmla="val 50000"/>
            </a:avLst>
          </a:prstGeom>
          <a:solidFill>
            <a:srgbClr val="E9C46A"/>
          </a:solidFill>
          <a:ln w="0">
            <a:noFill/>
            <a:prstDash val="solid"/>
          </a:ln>
        </p:spPr>
      </p:sp>
      <p:sp>
        <p:nvSpPr>
          <p:cNvPr id="16" name="Rectangles 15"/>
          <p:cNvSpPr>
            <a:spLocks noGrp="1"/>
          </p:cNvSpPr>
          <p:nvPr/>
        </p:nvSpPr>
        <p:spPr>
          <a:xfrm>
            <a:off x="5638800" y="2447925"/>
            <a:ext cx="1752600" cy="266700"/>
          </a:xfrm>
          <a:prstGeom prst="rect">
            <a:avLst/>
          </a:prstGeom>
        </p:spPr>
        <p:txBody>
          <a:bodyPr lIns="0" tIns="0" rIns="0" bIns="0">
            <a:normAutofit/>
          </a:bodyPr>
          <a:lstStyle/>
          <a:p>
            <a:pPr algn="l">
              <a:defRPr sz="1350" b="1" i="0">
                <a:solidFill>
                  <a:srgbClr val="16202A"/>
                </a:solidFill>
                <a:latin typeface="Aptos"/>
                <a:ea typeface="Aptos"/>
                <a:cs typeface="Aptos"/>
              </a:defRPr>
            </a:pPr>
            <a:r>
              <a:t>Full-day cutoff</a:t>
            </a:r>
          </a:p>
        </p:txBody>
      </p:sp>
      <p:sp>
        <p:nvSpPr>
          <p:cNvPr id="17" name="Rectangles 16"/>
          <p:cNvSpPr>
            <a:spLocks noGrp="1"/>
          </p:cNvSpPr>
          <p:nvPr/>
        </p:nvSpPr>
        <p:spPr>
          <a:xfrm>
            <a:off x="5638800" y="2752725"/>
            <a:ext cx="1752600" cy="457200"/>
          </a:xfrm>
          <a:prstGeom prst="rect">
            <a:avLst/>
          </a:prstGeom>
        </p:spPr>
        <p:txBody>
          <a:bodyPr lIns="0" tIns="0" rIns="0" bIns="0">
            <a:normAutofit/>
          </a:bodyPr>
          <a:lstStyle/>
          <a:p>
            <a:pPr algn="l">
              <a:defRPr sz="975" b="0" i="0">
                <a:solidFill>
                  <a:srgbClr val="536170"/>
                </a:solidFill>
                <a:latin typeface="Aptos"/>
                <a:ea typeface="Aptos"/>
                <a:cs typeface="Aptos"/>
              </a:defRPr>
            </a:pPr>
            <a:r>
              <a:t>Data filtered to 2026-05-26 inclusive so every retained day is complete.</a:t>
            </a:r>
          </a:p>
        </p:txBody>
      </p:sp>
      <p:sp>
        <p:nvSpPr>
          <p:cNvPr id="18" name="Rounded Rectangle 17"/>
          <p:cNvSpPr>
            <a:spLocks noGrp="1"/>
          </p:cNvSpPr>
          <p:nvPr/>
        </p:nvSpPr>
        <p:spPr>
          <a:xfrm>
            <a:off x="7867650" y="2238375"/>
            <a:ext cx="2762250" cy="1066800"/>
          </a:xfrm>
          <a:prstGeom prst="roundRect">
            <a:avLst>
              <a:gd name="adj" fmla="val 7143"/>
            </a:avLst>
          </a:prstGeom>
          <a:solidFill>
            <a:srgbClr val="FFFFFF"/>
          </a:solidFill>
          <a:ln w="0">
            <a:noFill/>
            <a:prstDash val="solid"/>
          </a:ln>
        </p:spPr>
      </p:sp>
      <p:sp>
        <p:nvSpPr>
          <p:cNvPr id="19" name="Rounded Rectangle 18"/>
          <p:cNvSpPr>
            <a:spLocks noGrp="1"/>
          </p:cNvSpPr>
          <p:nvPr/>
        </p:nvSpPr>
        <p:spPr>
          <a:xfrm>
            <a:off x="7867650" y="2238375"/>
            <a:ext cx="2762250" cy="76200"/>
          </a:xfrm>
          <a:prstGeom prst="roundRect">
            <a:avLst>
              <a:gd name="adj" fmla="val 50000"/>
            </a:avLst>
          </a:prstGeom>
          <a:solidFill>
            <a:srgbClr val="3B8B5D"/>
          </a:solidFill>
          <a:ln w="0">
            <a:noFill/>
            <a:prstDash val="solid"/>
          </a:ln>
        </p:spPr>
      </p:sp>
      <p:sp>
        <p:nvSpPr>
          <p:cNvPr id="20" name="Rectangles 19"/>
          <p:cNvSpPr>
            <a:spLocks noGrp="1"/>
          </p:cNvSpPr>
          <p:nvPr/>
        </p:nvSpPr>
        <p:spPr>
          <a:xfrm>
            <a:off x="8039100" y="2447925"/>
            <a:ext cx="2419350" cy="266700"/>
          </a:xfrm>
          <a:prstGeom prst="rect">
            <a:avLst/>
          </a:prstGeom>
        </p:spPr>
        <p:txBody>
          <a:bodyPr lIns="0" tIns="0" rIns="0" bIns="0">
            <a:normAutofit/>
          </a:bodyPr>
          <a:lstStyle/>
          <a:p>
            <a:pPr algn="l">
              <a:defRPr sz="1350" b="1" i="0">
                <a:solidFill>
                  <a:srgbClr val="16202A"/>
                </a:solidFill>
                <a:latin typeface="Aptos"/>
                <a:ea typeface="Aptos"/>
                <a:cs typeface="Aptos"/>
              </a:defRPr>
            </a:pPr>
            <a:r>
              <a:t>Reliability gate</a:t>
            </a:r>
          </a:p>
        </p:txBody>
      </p:sp>
      <p:sp>
        <p:nvSpPr>
          <p:cNvPr id="21" name="Rectangles 20"/>
          <p:cNvSpPr>
            <a:spLocks noGrp="1"/>
          </p:cNvSpPr>
          <p:nvPr/>
        </p:nvSpPr>
        <p:spPr>
          <a:xfrm>
            <a:off x="8039100" y="2752725"/>
            <a:ext cx="2419350" cy="457200"/>
          </a:xfrm>
          <a:prstGeom prst="rect">
            <a:avLst/>
          </a:prstGeom>
        </p:spPr>
        <p:txBody>
          <a:bodyPr lIns="0" tIns="0" rIns="0" bIns="0">
            <a:normAutofit/>
          </a:bodyPr>
          <a:lstStyle/>
          <a:p>
            <a:pPr algn="l">
              <a:defRPr sz="975" b="0" i="0">
                <a:solidFill>
                  <a:srgbClr val="536170"/>
                </a:solidFill>
                <a:latin typeface="Aptos"/>
                <a:ea typeface="Aptos"/>
                <a:cs typeface="Aptos"/>
              </a:defRPr>
            </a:pPr>
            <a:r>
              <a:t>Rows must have availability, no data error, at least 80% daily coverage, and fall after first reliable date.</a:t>
            </a:r>
          </a:p>
        </p:txBody>
      </p:sp>
      <p:sp>
        <p:nvSpPr>
          <p:cNvPr id="22" name="Chevron 21"/>
          <p:cNvSpPr>
            <a:spLocks noGrp="1"/>
          </p:cNvSpPr>
          <p:nvPr/>
        </p:nvSpPr>
        <p:spPr>
          <a:xfrm>
            <a:off x="2714625" y="2647950"/>
            <a:ext cx="209550" cy="209550"/>
          </a:xfrm>
          <a:prstGeom prst="chevron">
            <a:avLst/>
          </a:prstGeom>
          <a:solidFill>
            <a:srgbClr val="94A3B8"/>
          </a:solidFill>
          <a:ln w="0">
            <a:noFill/>
            <a:prstDash val="solid"/>
          </a:ln>
        </p:spPr>
      </p:sp>
      <p:sp>
        <p:nvSpPr>
          <p:cNvPr id="23" name="Chevron 22"/>
          <p:cNvSpPr>
            <a:spLocks noGrp="1"/>
          </p:cNvSpPr>
          <p:nvPr/>
        </p:nvSpPr>
        <p:spPr>
          <a:xfrm>
            <a:off x="5219700" y="2647950"/>
            <a:ext cx="209550" cy="209550"/>
          </a:xfrm>
          <a:prstGeom prst="chevron">
            <a:avLst/>
          </a:prstGeom>
          <a:solidFill>
            <a:srgbClr val="94A3B8"/>
          </a:solidFill>
          <a:ln w="0">
            <a:noFill/>
            <a:prstDash val="solid"/>
          </a:ln>
        </p:spPr>
      </p:sp>
      <p:sp>
        <p:nvSpPr>
          <p:cNvPr id="24" name="Chevron 23"/>
          <p:cNvSpPr>
            <a:spLocks noGrp="1"/>
          </p:cNvSpPr>
          <p:nvPr/>
        </p:nvSpPr>
        <p:spPr>
          <a:xfrm>
            <a:off x="7629525" y="2647950"/>
            <a:ext cx="209550" cy="209550"/>
          </a:xfrm>
          <a:prstGeom prst="chevron">
            <a:avLst/>
          </a:prstGeom>
          <a:solidFill>
            <a:srgbClr val="94A3B8"/>
          </a:solidFill>
          <a:ln w="0">
            <a:noFill/>
            <a:prstDash val="solid"/>
          </a:ln>
        </p:spPr>
      </p:sp>
      <p:sp>
        <p:nvSpPr>
          <p:cNvPr id="25" name="Rounded Rectangle 24"/>
          <p:cNvSpPr>
            <a:spLocks noGrp="1"/>
          </p:cNvSpPr>
          <p:nvPr/>
        </p:nvSpPr>
        <p:spPr>
          <a:xfrm>
            <a:off x="1047750" y="3981450"/>
            <a:ext cx="2857500" cy="1162050"/>
          </a:xfrm>
          <a:prstGeom prst="roundRect">
            <a:avLst>
              <a:gd name="adj" fmla="val 6557"/>
            </a:avLst>
          </a:prstGeom>
          <a:solidFill>
            <a:srgbClr val="FFFFFF"/>
          </a:solidFill>
          <a:ln w="0">
            <a:noFill/>
            <a:prstDash val="solid"/>
          </a:ln>
        </p:spPr>
      </p:sp>
      <p:sp>
        <p:nvSpPr>
          <p:cNvPr id="26" name="Rounded Rectangle 25"/>
          <p:cNvSpPr>
            <a:spLocks noGrp="1"/>
          </p:cNvSpPr>
          <p:nvPr/>
        </p:nvSpPr>
        <p:spPr>
          <a:xfrm>
            <a:off x="1181100" y="4095750"/>
            <a:ext cx="66675" cy="933450"/>
          </a:xfrm>
          <a:prstGeom prst="roundRect">
            <a:avLst>
              <a:gd name="adj" fmla="val 50000"/>
            </a:avLst>
          </a:prstGeom>
          <a:solidFill>
            <a:srgbClr val="1F6F8B"/>
          </a:solidFill>
          <a:ln w="0">
            <a:noFill/>
            <a:prstDash val="solid"/>
          </a:ln>
        </p:spPr>
      </p:sp>
      <p:sp>
        <p:nvSpPr>
          <p:cNvPr id="27" name="Rectangles 26"/>
          <p:cNvSpPr>
            <a:spLocks noGrp="1"/>
          </p:cNvSpPr>
          <p:nvPr/>
        </p:nvSpPr>
        <p:spPr>
          <a:xfrm>
            <a:off x="1371600" y="4152900"/>
            <a:ext cx="2343150" cy="266700"/>
          </a:xfrm>
          <a:prstGeom prst="rect">
            <a:avLst/>
          </a:prstGeom>
        </p:spPr>
        <p:txBody>
          <a:bodyPr lIns="0" tIns="0" rIns="0" bIns="0">
            <a:normAutofit/>
          </a:bodyPr>
          <a:lstStyle/>
          <a:p>
            <a:pPr algn="l">
              <a:defRPr sz="1350" b="1" i="0">
                <a:solidFill>
                  <a:srgbClr val="16202A"/>
                </a:solidFill>
                <a:latin typeface="Aptos"/>
                <a:ea typeface="Aptos"/>
                <a:cs typeface="Aptos"/>
              </a:defRPr>
            </a:pPr>
            <a:r>
              <a:t>First reliable date</a:t>
            </a:r>
          </a:p>
        </p:txBody>
      </p:sp>
      <p:sp>
        <p:nvSpPr>
          <p:cNvPr id="28" name="Rectangles 27"/>
          <p:cNvSpPr>
            <a:spLocks noGrp="1"/>
          </p:cNvSpPr>
          <p:nvPr/>
        </p:nvSpPr>
        <p:spPr>
          <a:xfrm>
            <a:off x="1371600" y="4476750"/>
            <a:ext cx="2343150" cy="552450"/>
          </a:xfrm>
          <a:prstGeom prst="rect">
            <a:avLst/>
          </a:prstGeom>
        </p:spPr>
        <p:txBody>
          <a:bodyPr lIns="0" tIns="0" rIns="0" bIns="0">
            <a:normAutofit fontScale="91683"/>
          </a:bodyPr>
          <a:lstStyle/>
          <a:p>
            <a:pPr algn="l">
              <a:defRPr sz="1125" b="0" i="0">
                <a:solidFill>
                  <a:srgbClr val="536170"/>
                </a:solidFill>
                <a:latin typeface="Aptos"/>
                <a:ea typeface="Aptos"/>
                <a:cs typeface="Aptos"/>
              </a:defRPr>
            </a:pPr>
            <a:r>
              <a:t>Defined as the first positive active-travel day with at least 14 reliable days in the following 21-day window.</a:t>
            </a:r>
          </a:p>
        </p:txBody>
      </p:sp>
      <p:sp>
        <p:nvSpPr>
          <p:cNvPr id="29" name="Rounded Rectangle 28"/>
          <p:cNvSpPr>
            <a:spLocks noGrp="1"/>
          </p:cNvSpPr>
          <p:nvPr/>
        </p:nvSpPr>
        <p:spPr>
          <a:xfrm>
            <a:off x="4362450" y="3981450"/>
            <a:ext cx="2857500" cy="1162050"/>
          </a:xfrm>
          <a:prstGeom prst="roundRect">
            <a:avLst>
              <a:gd name="adj" fmla="val 6557"/>
            </a:avLst>
          </a:prstGeom>
          <a:solidFill>
            <a:srgbClr val="FFFFFF"/>
          </a:solidFill>
          <a:ln w="0">
            <a:noFill/>
            <a:prstDash val="solid"/>
          </a:ln>
        </p:spPr>
      </p:sp>
      <p:sp>
        <p:nvSpPr>
          <p:cNvPr id="30" name="Rounded Rectangle 29"/>
          <p:cNvSpPr>
            <a:spLocks noGrp="1"/>
          </p:cNvSpPr>
          <p:nvPr/>
        </p:nvSpPr>
        <p:spPr>
          <a:xfrm>
            <a:off x="4495800" y="4095750"/>
            <a:ext cx="66675" cy="933450"/>
          </a:xfrm>
          <a:prstGeom prst="roundRect">
            <a:avLst>
              <a:gd name="adj" fmla="val 50000"/>
            </a:avLst>
          </a:prstGeom>
          <a:solidFill>
            <a:srgbClr val="2A9D8F"/>
          </a:solidFill>
          <a:ln w="0">
            <a:noFill/>
            <a:prstDash val="solid"/>
          </a:ln>
        </p:spPr>
      </p:sp>
      <p:sp>
        <p:nvSpPr>
          <p:cNvPr id="31" name="Rectangles 30"/>
          <p:cNvSpPr>
            <a:spLocks noGrp="1"/>
          </p:cNvSpPr>
          <p:nvPr/>
        </p:nvSpPr>
        <p:spPr>
          <a:xfrm>
            <a:off x="4686300" y="4152900"/>
            <a:ext cx="2343150" cy="266700"/>
          </a:xfrm>
          <a:prstGeom prst="rect">
            <a:avLst/>
          </a:prstGeom>
        </p:spPr>
        <p:txBody>
          <a:bodyPr lIns="0" tIns="0" rIns="0" bIns="0">
            <a:normAutofit/>
          </a:bodyPr>
          <a:lstStyle/>
          <a:p>
            <a:pPr algn="l">
              <a:defRPr sz="1350" b="1" i="0">
                <a:solidFill>
                  <a:srgbClr val="16202A"/>
                </a:solidFill>
                <a:latin typeface="Aptos"/>
                <a:ea typeface="Aptos"/>
                <a:cs typeface="Aptos"/>
              </a:defRPr>
            </a:pPr>
            <a:r>
              <a:t>Duplicate check</a:t>
            </a:r>
          </a:p>
        </p:txBody>
      </p:sp>
      <p:sp>
        <p:nvSpPr>
          <p:cNvPr id="32" name="Rectangles 31"/>
          <p:cNvSpPr>
            <a:spLocks noGrp="1"/>
          </p:cNvSpPr>
          <p:nvPr/>
        </p:nvSpPr>
        <p:spPr>
          <a:xfrm>
            <a:off x="4686300" y="4476750"/>
            <a:ext cx="2343150" cy="552450"/>
          </a:xfrm>
          <a:prstGeom prst="rect">
            <a:avLst/>
          </a:prstGeom>
        </p:spPr>
        <p:txBody>
          <a:bodyPr lIns="0" tIns="0" rIns="0" bIns="0">
            <a:normAutofit fontScale="90523"/>
          </a:bodyPr>
          <a:lstStyle/>
          <a:p>
            <a:pPr algn="l">
              <a:defRPr sz="1125" b="0" i="0">
                <a:solidFill>
                  <a:srgbClr val="536170"/>
                </a:solidFill>
                <a:latin typeface="Aptos"/>
                <a:ea typeface="Aptos"/>
                <a:cs typeface="Aptos"/>
              </a:defRPr>
            </a:pPr>
            <a:r>
              <a:t>Duplicate daily countline keys were checked before modelling; duplicate file contains only the header in final outputs.</a:t>
            </a:r>
          </a:p>
        </p:txBody>
      </p:sp>
      <p:sp>
        <p:nvSpPr>
          <p:cNvPr id="33" name="Rounded Rectangle 32"/>
          <p:cNvSpPr>
            <a:spLocks noGrp="1"/>
          </p:cNvSpPr>
          <p:nvPr/>
        </p:nvSpPr>
        <p:spPr>
          <a:xfrm>
            <a:off x="7677150" y="3981450"/>
            <a:ext cx="2857500" cy="1162050"/>
          </a:xfrm>
          <a:prstGeom prst="roundRect">
            <a:avLst>
              <a:gd name="adj" fmla="val 6557"/>
            </a:avLst>
          </a:prstGeom>
          <a:solidFill>
            <a:srgbClr val="FFFFFF"/>
          </a:solidFill>
          <a:ln w="0">
            <a:noFill/>
            <a:prstDash val="solid"/>
          </a:ln>
        </p:spPr>
      </p:sp>
      <p:sp>
        <p:nvSpPr>
          <p:cNvPr id="34" name="Rounded Rectangle 33"/>
          <p:cNvSpPr>
            <a:spLocks noGrp="1"/>
          </p:cNvSpPr>
          <p:nvPr/>
        </p:nvSpPr>
        <p:spPr>
          <a:xfrm>
            <a:off x="7810500" y="4095750"/>
            <a:ext cx="66675" cy="933450"/>
          </a:xfrm>
          <a:prstGeom prst="roundRect">
            <a:avLst>
              <a:gd name="adj" fmla="val 50000"/>
            </a:avLst>
          </a:prstGeom>
          <a:solidFill>
            <a:srgbClr val="3B8B5D"/>
          </a:solidFill>
          <a:ln w="0">
            <a:noFill/>
            <a:prstDash val="solid"/>
          </a:ln>
        </p:spPr>
      </p:sp>
      <p:sp>
        <p:nvSpPr>
          <p:cNvPr id="35" name="Rectangles 34"/>
          <p:cNvSpPr>
            <a:spLocks noGrp="1"/>
          </p:cNvSpPr>
          <p:nvPr/>
        </p:nvSpPr>
        <p:spPr>
          <a:xfrm>
            <a:off x="8001000" y="4152900"/>
            <a:ext cx="2343150" cy="266700"/>
          </a:xfrm>
          <a:prstGeom prst="rect">
            <a:avLst/>
          </a:prstGeom>
        </p:spPr>
        <p:txBody>
          <a:bodyPr lIns="0" tIns="0" rIns="0" bIns="0">
            <a:normAutofit/>
          </a:bodyPr>
          <a:lstStyle/>
          <a:p>
            <a:pPr algn="l">
              <a:defRPr sz="1350" b="1" i="0">
                <a:solidFill>
                  <a:srgbClr val="16202A"/>
                </a:solidFill>
                <a:latin typeface="Aptos"/>
                <a:ea typeface="Aptos"/>
                <a:cs typeface="Aptos"/>
              </a:defRPr>
            </a:pPr>
            <a:r>
              <a:t>Output</a:t>
            </a:r>
          </a:p>
        </p:txBody>
      </p:sp>
      <p:sp>
        <p:nvSpPr>
          <p:cNvPr id="36" name="Rectangles 35"/>
          <p:cNvSpPr>
            <a:spLocks noGrp="1"/>
          </p:cNvSpPr>
          <p:nvPr/>
        </p:nvSpPr>
        <p:spPr>
          <a:xfrm>
            <a:off x="8001000" y="4476750"/>
            <a:ext cx="2343150" cy="552450"/>
          </a:xfrm>
          <a:prstGeom prst="rect">
            <a:avLst/>
          </a:prstGeom>
        </p:spPr>
        <p:txBody>
          <a:bodyPr lIns="0" tIns="0" rIns="0" bIns="0">
            <a:normAutofit/>
          </a:bodyPr>
          <a:lstStyle/>
          <a:p>
            <a:pPr algn="l">
              <a:defRPr sz="1125" b="0" i="0">
                <a:solidFill>
                  <a:srgbClr val="536170"/>
                </a:solidFill>
                <a:latin typeface="Aptos"/>
                <a:ea typeface="Aptos"/>
                <a:cs typeface="Aptos"/>
              </a:defRPr>
            </a:pPr>
            <a:r>
              <a:t>Cleaned treated/control daily data, QA summaries, inclusion table, and modelling-ready weekly tables.</a:t>
            </a:r>
          </a:p>
        </p:txBody>
      </p:sp>
      <p:sp>
        <p:nvSpPr>
          <p:cNvPr id="38" name="Rectangles 37"/>
          <p:cNvSpPr>
            <a:spLocks noGrp="1"/>
          </p:cNvSpPr>
          <p:nvPr/>
        </p:nvSpPr>
        <p:spPr>
          <a:xfrm>
            <a:off x="11239500" y="6419850"/>
            <a:ext cx="381000" cy="228600"/>
          </a:xfrm>
          <a:prstGeom prst="rect">
            <a:avLst/>
          </a:prstGeom>
        </p:spPr>
        <p:txBody>
          <a:bodyPr lIns="0" tIns="0" rIns="0" bIns="0">
            <a:normAutofit/>
          </a:bodyPr>
          <a:lstStyle/>
          <a:p>
            <a:pPr algn="r">
              <a:defRPr sz="900" b="0" i="0">
                <a:solidFill>
                  <a:srgbClr val="7B8794"/>
                </a:solidFill>
                <a:latin typeface="Aptos"/>
                <a:ea typeface="Aptos"/>
                <a:cs typeface="Aptos"/>
              </a:defRPr>
            </a:pPr>
            <a:r>
              <a:t>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s 1"/>
          <p:cNvSpPr>
            <a:spLocks noGrp="1"/>
          </p:cNvSpPr>
          <p:nvPr/>
        </p:nvSpPr>
        <p:spPr>
          <a:xfrm>
            <a:off x="0" y="0"/>
            <a:ext cx="12192000" cy="6858000"/>
          </a:xfrm>
          <a:prstGeom prst="rect">
            <a:avLst/>
          </a:prstGeom>
          <a:solidFill>
            <a:srgbClr val="FAFBFB"/>
          </a:solidFill>
          <a:ln w="0">
            <a:noFill/>
            <a:prstDash val="solid"/>
          </a:ln>
        </p:spPr>
      </p:sp>
      <p:sp>
        <p:nvSpPr>
          <p:cNvPr id="3" name="Rectangles 2"/>
          <p:cNvSpPr>
            <a:spLocks noGrp="1"/>
          </p:cNvSpPr>
          <p:nvPr/>
        </p:nvSpPr>
        <p:spPr>
          <a:xfrm>
            <a:off x="609600" y="342900"/>
            <a:ext cx="7048500" cy="266700"/>
          </a:xfrm>
          <a:prstGeom prst="rect">
            <a:avLst/>
          </a:prstGeom>
        </p:spPr>
        <p:txBody>
          <a:bodyPr lIns="0" tIns="0" rIns="0" bIns="0">
            <a:normAutofit/>
          </a:bodyPr>
          <a:lstStyle/>
          <a:p>
            <a:pPr algn="l">
              <a:defRPr sz="1125" b="1" i="0">
                <a:solidFill>
                  <a:srgbClr val="1F6F8B"/>
                </a:solidFill>
                <a:latin typeface="Aptos"/>
                <a:ea typeface="Aptos"/>
                <a:cs typeface="Aptos"/>
              </a:defRPr>
            </a:pPr>
            <a:r>
              <a:t>INTEGRITY GATE</a:t>
            </a:r>
          </a:p>
        </p:txBody>
      </p:sp>
      <p:sp>
        <p:nvSpPr>
          <p:cNvPr id="4" name="Rectangles 3"/>
          <p:cNvSpPr>
            <a:spLocks noGrp="1"/>
          </p:cNvSpPr>
          <p:nvPr/>
        </p:nvSpPr>
        <p:spPr>
          <a:xfrm>
            <a:off x="609600" y="666750"/>
            <a:ext cx="8191500" cy="838200"/>
          </a:xfrm>
          <a:prstGeom prst="rect">
            <a:avLst/>
          </a:prstGeom>
        </p:spPr>
        <p:txBody>
          <a:bodyPr lIns="0" tIns="0" rIns="0" bIns="0">
            <a:normAutofit fontScale="91667"/>
          </a:bodyPr>
          <a:lstStyle/>
          <a:p>
            <a:pPr algn="l">
              <a:defRPr sz="3000" b="1" i="0">
                <a:solidFill>
                  <a:srgbClr val="16202A"/>
                </a:solidFill>
                <a:latin typeface="Aptos"/>
                <a:ea typeface="Aptos"/>
                <a:cs typeface="Aptos"/>
              </a:defRPr>
            </a:pPr>
            <a:r>
              <a:t>Controls were not accepted just because they were geographically nearby</a:t>
            </a:r>
          </a:p>
        </p:txBody>
      </p:sp>
      <p:sp>
        <p:nvSpPr>
          <p:cNvPr id="5" name="Rectangles 4"/>
          <p:cNvSpPr>
            <a:spLocks noGrp="1"/>
          </p:cNvSpPr>
          <p:nvPr/>
        </p:nvSpPr>
        <p:spPr>
          <a:xfrm>
            <a:off x="609600" y="1466850"/>
            <a:ext cx="8858250" cy="457200"/>
          </a:xfrm>
          <a:prstGeom prst="rect">
            <a:avLst/>
          </a:prstGeom>
        </p:spPr>
        <p:txBody>
          <a:bodyPr lIns="0" tIns="0" rIns="0" bIns="0">
            <a:normAutofit/>
          </a:bodyPr>
          <a:lstStyle/>
          <a:p>
            <a:pPr algn="l">
              <a:defRPr sz="1350" b="0" i="0">
                <a:solidFill>
                  <a:srgbClr val="536170"/>
                </a:solidFill>
                <a:latin typeface="Aptos"/>
                <a:ea typeface="Aptos"/>
                <a:cs typeface="Aptos"/>
              </a:defRPr>
            </a:pPr>
            <a:r>
              <a:t>The analysis creates an explicit inclusion decision before modelling.</a:t>
            </a:r>
          </a:p>
        </p:txBody>
      </p:sp>
      <p:sp>
        <p:nvSpPr>
          <p:cNvPr id="6" name="Rectangles 5"/>
          <p:cNvSpPr>
            <a:spLocks noGrp="1"/>
          </p:cNvSpPr>
          <p:nvPr/>
        </p:nvSpPr>
        <p:spPr>
          <a:xfrm>
            <a:off x="857250" y="2095500"/>
            <a:ext cx="2000250" cy="533400"/>
          </a:xfrm>
          <a:prstGeom prst="rect">
            <a:avLst/>
          </a:prstGeom>
        </p:spPr>
        <p:txBody>
          <a:bodyPr lIns="0" tIns="0" rIns="0" bIns="0">
            <a:normAutofit/>
          </a:bodyPr>
          <a:lstStyle/>
          <a:p>
            <a:pPr algn="ctr">
              <a:defRPr sz="3150" b="1" i="0">
                <a:solidFill>
                  <a:srgbClr val="1F6F8B"/>
                </a:solidFill>
                <a:latin typeface="Aptos"/>
                <a:ea typeface="Aptos"/>
                <a:cs typeface="Aptos"/>
              </a:defRPr>
            </a:pPr>
            <a:r>
              <a:t>55</a:t>
            </a:r>
          </a:p>
        </p:txBody>
      </p:sp>
      <p:sp>
        <p:nvSpPr>
          <p:cNvPr id="7" name="Rectangles 6"/>
          <p:cNvSpPr>
            <a:spLocks noGrp="1"/>
          </p:cNvSpPr>
          <p:nvPr/>
        </p:nvSpPr>
        <p:spPr>
          <a:xfrm>
            <a:off x="857250" y="2590800"/>
            <a:ext cx="2000250" cy="400050"/>
          </a:xfrm>
          <a:prstGeom prst="rect">
            <a:avLst/>
          </a:prstGeom>
        </p:spPr>
        <p:txBody>
          <a:bodyPr lIns="0" tIns="0" rIns="0" bIns="0">
            <a:normAutofit/>
          </a:bodyPr>
          <a:lstStyle/>
          <a:p>
            <a:pPr algn="ctr">
              <a:defRPr sz="1050" b="0" i="0">
                <a:solidFill>
                  <a:srgbClr val="536170"/>
                </a:solidFill>
                <a:latin typeface="Aptos"/>
                <a:ea typeface="Aptos"/>
                <a:cs typeface="Aptos"/>
              </a:defRPr>
            </a:pPr>
            <a:r>
              <a:t>countlines assessed by integrity gate</a:t>
            </a:r>
          </a:p>
        </p:txBody>
      </p:sp>
      <p:sp>
        <p:nvSpPr>
          <p:cNvPr id="8" name="Rectangles 7"/>
          <p:cNvSpPr>
            <a:spLocks noGrp="1"/>
          </p:cNvSpPr>
          <p:nvPr/>
        </p:nvSpPr>
        <p:spPr>
          <a:xfrm>
            <a:off x="3143250" y="2095500"/>
            <a:ext cx="1809750" cy="533400"/>
          </a:xfrm>
          <a:prstGeom prst="rect">
            <a:avLst/>
          </a:prstGeom>
        </p:spPr>
        <p:txBody>
          <a:bodyPr lIns="0" tIns="0" rIns="0" bIns="0">
            <a:normAutofit/>
          </a:bodyPr>
          <a:lstStyle/>
          <a:p>
            <a:pPr algn="ctr">
              <a:defRPr sz="3150" b="1" i="0">
                <a:solidFill>
                  <a:srgbClr val="2A9D8F"/>
                </a:solidFill>
                <a:latin typeface="Aptos"/>
                <a:ea typeface="Aptos"/>
                <a:cs typeface="Aptos"/>
              </a:defRPr>
            </a:pPr>
            <a:r>
              <a:t>21</a:t>
            </a:r>
          </a:p>
        </p:txBody>
      </p:sp>
      <p:sp>
        <p:nvSpPr>
          <p:cNvPr id="9" name="Rectangles 8"/>
          <p:cNvSpPr>
            <a:spLocks noGrp="1"/>
          </p:cNvSpPr>
          <p:nvPr/>
        </p:nvSpPr>
        <p:spPr>
          <a:xfrm>
            <a:off x="3143250" y="2590800"/>
            <a:ext cx="1809750" cy="400050"/>
          </a:xfrm>
          <a:prstGeom prst="rect">
            <a:avLst/>
          </a:prstGeom>
        </p:spPr>
        <p:txBody>
          <a:bodyPr lIns="0" tIns="0" rIns="0" bIns="0">
            <a:normAutofit/>
          </a:bodyPr>
          <a:lstStyle/>
          <a:p>
            <a:pPr algn="ctr">
              <a:defRPr sz="1050" b="0" i="0">
                <a:solidFill>
                  <a:srgbClr val="536170"/>
                </a:solidFill>
                <a:latin typeface="Aptos"/>
                <a:ea typeface="Aptos"/>
                <a:cs typeface="Aptos"/>
              </a:defRPr>
            </a:pPr>
            <a:r>
              <a:t>treated countlines</a:t>
            </a:r>
          </a:p>
        </p:txBody>
      </p:sp>
      <p:sp>
        <p:nvSpPr>
          <p:cNvPr id="10" name="Rectangles 9"/>
          <p:cNvSpPr>
            <a:spLocks noGrp="1"/>
          </p:cNvSpPr>
          <p:nvPr/>
        </p:nvSpPr>
        <p:spPr>
          <a:xfrm>
            <a:off x="5238750" y="2095500"/>
            <a:ext cx="1809750" cy="533400"/>
          </a:xfrm>
          <a:prstGeom prst="rect">
            <a:avLst/>
          </a:prstGeom>
        </p:spPr>
        <p:txBody>
          <a:bodyPr lIns="0" tIns="0" rIns="0" bIns="0">
            <a:normAutofit/>
          </a:bodyPr>
          <a:lstStyle/>
          <a:p>
            <a:pPr algn="ctr">
              <a:defRPr sz="3150" b="1" i="0">
                <a:solidFill>
                  <a:srgbClr val="334155"/>
                </a:solidFill>
                <a:latin typeface="Aptos"/>
                <a:ea typeface="Aptos"/>
                <a:cs typeface="Aptos"/>
              </a:defRPr>
            </a:pPr>
            <a:r>
              <a:t>34</a:t>
            </a:r>
          </a:p>
        </p:txBody>
      </p:sp>
      <p:sp>
        <p:nvSpPr>
          <p:cNvPr id="11" name="Rectangles 10"/>
          <p:cNvSpPr>
            <a:spLocks noGrp="1"/>
          </p:cNvSpPr>
          <p:nvPr/>
        </p:nvSpPr>
        <p:spPr>
          <a:xfrm>
            <a:off x="5238750" y="2590800"/>
            <a:ext cx="1809750" cy="400050"/>
          </a:xfrm>
          <a:prstGeom prst="rect">
            <a:avLst/>
          </a:prstGeom>
        </p:spPr>
        <p:txBody>
          <a:bodyPr lIns="0" tIns="0" rIns="0" bIns="0">
            <a:normAutofit/>
          </a:bodyPr>
          <a:lstStyle/>
          <a:p>
            <a:pPr algn="ctr">
              <a:defRPr sz="1050" b="0" i="0">
                <a:solidFill>
                  <a:srgbClr val="536170"/>
                </a:solidFill>
                <a:latin typeface="Aptos"/>
                <a:ea typeface="Aptos"/>
                <a:cs typeface="Aptos"/>
              </a:defRPr>
            </a:pPr>
            <a:r>
              <a:t>control countlines</a:t>
            </a:r>
          </a:p>
        </p:txBody>
      </p:sp>
      <p:sp>
        <p:nvSpPr>
          <p:cNvPr id="12" name="Rectangles 11"/>
          <p:cNvSpPr>
            <a:spLocks noGrp="1"/>
          </p:cNvSpPr>
          <p:nvPr/>
        </p:nvSpPr>
        <p:spPr>
          <a:xfrm>
            <a:off x="7334250" y="2095500"/>
            <a:ext cx="2000250" cy="533400"/>
          </a:xfrm>
          <a:prstGeom prst="rect">
            <a:avLst/>
          </a:prstGeom>
        </p:spPr>
        <p:txBody>
          <a:bodyPr lIns="0" tIns="0" rIns="0" bIns="0">
            <a:normAutofit/>
          </a:bodyPr>
          <a:lstStyle/>
          <a:p>
            <a:pPr algn="ctr">
              <a:defRPr sz="3150" b="1" i="0">
                <a:solidFill>
                  <a:srgbClr val="3B8B5D"/>
                </a:solidFill>
                <a:latin typeface="Aptos"/>
                <a:ea typeface="Aptos"/>
                <a:cs typeface="Aptos"/>
              </a:defRPr>
            </a:pPr>
            <a:r>
              <a:t>13</a:t>
            </a:r>
          </a:p>
        </p:txBody>
      </p:sp>
      <p:sp>
        <p:nvSpPr>
          <p:cNvPr id="13" name="Rectangles 12"/>
          <p:cNvSpPr>
            <a:spLocks noGrp="1"/>
          </p:cNvSpPr>
          <p:nvPr/>
        </p:nvSpPr>
        <p:spPr>
          <a:xfrm>
            <a:off x="7334250" y="2590800"/>
            <a:ext cx="2000250" cy="400050"/>
          </a:xfrm>
          <a:prstGeom prst="rect">
            <a:avLst/>
          </a:prstGeom>
        </p:spPr>
        <p:txBody>
          <a:bodyPr lIns="0" tIns="0" rIns="0" bIns="0">
            <a:normAutofit/>
          </a:bodyPr>
          <a:lstStyle/>
          <a:p>
            <a:pPr algn="ctr">
              <a:defRPr sz="1050" b="0" i="0">
                <a:solidFill>
                  <a:srgbClr val="536170"/>
                </a:solidFill>
                <a:latin typeface="Aptos"/>
                <a:ea typeface="Aptos"/>
                <a:cs typeface="Aptos"/>
              </a:defRPr>
            </a:pPr>
            <a:r>
              <a:t>controls pass pragmatic threshold</a:t>
            </a:r>
          </a:p>
        </p:txBody>
      </p:sp>
      <p:sp>
        <p:nvSpPr>
          <p:cNvPr id="14" name="Rectangles 13"/>
          <p:cNvSpPr>
            <a:spLocks noGrp="1"/>
          </p:cNvSpPr>
          <p:nvPr/>
        </p:nvSpPr>
        <p:spPr>
          <a:xfrm>
            <a:off x="9620250" y="2095500"/>
            <a:ext cx="1619250" cy="533400"/>
          </a:xfrm>
          <a:prstGeom prst="rect">
            <a:avLst/>
          </a:prstGeom>
        </p:spPr>
        <p:txBody>
          <a:bodyPr lIns="0" tIns="0" rIns="0" bIns="0">
            <a:normAutofit/>
          </a:bodyPr>
          <a:lstStyle/>
          <a:p>
            <a:pPr algn="ctr">
              <a:defRPr sz="3150" b="1" i="0">
                <a:solidFill>
                  <a:srgbClr val="C84C3A"/>
                </a:solidFill>
                <a:latin typeface="Aptos"/>
                <a:ea typeface="Aptos"/>
                <a:cs typeface="Aptos"/>
              </a:defRPr>
            </a:pPr>
            <a:r>
              <a:t>2</a:t>
            </a:r>
          </a:p>
        </p:txBody>
      </p:sp>
      <p:sp>
        <p:nvSpPr>
          <p:cNvPr id="15" name="Rectangles 14"/>
          <p:cNvSpPr>
            <a:spLocks noGrp="1"/>
          </p:cNvSpPr>
          <p:nvPr/>
        </p:nvSpPr>
        <p:spPr>
          <a:xfrm>
            <a:off x="9620250" y="2590800"/>
            <a:ext cx="1619250" cy="400050"/>
          </a:xfrm>
          <a:prstGeom prst="rect">
            <a:avLst/>
          </a:prstGeom>
        </p:spPr>
        <p:txBody>
          <a:bodyPr lIns="0" tIns="0" rIns="0" bIns="0">
            <a:normAutofit/>
          </a:bodyPr>
          <a:lstStyle/>
          <a:p>
            <a:pPr algn="ctr">
              <a:defRPr sz="1050" b="0" i="0">
                <a:solidFill>
                  <a:srgbClr val="536170"/>
                </a:solidFill>
                <a:latin typeface="Aptos"/>
                <a:ea typeface="Aptos"/>
                <a:cs typeface="Aptos"/>
              </a:defRPr>
            </a:pPr>
            <a:r>
              <a:t>controls pass strict seasonal threshold</a:t>
            </a:r>
          </a:p>
        </p:txBody>
      </p:sp>
      <p:sp>
        <p:nvSpPr>
          <p:cNvPr id="16" name="Rounded Rectangle 15"/>
          <p:cNvSpPr>
            <a:spLocks noGrp="1"/>
          </p:cNvSpPr>
          <p:nvPr/>
        </p:nvSpPr>
        <p:spPr>
          <a:xfrm>
            <a:off x="1066800" y="3733800"/>
            <a:ext cx="3105150" cy="1352550"/>
          </a:xfrm>
          <a:prstGeom prst="roundRect">
            <a:avLst>
              <a:gd name="adj" fmla="val 5634"/>
            </a:avLst>
          </a:prstGeom>
          <a:solidFill>
            <a:srgbClr val="FFFFFF"/>
          </a:solidFill>
          <a:ln w="0">
            <a:noFill/>
            <a:prstDash val="solid"/>
          </a:ln>
        </p:spPr>
      </p:sp>
      <p:sp>
        <p:nvSpPr>
          <p:cNvPr id="17" name="Rounded Rectangle 16"/>
          <p:cNvSpPr>
            <a:spLocks noGrp="1"/>
          </p:cNvSpPr>
          <p:nvPr/>
        </p:nvSpPr>
        <p:spPr>
          <a:xfrm>
            <a:off x="1200150" y="3848100"/>
            <a:ext cx="66675" cy="1123950"/>
          </a:xfrm>
          <a:prstGeom prst="roundRect">
            <a:avLst>
              <a:gd name="adj" fmla="val 50000"/>
            </a:avLst>
          </a:prstGeom>
          <a:solidFill>
            <a:srgbClr val="3B8B5D"/>
          </a:solidFill>
          <a:ln w="0">
            <a:noFill/>
            <a:prstDash val="solid"/>
          </a:ln>
        </p:spPr>
      </p:sp>
      <p:sp>
        <p:nvSpPr>
          <p:cNvPr id="18" name="Rectangles 17"/>
          <p:cNvSpPr>
            <a:spLocks noGrp="1"/>
          </p:cNvSpPr>
          <p:nvPr/>
        </p:nvSpPr>
        <p:spPr>
          <a:xfrm>
            <a:off x="1390650" y="3905250"/>
            <a:ext cx="2590800" cy="266700"/>
          </a:xfrm>
          <a:prstGeom prst="rect">
            <a:avLst/>
          </a:prstGeom>
        </p:spPr>
        <p:txBody>
          <a:bodyPr lIns="0" tIns="0" rIns="0" bIns="0">
            <a:normAutofit/>
          </a:bodyPr>
          <a:lstStyle/>
          <a:p>
            <a:pPr algn="l">
              <a:defRPr sz="1350" b="1" i="0">
                <a:solidFill>
                  <a:srgbClr val="16202A"/>
                </a:solidFill>
                <a:latin typeface="Aptos"/>
                <a:ea typeface="Aptos"/>
                <a:cs typeface="Aptos"/>
              </a:defRPr>
            </a:pPr>
            <a:r>
              <a:t>Pragmatic causal threshold</a:t>
            </a:r>
          </a:p>
        </p:txBody>
      </p:sp>
      <p:sp>
        <p:nvSpPr>
          <p:cNvPr id="19" name="Rectangles 18"/>
          <p:cNvSpPr>
            <a:spLocks noGrp="1"/>
          </p:cNvSpPr>
          <p:nvPr/>
        </p:nvSpPr>
        <p:spPr>
          <a:xfrm>
            <a:off x="1390650" y="4229100"/>
            <a:ext cx="2590800" cy="742950"/>
          </a:xfrm>
          <a:prstGeom prst="rect">
            <a:avLst/>
          </a:prstGeom>
        </p:spPr>
        <p:txBody>
          <a:bodyPr lIns="0" tIns="0" rIns="0" bIns="0">
            <a:normAutofit/>
          </a:bodyPr>
          <a:lstStyle/>
          <a:p>
            <a:pPr algn="l">
              <a:defRPr sz="1125" b="0" i="0">
                <a:solidFill>
                  <a:srgbClr val="536170"/>
                </a:solidFill>
                <a:latin typeface="Aptos"/>
                <a:ea typeface="Aptos"/>
                <a:cs typeface="Aptos"/>
              </a:defRPr>
            </a:pPr>
            <a:r>
              <a:t>First reliable date before intervention month, at least 90 usable pre-intervention days, and at least 180 usable post-intervention days.</a:t>
            </a:r>
          </a:p>
        </p:txBody>
      </p:sp>
      <p:sp>
        <p:nvSpPr>
          <p:cNvPr id="20" name="Rounded Rectangle 19"/>
          <p:cNvSpPr>
            <a:spLocks noGrp="1"/>
          </p:cNvSpPr>
          <p:nvPr/>
        </p:nvSpPr>
        <p:spPr>
          <a:xfrm>
            <a:off x="4552950" y="3733800"/>
            <a:ext cx="3105150" cy="1352550"/>
          </a:xfrm>
          <a:prstGeom prst="roundRect">
            <a:avLst>
              <a:gd name="adj" fmla="val 5634"/>
            </a:avLst>
          </a:prstGeom>
          <a:solidFill>
            <a:srgbClr val="FFFFFF"/>
          </a:solidFill>
          <a:ln w="0">
            <a:noFill/>
            <a:prstDash val="solid"/>
          </a:ln>
        </p:spPr>
      </p:sp>
      <p:sp>
        <p:nvSpPr>
          <p:cNvPr id="21" name="Rounded Rectangle 20"/>
          <p:cNvSpPr>
            <a:spLocks noGrp="1"/>
          </p:cNvSpPr>
          <p:nvPr/>
        </p:nvSpPr>
        <p:spPr>
          <a:xfrm>
            <a:off x="4686300" y="3848100"/>
            <a:ext cx="66675" cy="1123950"/>
          </a:xfrm>
          <a:prstGeom prst="roundRect">
            <a:avLst>
              <a:gd name="adj" fmla="val 50000"/>
            </a:avLst>
          </a:prstGeom>
          <a:solidFill>
            <a:srgbClr val="C84C3A"/>
          </a:solidFill>
          <a:ln w="0">
            <a:noFill/>
            <a:prstDash val="solid"/>
          </a:ln>
        </p:spPr>
      </p:sp>
      <p:sp>
        <p:nvSpPr>
          <p:cNvPr id="22" name="Rectangles 21"/>
          <p:cNvSpPr>
            <a:spLocks noGrp="1"/>
          </p:cNvSpPr>
          <p:nvPr/>
        </p:nvSpPr>
        <p:spPr>
          <a:xfrm>
            <a:off x="4876800" y="3905250"/>
            <a:ext cx="2590800" cy="266700"/>
          </a:xfrm>
          <a:prstGeom prst="rect">
            <a:avLst/>
          </a:prstGeom>
        </p:spPr>
        <p:txBody>
          <a:bodyPr lIns="0" tIns="0" rIns="0" bIns="0">
            <a:normAutofit/>
          </a:bodyPr>
          <a:lstStyle/>
          <a:p>
            <a:pPr algn="l">
              <a:defRPr sz="1350" b="1" i="0">
                <a:solidFill>
                  <a:srgbClr val="16202A"/>
                </a:solidFill>
                <a:latin typeface="Aptos"/>
                <a:ea typeface="Aptos"/>
                <a:cs typeface="Aptos"/>
              </a:defRPr>
            </a:pPr>
            <a:r>
              <a:t>Strict seasonal threshold</a:t>
            </a:r>
          </a:p>
        </p:txBody>
      </p:sp>
      <p:sp>
        <p:nvSpPr>
          <p:cNvPr id="23" name="Rectangles 22"/>
          <p:cNvSpPr>
            <a:spLocks noGrp="1"/>
          </p:cNvSpPr>
          <p:nvPr/>
        </p:nvSpPr>
        <p:spPr>
          <a:xfrm>
            <a:off x="4876800" y="4229100"/>
            <a:ext cx="2590800" cy="742950"/>
          </a:xfrm>
          <a:prstGeom prst="rect">
            <a:avLst/>
          </a:prstGeom>
        </p:spPr>
        <p:txBody>
          <a:bodyPr lIns="0" tIns="0" rIns="0" bIns="0">
            <a:normAutofit/>
          </a:bodyPr>
          <a:lstStyle/>
          <a:p>
            <a:pPr algn="l">
              <a:defRPr sz="1125" b="0" i="0">
                <a:solidFill>
                  <a:srgbClr val="536170"/>
                </a:solidFill>
                <a:latin typeface="Aptos"/>
                <a:ea typeface="Aptos"/>
                <a:cs typeface="Aptos"/>
              </a:defRPr>
            </a:pPr>
            <a:r>
              <a:t>At least 365 usable pre- and post-intervention days. Only two controls meet this stronger standard.</a:t>
            </a:r>
          </a:p>
        </p:txBody>
      </p:sp>
      <p:sp>
        <p:nvSpPr>
          <p:cNvPr id="24" name="Rounded Rectangle 23"/>
          <p:cNvSpPr>
            <a:spLocks noGrp="1"/>
          </p:cNvSpPr>
          <p:nvPr/>
        </p:nvSpPr>
        <p:spPr>
          <a:xfrm>
            <a:off x="8039100" y="3733800"/>
            <a:ext cx="3105150" cy="1352550"/>
          </a:xfrm>
          <a:prstGeom prst="roundRect">
            <a:avLst>
              <a:gd name="adj" fmla="val 5634"/>
            </a:avLst>
          </a:prstGeom>
          <a:solidFill>
            <a:srgbClr val="FFFFFF"/>
          </a:solidFill>
          <a:ln w="0">
            <a:noFill/>
            <a:prstDash val="solid"/>
          </a:ln>
        </p:spPr>
      </p:sp>
      <p:sp>
        <p:nvSpPr>
          <p:cNvPr id="25" name="Rounded Rectangle 24"/>
          <p:cNvSpPr>
            <a:spLocks noGrp="1"/>
          </p:cNvSpPr>
          <p:nvPr/>
        </p:nvSpPr>
        <p:spPr>
          <a:xfrm>
            <a:off x="8172450" y="3848100"/>
            <a:ext cx="66675" cy="1123950"/>
          </a:xfrm>
          <a:prstGeom prst="roundRect">
            <a:avLst>
              <a:gd name="adj" fmla="val 50000"/>
            </a:avLst>
          </a:prstGeom>
          <a:solidFill>
            <a:srgbClr val="E9C46A"/>
          </a:solidFill>
          <a:ln w="0">
            <a:noFill/>
            <a:prstDash val="solid"/>
          </a:ln>
        </p:spPr>
      </p:sp>
      <p:sp>
        <p:nvSpPr>
          <p:cNvPr id="26" name="Rectangles 25"/>
          <p:cNvSpPr>
            <a:spLocks noGrp="1"/>
          </p:cNvSpPr>
          <p:nvPr/>
        </p:nvSpPr>
        <p:spPr>
          <a:xfrm>
            <a:off x="8362950" y="3905250"/>
            <a:ext cx="2590800" cy="266700"/>
          </a:xfrm>
          <a:prstGeom prst="rect">
            <a:avLst/>
          </a:prstGeom>
        </p:spPr>
        <p:txBody>
          <a:bodyPr lIns="0" tIns="0" rIns="0" bIns="0">
            <a:normAutofit/>
          </a:bodyPr>
          <a:lstStyle/>
          <a:p>
            <a:pPr algn="l">
              <a:defRPr sz="1350" b="1" i="0">
                <a:solidFill>
                  <a:srgbClr val="16202A"/>
                </a:solidFill>
                <a:latin typeface="Aptos"/>
                <a:ea typeface="Aptos"/>
                <a:cs typeface="Aptos"/>
              </a:defRPr>
            </a:pPr>
            <a:r>
              <a:t>Manual risk remains</a:t>
            </a:r>
          </a:p>
        </p:txBody>
      </p:sp>
      <p:sp>
        <p:nvSpPr>
          <p:cNvPr id="27" name="Rectangles 26"/>
          <p:cNvSpPr>
            <a:spLocks noGrp="1"/>
          </p:cNvSpPr>
          <p:nvPr/>
        </p:nvSpPr>
        <p:spPr>
          <a:xfrm>
            <a:off x="8362950" y="4229100"/>
            <a:ext cx="2590800" cy="742950"/>
          </a:xfrm>
          <a:prstGeom prst="rect">
            <a:avLst/>
          </a:prstGeom>
        </p:spPr>
        <p:txBody>
          <a:bodyPr lIns="0" tIns="0" rIns="0" bIns="0">
            <a:normAutofit/>
          </a:bodyPr>
          <a:lstStyle/>
          <a:p>
            <a:pPr algn="l">
              <a:defRPr sz="1125" b="0" i="0">
                <a:solidFill>
                  <a:srgbClr val="536170"/>
                </a:solidFill>
                <a:latin typeface="Aptos"/>
                <a:ea typeface="Aptos"/>
                <a:cs typeface="Aptos"/>
              </a:defRPr>
            </a:pPr>
            <a:r>
              <a:t>Candidate controls still need local intervention-exposure checks to rule out contamination by other schemes.</a:t>
            </a:r>
          </a:p>
        </p:txBody>
      </p:sp>
      <p:sp>
        <p:nvSpPr>
          <p:cNvPr id="29" name="Rectangles 28"/>
          <p:cNvSpPr>
            <a:spLocks noGrp="1"/>
          </p:cNvSpPr>
          <p:nvPr/>
        </p:nvSpPr>
        <p:spPr>
          <a:xfrm>
            <a:off x="11239500" y="6419850"/>
            <a:ext cx="381000" cy="228600"/>
          </a:xfrm>
          <a:prstGeom prst="rect">
            <a:avLst/>
          </a:prstGeom>
        </p:spPr>
        <p:txBody>
          <a:bodyPr lIns="0" tIns="0" rIns="0" bIns="0">
            <a:normAutofit/>
          </a:bodyPr>
          <a:lstStyle/>
          <a:p>
            <a:pPr algn="r">
              <a:defRPr sz="900" b="0" i="0">
                <a:solidFill>
                  <a:srgbClr val="7B8794"/>
                </a:solidFill>
                <a:latin typeface="Aptos"/>
                <a:ea typeface="Aptos"/>
                <a:cs typeface="Aptos"/>
              </a:defRPr>
            </a:pPr>
            <a:r>
              <a:t>05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s 1"/>
          <p:cNvSpPr>
            <a:spLocks noGrp="1"/>
          </p:cNvSpPr>
          <p:nvPr/>
        </p:nvSpPr>
        <p:spPr>
          <a:xfrm>
            <a:off x="0" y="0"/>
            <a:ext cx="12192000" cy="6858000"/>
          </a:xfrm>
          <a:prstGeom prst="rect">
            <a:avLst/>
          </a:prstGeom>
          <a:solidFill>
            <a:srgbClr val="FAFBFB"/>
          </a:solidFill>
          <a:ln w="0">
            <a:noFill/>
            <a:prstDash val="solid"/>
          </a:ln>
        </p:spPr>
      </p:sp>
      <p:sp>
        <p:nvSpPr>
          <p:cNvPr id="3" name="Rectangles 2"/>
          <p:cNvSpPr>
            <a:spLocks noGrp="1"/>
          </p:cNvSpPr>
          <p:nvPr/>
        </p:nvSpPr>
        <p:spPr>
          <a:xfrm>
            <a:off x="609600" y="342900"/>
            <a:ext cx="7048500" cy="266700"/>
          </a:xfrm>
          <a:prstGeom prst="rect">
            <a:avLst/>
          </a:prstGeom>
        </p:spPr>
        <p:txBody>
          <a:bodyPr lIns="0" tIns="0" rIns="0" bIns="0">
            <a:normAutofit/>
          </a:bodyPr>
          <a:lstStyle/>
          <a:p>
            <a:pPr algn="l">
              <a:defRPr sz="1125" b="1" i="0">
                <a:solidFill>
                  <a:srgbClr val="1F6F8B"/>
                </a:solidFill>
                <a:latin typeface="Aptos"/>
                <a:ea typeface="Aptos"/>
                <a:cs typeface="Aptos"/>
              </a:defRPr>
            </a:pPr>
            <a:r>
              <a:t>CONTEXT JOINING</a:t>
            </a:r>
          </a:p>
        </p:txBody>
      </p:sp>
      <p:sp>
        <p:nvSpPr>
          <p:cNvPr id="4" name="Rectangles 3"/>
          <p:cNvSpPr>
            <a:spLocks noGrp="1"/>
          </p:cNvSpPr>
          <p:nvPr/>
        </p:nvSpPr>
        <p:spPr>
          <a:xfrm>
            <a:off x="609600" y="666750"/>
            <a:ext cx="8191500" cy="838200"/>
          </a:xfrm>
          <a:prstGeom prst="rect">
            <a:avLst/>
          </a:prstGeom>
        </p:spPr>
        <p:txBody>
          <a:bodyPr lIns="0" tIns="0" rIns="0" bIns="0">
            <a:normAutofit fontScale="91667"/>
          </a:bodyPr>
          <a:lstStyle/>
          <a:p>
            <a:pPr algn="l">
              <a:defRPr sz="3000" b="1" i="0">
                <a:solidFill>
                  <a:srgbClr val="16202A"/>
                </a:solidFill>
                <a:latin typeface="Aptos"/>
                <a:ea typeface="Aptos"/>
                <a:cs typeface="Aptos"/>
              </a:defRPr>
            </a:pPr>
            <a:r>
              <a:t>The socio-economic comparison is anchored at LSOA 2021</a:t>
            </a:r>
          </a:p>
        </p:txBody>
      </p:sp>
      <p:sp>
        <p:nvSpPr>
          <p:cNvPr id="5" name="Rectangles 4"/>
          <p:cNvSpPr>
            <a:spLocks noGrp="1"/>
          </p:cNvSpPr>
          <p:nvPr/>
        </p:nvSpPr>
        <p:spPr>
          <a:xfrm>
            <a:off x="609600" y="1466850"/>
            <a:ext cx="8858250" cy="457200"/>
          </a:xfrm>
          <a:prstGeom prst="rect">
            <a:avLst/>
          </a:prstGeom>
        </p:spPr>
        <p:txBody>
          <a:bodyPr lIns="0" tIns="0" rIns="0" bIns="0">
            <a:normAutofit/>
          </a:bodyPr>
          <a:lstStyle/>
          <a:p>
            <a:pPr algn="l">
              <a:defRPr sz="1350" b="0" i="0">
                <a:solidFill>
                  <a:srgbClr val="536170"/>
                </a:solidFill>
                <a:latin typeface="Aptos"/>
                <a:ea typeface="Aptos"/>
                <a:cs typeface="Aptos"/>
              </a:defRPr>
            </a:pPr>
            <a:r>
              <a:t>A single spatial unit was used to synchronise sensor locations, deprivation, Census context, and matching.</a:t>
            </a:r>
          </a:p>
        </p:txBody>
      </p:sp>
      <p:sp>
        <p:nvSpPr>
          <p:cNvPr id="6" name="Rounded Rectangle 5"/>
          <p:cNvSpPr>
            <a:spLocks noGrp="1"/>
          </p:cNvSpPr>
          <p:nvPr/>
        </p:nvSpPr>
        <p:spPr>
          <a:xfrm>
            <a:off x="742950" y="2114550"/>
            <a:ext cx="2019300" cy="1066800"/>
          </a:xfrm>
          <a:prstGeom prst="roundRect">
            <a:avLst>
              <a:gd name="adj" fmla="val 7143"/>
            </a:avLst>
          </a:prstGeom>
          <a:solidFill>
            <a:srgbClr val="FFFFFF"/>
          </a:solidFill>
          <a:ln w="0">
            <a:noFill/>
            <a:prstDash val="solid"/>
          </a:ln>
        </p:spPr>
      </p:sp>
      <p:sp>
        <p:nvSpPr>
          <p:cNvPr id="7" name="Rounded Rectangle 6"/>
          <p:cNvSpPr>
            <a:spLocks noGrp="1"/>
          </p:cNvSpPr>
          <p:nvPr/>
        </p:nvSpPr>
        <p:spPr>
          <a:xfrm>
            <a:off x="742950" y="2114550"/>
            <a:ext cx="2019300" cy="76200"/>
          </a:xfrm>
          <a:prstGeom prst="roundRect">
            <a:avLst>
              <a:gd name="adj" fmla="val 50000"/>
            </a:avLst>
          </a:prstGeom>
          <a:solidFill>
            <a:srgbClr val="1F6F8B"/>
          </a:solidFill>
          <a:ln w="0">
            <a:noFill/>
            <a:prstDash val="solid"/>
          </a:ln>
        </p:spPr>
      </p:sp>
      <p:sp>
        <p:nvSpPr>
          <p:cNvPr id="8" name="Rectangles 7"/>
          <p:cNvSpPr>
            <a:spLocks noGrp="1"/>
          </p:cNvSpPr>
          <p:nvPr/>
        </p:nvSpPr>
        <p:spPr>
          <a:xfrm>
            <a:off x="914400" y="2324100"/>
            <a:ext cx="1676400" cy="266700"/>
          </a:xfrm>
          <a:prstGeom prst="rect">
            <a:avLst/>
          </a:prstGeom>
        </p:spPr>
        <p:txBody>
          <a:bodyPr lIns="0" tIns="0" rIns="0" bIns="0">
            <a:normAutofit/>
          </a:bodyPr>
          <a:lstStyle/>
          <a:p>
            <a:pPr algn="l">
              <a:defRPr sz="1350" b="1" i="0">
                <a:solidFill>
                  <a:srgbClr val="16202A"/>
                </a:solidFill>
                <a:latin typeface="Aptos"/>
                <a:ea typeface="Aptos"/>
                <a:cs typeface="Aptos"/>
              </a:defRPr>
            </a:pPr>
            <a:r>
              <a:t>Sensor points</a:t>
            </a:r>
          </a:p>
        </p:txBody>
      </p:sp>
      <p:sp>
        <p:nvSpPr>
          <p:cNvPr id="9" name="Rectangles 8"/>
          <p:cNvSpPr>
            <a:spLocks noGrp="1"/>
          </p:cNvSpPr>
          <p:nvPr/>
        </p:nvSpPr>
        <p:spPr>
          <a:xfrm>
            <a:off x="914400" y="2628900"/>
            <a:ext cx="1676400" cy="457200"/>
          </a:xfrm>
          <a:prstGeom prst="rect">
            <a:avLst/>
          </a:prstGeom>
        </p:spPr>
        <p:txBody>
          <a:bodyPr lIns="0" tIns="0" rIns="0" bIns="0">
            <a:normAutofit/>
          </a:bodyPr>
          <a:lstStyle/>
          <a:p>
            <a:pPr algn="l">
              <a:defRPr sz="975" b="0" i="0">
                <a:solidFill>
                  <a:srgbClr val="536170"/>
                </a:solidFill>
                <a:latin typeface="Aptos"/>
                <a:ea typeface="Aptos"/>
                <a:cs typeface="Aptos"/>
              </a:defRPr>
            </a:pPr>
            <a:r>
              <a:t>Vivacity countline latitude/longitude and countline names.</a:t>
            </a:r>
          </a:p>
        </p:txBody>
      </p:sp>
      <p:sp>
        <p:nvSpPr>
          <p:cNvPr id="10" name="Rounded Rectangle 9"/>
          <p:cNvSpPr>
            <a:spLocks noGrp="1"/>
          </p:cNvSpPr>
          <p:nvPr/>
        </p:nvSpPr>
        <p:spPr>
          <a:xfrm>
            <a:off x="3105150" y="2114550"/>
            <a:ext cx="2019300" cy="1066800"/>
          </a:xfrm>
          <a:prstGeom prst="roundRect">
            <a:avLst>
              <a:gd name="adj" fmla="val 7143"/>
            </a:avLst>
          </a:prstGeom>
          <a:solidFill>
            <a:srgbClr val="FFFFFF"/>
          </a:solidFill>
          <a:ln w="0">
            <a:noFill/>
            <a:prstDash val="solid"/>
          </a:ln>
        </p:spPr>
      </p:sp>
      <p:sp>
        <p:nvSpPr>
          <p:cNvPr id="11" name="Rounded Rectangle 10"/>
          <p:cNvSpPr>
            <a:spLocks noGrp="1"/>
          </p:cNvSpPr>
          <p:nvPr/>
        </p:nvSpPr>
        <p:spPr>
          <a:xfrm>
            <a:off x="3105150" y="2114550"/>
            <a:ext cx="2019300" cy="76200"/>
          </a:xfrm>
          <a:prstGeom prst="roundRect">
            <a:avLst>
              <a:gd name="adj" fmla="val 50000"/>
            </a:avLst>
          </a:prstGeom>
          <a:solidFill>
            <a:srgbClr val="2A9D8F"/>
          </a:solidFill>
          <a:ln w="0">
            <a:noFill/>
            <a:prstDash val="solid"/>
          </a:ln>
        </p:spPr>
      </p:sp>
      <p:sp>
        <p:nvSpPr>
          <p:cNvPr id="12" name="Rectangles 11"/>
          <p:cNvSpPr>
            <a:spLocks noGrp="1"/>
          </p:cNvSpPr>
          <p:nvPr/>
        </p:nvSpPr>
        <p:spPr>
          <a:xfrm>
            <a:off x="3276600" y="2324100"/>
            <a:ext cx="1676400" cy="266700"/>
          </a:xfrm>
          <a:prstGeom prst="rect">
            <a:avLst/>
          </a:prstGeom>
        </p:spPr>
        <p:txBody>
          <a:bodyPr lIns="0" tIns="0" rIns="0" bIns="0">
            <a:normAutofit/>
          </a:bodyPr>
          <a:lstStyle/>
          <a:p>
            <a:pPr algn="l">
              <a:defRPr sz="1350" b="1" i="0">
                <a:solidFill>
                  <a:srgbClr val="16202A"/>
                </a:solidFill>
                <a:latin typeface="Aptos"/>
                <a:ea typeface="Aptos"/>
                <a:cs typeface="Aptos"/>
              </a:defRPr>
            </a:pPr>
            <a:r>
              <a:t>LSOA 2021 join</a:t>
            </a:r>
          </a:p>
        </p:txBody>
      </p:sp>
      <p:sp>
        <p:nvSpPr>
          <p:cNvPr id="13" name="Rectangles 12"/>
          <p:cNvSpPr>
            <a:spLocks noGrp="1"/>
          </p:cNvSpPr>
          <p:nvPr/>
        </p:nvSpPr>
        <p:spPr>
          <a:xfrm>
            <a:off x="3276600" y="2628900"/>
            <a:ext cx="1676400" cy="457200"/>
          </a:xfrm>
          <a:prstGeom prst="rect">
            <a:avLst/>
          </a:prstGeom>
        </p:spPr>
        <p:txBody>
          <a:bodyPr lIns="0" tIns="0" rIns="0" bIns="0">
            <a:normAutofit/>
          </a:bodyPr>
          <a:lstStyle/>
          <a:p>
            <a:pPr algn="l">
              <a:defRPr sz="975" b="0" i="0">
                <a:solidFill>
                  <a:srgbClr val="536170"/>
                </a:solidFill>
                <a:latin typeface="Aptos"/>
                <a:ea typeface="Aptos"/>
                <a:cs typeface="Aptos"/>
              </a:defRPr>
            </a:pPr>
            <a:r>
              <a:t>Spatial join from countline location to LSOA boundary.</a:t>
            </a:r>
          </a:p>
        </p:txBody>
      </p:sp>
      <p:sp>
        <p:nvSpPr>
          <p:cNvPr id="14" name="Rounded Rectangle 13"/>
          <p:cNvSpPr>
            <a:spLocks noGrp="1"/>
          </p:cNvSpPr>
          <p:nvPr/>
        </p:nvSpPr>
        <p:spPr>
          <a:xfrm>
            <a:off x="5467350" y="2114550"/>
            <a:ext cx="2476500" cy="1066800"/>
          </a:xfrm>
          <a:prstGeom prst="roundRect">
            <a:avLst>
              <a:gd name="adj" fmla="val 7143"/>
            </a:avLst>
          </a:prstGeom>
          <a:solidFill>
            <a:srgbClr val="FFFFFF"/>
          </a:solidFill>
          <a:ln w="0">
            <a:noFill/>
            <a:prstDash val="solid"/>
          </a:ln>
        </p:spPr>
      </p:sp>
      <p:sp>
        <p:nvSpPr>
          <p:cNvPr id="15" name="Rounded Rectangle 14"/>
          <p:cNvSpPr>
            <a:spLocks noGrp="1"/>
          </p:cNvSpPr>
          <p:nvPr/>
        </p:nvSpPr>
        <p:spPr>
          <a:xfrm>
            <a:off x="5467350" y="2114550"/>
            <a:ext cx="2476500" cy="76200"/>
          </a:xfrm>
          <a:prstGeom prst="roundRect">
            <a:avLst>
              <a:gd name="adj" fmla="val 50000"/>
            </a:avLst>
          </a:prstGeom>
          <a:solidFill>
            <a:srgbClr val="E9C46A"/>
          </a:solidFill>
          <a:ln w="0">
            <a:noFill/>
            <a:prstDash val="solid"/>
          </a:ln>
        </p:spPr>
      </p:sp>
      <p:sp>
        <p:nvSpPr>
          <p:cNvPr id="16" name="Rectangles 15"/>
          <p:cNvSpPr>
            <a:spLocks noGrp="1"/>
          </p:cNvSpPr>
          <p:nvPr/>
        </p:nvSpPr>
        <p:spPr>
          <a:xfrm>
            <a:off x="5638800" y="2324100"/>
            <a:ext cx="2133600" cy="266700"/>
          </a:xfrm>
          <a:prstGeom prst="rect">
            <a:avLst/>
          </a:prstGeom>
        </p:spPr>
        <p:txBody>
          <a:bodyPr lIns="0" tIns="0" rIns="0" bIns="0">
            <a:normAutofit/>
          </a:bodyPr>
          <a:lstStyle/>
          <a:p>
            <a:pPr algn="l">
              <a:defRPr sz="1350" b="1" i="0">
                <a:solidFill>
                  <a:srgbClr val="16202A"/>
                </a:solidFill>
                <a:latin typeface="Aptos"/>
                <a:ea typeface="Aptos"/>
                <a:cs typeface="Aptos"/>
              </a:defRPr>
            </a:pPr>
            <a:r>
              <a:t>Context variables</a:t>
            </a:r>
          </a:p>
        </p:txBody>
      </p:sp>
      <p:sp>
        <p:nvSpPr>
          <p:cNvPr id="17" name="Rectangles 16"/>
          <p:cNvSpPr>
            <a:spLocks noGrp="1"/>
          </p:cNvSpPr>
          <p:nvPr/>
        </p:nvSpPr>
        <p:spPr>
          <a:xfrm>
            <a:off x="5638800" y="2628900"/>
            <a:ext cx="2133600" cy="457200"/>
          </a:xfrm>
          <a:prstGeom prst="rect">
            <a:avLst/>
          </a:prstGeom>
        </p:spPr>
        <p:txBody>
          <a:bodyPr lIns="0" tIns="0" rIns="0" bIns="0">
            <a:normAutofit/>
          </a:bodyPr>
          <a:lstStyle/>
          <a:p>
            <a:pPr algn="l">
              <a:defRPr sz="975" b="0" i="0">
                <a:solidFill>
                  <a:srgbClr val="536170"/>
                </a:solidFill>
                <a:latin typeface="Aptos"/>
                <a:ea typeface="Aptos"/>
                <a:cs typeface="Aptos"/>
              </a:defRPr>
            </a:pPr>
            <a:r>
              <a:t>IMD, income, employment, density, car availability, walk/cycle commute shares.</a:t>
            </a:r>
          </a:p>
        </p:txBody>
      </p:sp>
      <p:sp>
        <p:nvSpPr>
          <p:cNvPr id="18" name="Rounded Rectangle 17"/>
          <p:cNvSpPr>
            <a:spLocks noGrp="1"/>
          </p:cNvSpPr>
          <p:nvPr/>
        </p:nvSpPr>
        <p:spPr>
          <a:xfrm>
            <a:off x="8286750" y="2114550"/>
            <a:ext cx="2476500" cy="1066800"/>
          </a:xfrm>
          <a:prstGeom prst="roundRect">
            <a:avLst>
              <a:gd name="adj" fmla="val 7143"/>
            </a:avLst>
          </a:prstGeom>
          <a:solidFill>
            <a:srgbClr val="FFFFFF"/>
          </a:solidFill>
          <a:ln w="0">
            <a:noFill/>
            <a:prstDash val="solid"/>
          </a:ln>
        </p:spPr>
      </p:sp>
      <p:sp>
        <p:nvSpPr>
          <p:cNvPr id="19" name="Rounded Rectangle 18"/>
          <p:cNvSpPr>
            <a:spLocks noGrp="1"/>
          </p:cNvSpPr>
          <p:nvPr/>
        </p:nvSpPr>
        <p:spPr>
          <a:xfrm>
            <a:off x="8286750" y="2114550"/>
            <a:ext cx="2476500" cy="76200"/>
          </a:xfrm>
          <a:prstGeom prst="roundRect">
            <a:avLst>
              <a:gd name="adj" fmla="val 50000"/>
            </a:avLst>
          </a:prstGeom>
          <a:solidFill>
            <a:srgbClr val="3B8B5D"/>
          </a:solidFill>
          <a:ln w="0">
            <a:noFill/>
            <a:prstDash val="solid"/>
          </a:ln>
        </p:spPr>
      </p:sp>
      <p:sp>
        <p:nvSpPr>
          <p:cNvPr id="20" name="Rectangles 19"/>
          <p:cNvSpPr>
            <a:spLocks noGrp="1"/>
          </p:cNvSpPr>
          <p:nvPr/>
        </p:nvSpPr>
        <p:spPr>
          <a:xfrm>
            <a:off x="8458200" y="2324100"/>
            <a:ext cx="2133600" cy="266700"/>
          </a:xfrm>
          <a:prstGeom prst="rect">
            <a:avLst/>
          </a:prstGeom>
        </p:spPr>
        <p:txBody>
          <a:bodyPr lIns="0" tIns="0" rIns="0" bIns="0">
            <a:normAutofit/>
          </a:bodyPr>
          <a:lstStyle/>
          <a:p>
            <a:pPr algn="l">
              <a:defRPr sz="1350" b="1" i="0">
                <a:solidFill>
                  <a:srgbClr val="16202A"/>
                </a:solidFill>
                <a:latin typeface="Aptos"/>
                <a:ea typeface="Aptos"/>
                <a:cs typeface="Aptos"/>
              </a:defRPr>
            </a:pPr>
            <a:r>
              <a:t>Control shortlist</a:t>
            </a:r>
          </a:p>
        </p:txBody>
      </p:sp>
      <p:sp>
        <p:nvSpPr>
          <p:cNvPr id="21" name="Rectangles 20"/>
          <p:cNvSpPr>
            <a:spLocks noGrp="1"/>
          </p:cNvSpPr>
          <p:nvPr/>
        </p:nvSpPr>
        <p:spPr>
          <a:xfrm>
            <a:off x="8458200" y="2628900"/>
            <a:ext cx="2133600" cy="457200"/>
          </a:xfrm>
          <a:prstGeom prst="rect">
            <a:avLst/>
          </a:prstGeom>
        </p:spPr>
        <p:txBody>
          <a:bodyPr lIns="0" tIns="0" rIns="0" bIns="0">
            <a:normAutofit/>
          </a:bodyPr>
          <a:lstStyle/>
          <a:p>
            <a:pPr algn="l">
              <a:defRPr sz="975" b="0" i="0">
                <a:solidFill>
                  <a:srgbClr val="536170"/>
                </a:solidFill>
                <a:latin typeface="Aptos"/>
                <a:ea typeface="Aptos"/>
                <a:cs typeface="Aptos"/>
              </a:defRPr>
            </a:pPr>
            <a:r>
              <a:t>Candidate control countlines ranked by LSOA similarity to treated areas.</a:t>
            </a:r>
          </a:p>
        </p:txBody>
      </p:sp>
      <p:sp>
        <p:nvSpPr>
          <p:cNvPr id="22" name="Chevron 21"/>
          <p:cNvSpPr>
            <a:spLocks noGrp="1"/>
          </p:cNvSpPr>
          <p:nvPr/>
        </p:nvSpPr>
        <p:spPr>
          <a:xfrm>
            <a:off x="2819400" y="2524125"/>
            <a:ext cx="209550" cy="209550"/>
          </a:xfrm>
          <a:prstGeom prst="chevron">
            <a:avLst/>
          </a:prstGeom>
          <a:solidFill>
            <a:srgbClr val="94A3B8"/>
          </a:solidFill>
          <a:ln w="0">
            <a:noFill/>
            <a:prstDash val="solid"/>
          </a:ln>
        </p:spPr>
      </p:sp>
      <p:sp>
        <p:nvSpPr>
          <p:cNvPr id="23" name="Chevron 22"/>
          <p:cNvSpPr>
            <a:spLocks noGrp="1"/>
          </p:cNvSpPr>
          <p:nvPr/>
        </p:nvSpPr>
        <p:spPr>
          <a:xfrm>
            <a:off x="5162550" y="2524125"/>
            <a:ext cx="228600" cy="209550"/>
          </a:xfrm>
          <a:prstGeom prst="chevron">
            <a:avLst/>
          </a:prstGeom>
          <a:solidFill>
            <a:srgbClr val="94A3B8"/>
          </a:solidFill>
          <a:ln w="0">
            <a:noFill/>
            <a:prstDash val="solid"/>
          </a:ln>
        </p:spPr>
      </p:sp>
      <p:sp>
        <p:nvSpPr>
          <p:cNvPr id="24" name="Chevron 23"/>
          <p:cNvSpPr>
            <a:spLocks noGrp="1"/>
          </p:cNvSpPr>
          <p:nvPr/>
        </p:nvSpPr>
        <p:spPr>
          <a:xfrm>
            <a:off x="8020050" y="2524125"/>
            <a:ext cx="209550" cy="209550"/>
          </a:xfrm>
          <a:prstGeom prst="chevron">
            <a:avLst/>
          </a:prstGeom>
          <a:solidFill>
            <a:srgbClr val="94A3B8"/>
          </a:solidFill>
          <a:ln w="0">
            <a:noFill/>
            <a:prstDash val="solid"/>
          </a:ln>
        </p:spPr>
      </p:sp>
      <p:sp>
        <p:nvSpPr>
          <p:cNvPr id="25" name="Rounded Rectangle 24"/>
          <p:cNvSpPr>
            <a:spLocks noGrp="1"/>
          </p:cNvSpPr>
          <p:nvPr/>
        </p:nvSpPr>
        <p:spPr>
          <a:xfrm>
            <a:off x="1276350" y="4000500"/>
            <a:ext cx="4286250" cy="1143000"/>
          </a:xfrm>
          <a:prstGeom prst="roundRect">
            <a:avLst>
              <a:gd name="adj" fmla="val 6667"/>
            </a:avLst>
          </a:prstGeom>
          <a:solidFill>
            <a:srgbClr val="FFFFFF"/>
          </a:solidFill>
          <a:ln w="0">
            <a:noFill/>
            <a:prstDash val="solid"/>
          </a:ln>
        </p:spPr>
      </p:sp>
      <p:sp>
        <p:nvSpPr>
          <p:cNvPr id="26" name="Rounded Rectangle 25"/>
          <p:cNvSpPr>
            <a:spLocks noGrp="1"/>
          </p:cNvSpPr>
          <p:nvPr/>
        </p:nvSpPr>
        <p:spPr>
          <a:xfrm>
            <a:off x="1409700" y="4114800"/>
            <a:ext cx="66675" cy="914400"/>
          </a:xfrm>
          <a:prstGeom prst="roundRect">
            <a:avLst>
              <a:gd name="adj" fmla="val 50000"/>
            </a:avLst>
          </a:prstGeom>
          <a:solidFill>
            <a:srgbClr val="2A9D8F"/>
          </a:solidFill>
          <a:ln w="0">
            <a:noFill/>
            <a:prstDash val="solid"/>
          </a:ln>
        </p:spPr>
      </p:sp>
      <p:sp>
        <p:nvSpPr>
          <p:cNvPr id="27" name="Rectangles 26"/>
          <p:cNvSpPr>
            <a:spLocks noGrp="1"/>
          </p:cNvSpPr>
          <p:nvPr/>
        </p:nvSpPr>
        <p:spPr>
          <a:xfrm>
            <a:off x="1600200" y="4171950"/>
            <a:ext cx="3771900" cy="266700"/>
          </a:xfrm>
          <a:prstGeom prst="rect">
            <a:avLst/>
          </a:prstGeom>
        </p:spPr>
        <p:txBody>
          <a:bodyPr lIns="0" tIns="0" rIns="0" bIns="0">
            <a:normAutofit/>
          </a:bodyPr>
          <a:lstStyle/>
          <a:p>
            <a:pPr algn="l">
              <a:defRPr sz="1350" b="1" i="0">
                <a:solidFill>
                  <a:srgbClr val="16202A"/>
                </a:solidFill>
                <a:latin typeface="Aptos"/>
                <a:ea typeface="Aptos"/>
                <a:cs typeface="Aptos"/>
              </a:defRPr>
            </a:pPr>
            <a:r>
              <a:t>What this explains</a:t>
            </a:r>
          </a:p>
        </p:txBody>
      </p:sp>
      <p:sp>
        <p:nvSpPr>
          <p:cNvPr id="28" name="Rectangles 27"/>
          <p:cNvSpPr>
            <a:spLocks noGrp="1"/>
          </p:cNvSpPr>
          <p:nvPr/>
        </p:nvSpPr>
        <p:spPr>
          <a:xfrm>
            <a:off x="1600200" y="4495800"/>
            <a:ext cx="3771900" cy="533400"/>
          </a:xfrm>
          <a:prstGeom prst="rect">
            <a:avLst/>
          </a:prstGeom>
        </p:spPr>
        <p:txBody>
          <a:bodyPr lIns="0" tIns="0" rIns="0" bIns="0">
            <a:normAutofit/>
          </a:bodyPr>
          <a:lstStyle/>
          <a:p>
            <a:pPr algn="l">
              <a:defRPr sz="1125" b="0" i="0">
                <a:solidFill>
                  <a:srgbClr val="536170"/>
                </a:solidFill>
                <a:latin typeface="Aptos"/>
                <a:ea typeface="Aptos"/>
                <a:cs typeface="Aptos"/>
              </a:defRPr>
            </a:pPr>
            <a:r>
              <a:t>Whether observed trajectories differ by deprivation context, car availability, density, and baseline commute mode structure.</a:t>
            </a:r>
          </a:p>
        </p:txBody>
      </p:sp>
      <p:sp>
        <p:nvSpPr>
          <p:cNvPr id="29" name="Rounded Rectangle 28"/>
          <p:cNvSpPr>
            <a:spLocks noGrp="1"/>
          </p:cNvSpPr>
          <p:nvPr/>
        </p:nvSpPr>
        <p:spPr>
          <a:xfrm>
            <a:off x="6038850" y="4000500"/>
            <a:ext cx="4286250" cy="1143000"/>
          </a:xfrm>
          <a:prstGeom prst="roundRect">
            <a:avLst>
              <a:gd name="adj" fmla="val 6667"/>
            </a:avLst>
          </a:prstGeom>
          <a:solidFill>
            <a:srgbClr val="FFFFFF"/>
          </a:solidFill>
          <a:ln w="0">
            <a:noFill/>
            <a:prstDash val="solid"/>
          </a:ln>
        </p:spPr>
      </p:sp>
      <p:sp>
        <p:nvSpPr>
          <p:cNvPr id="30" name="Rounded Rectangle 29"/>
          <p:cNvSpPr>
            <a:spLocks noGrp="1"/>
          </p:cNvSpPr>
          <p:nvPr/>
        </p:nvSpPr>
        <p:spPr>
          <a:xfrm>
            <a:off x="6172200" y="4114800"/>
            <a:ext cx="66675" cy="914400"/>
          </a:xfrm>
          <a:prstGeom prst="roundRect">
            <a:avLst>
              <a:gd name="adj" fmla="val 50000"/>
            </a:avLst>
          </a:prstGeom>
          <a:solidFill>
            <a:srgbClr val="C84C3A"/>
          </a:solidFill>
          <a:ln w="0">
            <a:noFill/>
            <a:prstDash val="solid"/>
          </a:ln>
        </p:spPr>
      </p:sp>
      <p:sp>
        <p:nvSpPr>
          <p:cNvPr id="31" name="Rectangles 30"/>
          <p:cNvSpPr>
            <a:spLocks noGrp="1"/>
          </p:cNvSpPr>
          <p:nvPr/>
        </p:nvSpPr>
        <p:spPr>
          <a:xfrm>
            <a:off x="6362700" y="4171950"/>
            <a:ext cx="3771900" cy="266700"/>
          </a:xfrm>
          <a:prstGeom prst="rect">
            <a:avLst/>
          </a:prstGeom>
        </p:spPr>
        <p:txBody>
          <a:bodyPr lIns="0" tIns="0" rIns="0" bIns="0">
            <a:normAutofit/>
          </a:bodyPr>
          <a:lstStyle/>
          <a:p>
            <a:pPr algn="l">
              <a:defRPr sz="1350" b="1" i="0">
                <a:solidFill>
                  <a:srgbClr val="16202A"/>
                </a:solidFill>
                <a:latin typeface="Aptos"/>
                <a:ea typeface="Aptos"/>
                <a:cs typeface="Aptos"/>
              </a:defRPr>
            </a:pPr>
            <a:r>
              <a:t>What it cannot prove alone</a:t>
            </a:r>
          </a:p>
        </p:txBody>
      </p:sp>
      <p:sp>
        <p:nvSpPr>
          <p:cNvPr id="32" name="Rectangles 31"/>
          <p:cNvSpPr>
            <a:spLocks noGrp="1"/>
          </p:cNvSpPr>
          <p:nvPr/>
        </p:nvSpPr>
        <p:spPr>
          <a:xfrm>
            <a:off x="6362700" y="4495800"/>
            <a:ext cx="3771900" cy="533400"/>
          </a:xfrm>
          <a:prstGeom prst="rect">
            <a:avLst/>
          </a:prstGeom>
        </p:spPr>
        <p:txBody>
          <a:bodyPr lIns="0" tIns="0" rIns="0" bIns="0">
            <a:normAutofit/>
          </a:bodyPr>
          <a:lstStyle/>
          <a:p>
            <a:pPr algn="l">
              <a:defRPr sz="1125" b="0" i="0">
                <a:solidFill>
                  <a:srgbClr val="536170"/>
                </a:solidFill>
                <a:latin typeface="Aptos"/>
                <a:ea typeface="Aptos"/>
                <a:cs typeface="Aptos"/>
              </a:defRPr>
            </a:pPr>
            <a:r>
              <a:t>Spatial similarity does not guarantee behavioural equivalence or absence of unobserved local interventions.</a:t>
            </a:r>
          </a:p>
        </p:txBody>
      </p:sp>
      <p:sp>
        <p:nvSpPr>
          <p:cNvPr id="34" name="Rectangles 33"/>
          <p:cNvSpPr>
            <a:spLocks noGrp="1"/>
          </p:cNvSpPr>
          <p:nvPr/>
        </p:nvSpPr>
        <p:spPr>
          <a:xfrm>
            <a:off x="11239500" y="6419850"/>
            <a:ext cx="381000" cy="228600"/>
          </a:xfrm>
          <a:prstGeom prst="rect">
            <a:avLst/>
          </a:prstGeom>
        </p:spPr>
        <p:txBody>
          <a:bodyPr lIns="0" tIns="0" rIns="0" bIns="0">
            <a:normAutofit/>
          </a:bodyPr>
          <a:lstStyle/>
          <a:p>
            <a:pPr algn="r">
              <a:defRPr sz="900" b="0" i="0">
                <a:solidFill>
                  <a:srgbClr val="7B8794"/>
                </a:solidFill>
                <a:latin typeface="Aptos"/>
                <a:ea typeface="Aptos"/>
                <a:cs typeface="Aptos"/>
              </a:defRPr>
            </a:pPr>
            <a:r>
              <a:t>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s 1"/>
          <p:cNvSpPr>
            <a:spLocks noGrp="1"/>
          </p:cNvSpPr>
          <p:nvPr/>
        </p:nvSpPr>
        <p:spPr>
          <a:xfrm>
            <a:off x="0" y="0"/>
            <a:ext cx="12192000" cy="6858000"/>
          </a:xfrm>
          <a:prstGeom prst="rect">
            <a:avLst/>
          </a:prstGeom>
          <a:solidFill>
            <a:srgbClr val="FAFBFB"/>
          </a:solidFill>
          <a:ln w="0">
            <a:noFill/>
            <a:prstDash val="solid"/>
          </a:ln>
        </p:spPr>
      </p:sp>
      <p:sp>
        <p:nvSpPr>
          <p:cNvPr id="3" name="Rectangles 2"/>
          <p:cNvSpPr>
            <a:spLocks noGrp="1"/>
          </p:cNvSpPr>
          <p:nvPr/>
        </p:nvSpPr>
        <p:spPr>
          <a:xfrm>
            <a:off x="609600" y="342900"/>
            <a:ext cx="7048500" cy="266700"/>
          </a:xfrm>
          <a:prstGeom prst="rect">
            <a:avLst/>
          </a:prstGeom>
        </p:spPr>
        <p:txBody>
          <a:bodyPr lIns="0" tIns="0" rIns="0" bIns="0">
            <a:normAutofit/>
          </a:bodyPr>
          <a:lstStyle/>
          <a:p>
            <a:pPr algn="l">
              <a:defRPr sz="1125" b="1" i="0">
                <a:solidFill>
                  <a:srgbClr val="1F6F8B"/>
                </a:solidFill>
                <a:latin typeface="Aptos"/>
                <a:ea typeface="Aptos"/>
                <a:cs typeface="Aptos"/>
              </a:defRPr>
            </a:pPr>
            <a:r>
              <a:t>METHODOLOGY</a:t>
            </a:r>
          </a:p>
        </p:txBody>
      </p:sp>
      <p:sp>
        <p:nvSpPr>
          <p:cNvPr id="4" name="Rectangles 3"/>
          <p:cNvSpPr>
            <a:spLocks noGrp="1"/>
          </p:cNvSpPr>
          <p:nvPr/>
        </p:nvSpPr>
        <p:spPr>
          <a:xfrm>
            <a:off x="609600" y="666750"/>
            <a:ext cx="8191500" cy="838200"/>
          </a:xfrm>
          <a:prstGeom prst="rect">
            <a:avLst/>
          </a:prstGeom>
        </p:spPr>
        <p:txBody>
          <a:bodyPr lIns="0" tIns="0" rIns="0" bIns="0">
            <a:normAutofit fontScale="91667"/>
          </a:bodyPr>
          <a:lstStyle/>
          <a:p>
            <a:pPr algn="l">
              <a:defRPr sz="3000" b="1" i="0">
                <a:solidFill>
                  <a:srgbClr val="16202A"/>
                </a:solidFill>
                <a:latin typeface="Aptos"/>
                <a:ea typeface="Aptos"/>
                <a:cs typeface="Aptos"/>
              </a:defRPr>
            </a:pPr>
            <a:r>
              <a:t>The final model is an exploratory matched-control interrupted time-series</a:t>
            </a:r>
          </a:p>
        </p:txBody>
      </p:sp>
      <p:sp>
        <p:nvSpPr>
          <p:cNvPr id="5" name="Rectangles 4"/>
          <p:cNvSpPr>
            <a:spLocks noGrp="1"/>
          </p:cNvSpPr>
          <p:nvPr/>
        </p:nvSpPr>
        <p:spPr>
          <a:xfrm>
            <a:off x="609600" y="1466850"/>
            <a:ext cx="8858250" cy="457200"/>
          </a:xfrm>
          <a:prstGeom prst="rect">
            <a:avLst/>
          </a:prstGeom>
        </p:spPr>
        <p:txBody>
          <a:bodyPr lIns="0" tIns="0" rIns="0" bIns="0">
            <a:normAutofit/>
          </a:bodyPr>
          <a:lstStyle/>
          <a:p>
            <a:pPr algn="l">
              <a:defRPr sz="1350" b="0" i="0">
                <a:solidFill>
                  <a:srgbClr val="536170"/>
                </a:solidFill>
                <a:latin typeface="Aptos"/>
                <a:ea typeface="Aptos"/>
                <a:cs typeface="Aptos"/>
              </a:defRPr>
            </a:pPr>
            <a:r>
              <a:t>Models are estimated separately by scheme and outcome for 12d, 12f, and 13.</a:t>
            </a:r>
          </a:p>
        </p:txBody>
      </p:sp>
      <p:sp>
        <p:nvSpPr>
          <p:cNvPr id="6" name="Rectangles 5"/>
          <p:cNvSpPr>
            <a:spLocks noGrp="1"/>
          </p:cNvSpPr>
          <p:nvPr/>
        </p:nvSpPr>
        <p:spPr>
          <a:xfrm>
            <a:off x="838200" y="2095500"/>
            <a:ext cx="3429000" cy="285750"/>
          </a:xfrm>
          <a:prstGeom prst="rect">
            <a:avLst/>
          </a:prstGeom>
        </p:spPr>
        <p:txBody>
          <a:bodyPr lIns="0" tIns="0" rIns="0" bIns="0">
            <a:normAutofit/>
          </a:bodyPr>
          <a:lstStyle/>
          <a:p>
            <a:pPr algn="l">
              <a:defRPr sz="1650" b="1" i="0">
                <a:solidFill>
                  <a:srgbClr val="1F6F8B"/>
                </a:solidFill>
                <a:latin typeface="Aptos"/>
                <a:ea typeface="Aptos"/>
                <a:cs typeface="Aptos"/>
              </a:defRPr>
            </a:pPr>
            <a:r>
              <a:t>Weekly model form</a:t>
            </a:r>
          </a:p>
        </p:txBody>
      </p:sp>
      <p:sp>
        <p:nvSpPr>
          <p:cNvPr id="7" name="Rectangles 6"/>
          <p:cNvSpPr>
            <a:spLocks noGrp="1"/>
          </p:cNvSpPr>
          <p:nvPr/>
        </p:nvSpPr>
        <p:spPr>
          <a:xfrm>
            <a:off x="838200" y="2514600"/>
            <a:ext cx="6667500" cy="838200"/>
          </a:xfrm>
          <a:prstGeom prst="rect">
            <a:avLst/>
          </a:prstGeom>
        </p:spPr>
        <p:txBody>
          <a:bodyPr lIns="0" tIns="0" rIns="0" bIns="0">
            <a:normAutofit/>
          </a:bodyPr>
          <a:lstStyle/>
          <a:p>
            <a:pPr algn="l">
              <a:defRPr sz="1500" b="0" i="0">
                <a:solidFill>
                  <a:srgbClr val="16202A"/>
                </a:solidFill>
                <a:latin typeface="Aptos"/>
                <a:ea typeface="Aptos"/>
                <a:cs typeface="Aptos"/>
              </a:defRPr>
            </a:pPr>
            <a:r>
              <a:t>log1p(outcome per observed day) ~ time + post + post-time + treated-post + treated-post-time + seasonality + countline fixed effects</a:t>
            </a:r>
          </a:p>
        </p:txBody>
      </p:sp>
      <p:sp>
        <p:nvSpPr>
          <p:cNvPr id="8" name="Rounded Rectangle 7"/>
          <p:cNvSpPr>
            <a:spLocks noGrp="1"/>
          </p:cNvSpPr>
          <p:nvPr/>
        </p:nvSpPr>
        <p:spPr>
          <a:xfrm>
            <a:off x="8001000" y="1962150"/>
            <a:ext cx="2952750" cy="914400"/>
          </a:xfrm>
          <a:prstGeom prst="roundRect">
            <a:avLst>
              <a:gd name="adj" fmla="val 8333"/>
            </a:avLst>
          </a:prstGeom>
          <a:solidFill>
            <a:srgbClr val="FFFFFF"/>
          </a:solidFill>
          <a:ln w="0">
            <a:noFill/>
            <a:prstDash val="solid"/>
          </a:ln>
        </p:spPr>
      </p:sp>
      <p:sp>
        <p:nvSpPr>
          <p:cNvPr id="9" name="Rounded Rectangle 8"/>
          <p:cNvSpPr>
            <a:spLocks noGrp="1"/>
          </p:cNvSpPr>
          <p:nvPr/>
        </p:nvSpPr>
        <p:spPr>
          <a:xfrm>
            <a:off x="8134350" y="2076450"/>
            <a:ext cx="66675" cy="685800"/>
          </a:xfrm>
          <a:prstGeom prst="roundRect">
            <a:avLst>
              <a:gd name="adj" fmla="val 50000"/>
            </a:avLst>
          </a:prstGeom>
          <a:solidFill>
            <a:srgbClr val="1F6F8B"/>
          </a:solidFill>
          <a:ln w="0">
            <a:noFill/>
            <a:prstDash val="solid"/>
          </a:ln>
        </p:spPr>
      </p:sp>
      <p:sp>
        <p:nvSpPr>
          <p:cNvPr id="10" name="Rectangles 9"/>
          <p:cNvSpPr>
            <a:spLocks noGrp="1"/>
          </p:cNvSpPr>
          <p:nvPr/>
        </p:nvSpPr>
        <p:spPr>
          <a:xfrm>
            <a:off x="8324850" y="2133600"/>
            <a:ext cx="2438400" cy="266700"/>
          </a:xfrm>
          <a:prstGeom prst="rect">
            <a:avLst/>
          </a:prstGeom>
        </p:spPr>
        <p:txBody>
          <a:bodyPr lIns="0" tIns="0" rIns="0" bIns="0">
            <a:normAutofit/>
          </a:bodyPr>
          <a:lstStyle/>
          <a:p>
            <a:pPr algn="l">
              <a:defRPr sz="1350" b="1" i="0">
                <a:solidFill>
                  <a:srgbClr val="16202A"/>
                </a:solidFill>
                <a:latin typeface="Aptos"/>
                <a:ea typeface="Aptos"/>
                <a:cs typeface="Aptos"/>
              </a:defRPr>
            </a:pPr>
            <a:r>
              <a:t>Immediate level term</a:t>
            </a:r>
          </a:p>
        </p:txBody>
      </p:sp>
      <p:sp>
        <p:nvSpPr>
          <p:cNvPr id="11" name="Rectangles 10"/>
          <p:cNvSpPr>
            <a:spLocks noGrp="1"/>
          </p:cNvSpPr>
          <p:nvPr/>
        </p:nvSpPr>
        <p:spPr>
          <a:xfrm>
            <a:off x="8324850" y="2457450"/>
            <a:ext cx="2438400" cy="304800"/>
          </a:xfrm>
          <a:prstGeom prst="rect">
            <a:avLst/>
          </a:prstGeom>
        </p:spPr>
        <p:txBody>
          <a:bodyPr lIns="0" tIns="0" rIns="0" bIns="0">
            <a:normAutofit fontScale="88889"/>
          </a:bodyPr>
          <a:lstStyle/>
          <a:p>
            <a:pPr algn="l">
              <a:defRPr sz="1125" b="0" i="0">
                <a:solidFill>
                  <a:srgbClr val="536170"/>
                </a:solidFill>
                <a:latin typeface="Aptos"/>
                <a:ea typeface="Aptos"/>
                <a:cs typeface="Aptos"/>
              </a:defRPr>
            </a:pPr>
            <a:r>
              <a:t>`treated_post` estimates treated-control level change after the confirmed intervention date.</a:t>
            </a:r>
          </a:p>
        </p:txBody>
      </p:sp>
      <p:sp>
        <p:nvSpPr>
          <p:cNvPr id="12" name="Rounded Rectangle 11"/>
          <p:cNvSpPr>
            <a:spLocks noGrp="1"/>
          </p:cNvSpPr>
          <p:nvPr/>
        </p:nvSpPr>
        <p:spPr>
          <a:xfrm>
            <a:off x="8001000" y="3048000"/>
            <a:ext cx="2952750" cy="914400"/>
          </a:xfrm>
          <a:prstGeom prst="roundRect">
            <a:avLst>
              <a:gd name="adj" fmla="val 8333"/>
            </a:avLst>
          </a:prstGeom>
          <a:solidFill>
            <a:srgbClr val="FFFFFF"/>
          </a:solidFill>
          <a:ln w="0">
            <a:noFill/>
            <a:prstDash val="solid"/>
          </a:ln>
        </p:spPr>
      </p:sp>
      <p:sp>
        <p:nvSpPr>
          <p:cNvPr id="13" name="Rounded Rectangle 12"/>
          <p:cNvSpPr>
            <a:spLocks noGrp="1"/>
          </p:cNvSpPr>
          <p:nvPr/>
        </p:nvSpPr>
        <p:spPr>
          <a:xfrm>
            <a:off x="8134350" y="3162300"/>
            <a:ext cx="66675" cy="685800"/>
          </a:xfrm>
          <a:prstGeom prst="roundRect">
            <a:avLst>
              <a:gd name="adj" fmla="val 50000"/>
            </a:avLst>
          </a:prstGeom>
          <a:solidFill>
            <a:srgbClr val="2A9D8F"/>
          </a:solidFill>
          <a:ln w="0">
            <a:noFill/>
            <a:prstDash val="solid"/>
          </a:ln>
        </p:spPr>
      </p:sp>
      <p:sp>
        <p:nvSpPr>
          <p:cNvPr id="14" name="Rectangles 13"/>
          <p:cNvSpPr>
            <a:spLocks noGrp="1"/>
          </p:cNvSpPr>
          <p:nvPr/>
        </p:nvSpPr>
        <p:spPr>
          <a:xfrm>
            <a:off x="8324850" y="3219450"/>
            <a:ext cx="2438400" cy="266700"/>
          </a:xfrm>
          <a:prstGeom prst="rect">
            <a:avLst/>
          </a:prstGeom>
        </p:spPr>
        <p:txBody>
          <a:bodyPr lIns="0" tIns="0" rIns="0" bIns="0">
            <a:normAutofit/>
          </a:bodyPr>
          <a:lstStyle/>
          <a:p>
            <a:pPr algn="l">
              <a:defRPr sz="1350" b="1" i="0">
                <a:solidFill>
                  <a:srgbClr val="16202A"/>
                </a:solidFill>
                <a:latin typeface="Aptos"/>
                <a:ea typeface="Aptos"/>
                <a:cs typeface="Aptos"/>
              </a:defRPr>
            </a:pPr>
            <a:r>
              <a:t>Slope term</a:t>
            </a:r>
          </a:p>
        </p:txBody>
      </p:sp>
      <p:sp>
        <p:nvSpPr>
          <p:cNvPr id="15" name="Rectangles 14"/>
          <p:cNvSpPr>
            <a:spLocks noGrp="1"/>
          </p:cNvSpPr>
          <p:nvPr/>
        </p:nvSpPr>
        <p:spPr>
          <a:xfrm>
            <a:off x="8324850" y="3543300"/>
            <a:ext cx="2438400" cy="304800"/>
          </a:xfrm>
          <a:prstGeom prst="rect">
            <a:avLst/>
          </a:prstGeom>
        </p:spPr>
        <p:txBody>
          <a:bodyPr lIns="0" tIns="0" rIns="0" bIns="0">
            <a:normAutofit fontScale="80910"/>
          </a:bodyPr>
          <a:lstStyle/>
          <a:p>
            <a:pPr algn="l">
              <a:defRPr sz="1125" b="0" i="0">
                <a:solidFill>
                  <a:srgbClr val="536170"/>
                </a:solidFill>
                <a:latin typeface="Aptos"/>
                <a:ea typeface="Aptos"/>
                <a:cs typeface="Aptos"/>
              </a:defRPr>
            </a:pPr>
            <a:r>
              <a:t>`treated_post_time_weeks` estimates additional weekly treated-control trajectory change.</a:t>
            </a:r>
          </a:p>
        </p:txBody>
      </p:sp>
      <p:sp>
        <p:nvSpPr>
          <p:cNvPr id="16" name="Rounded Rectangle 15"/>
          <p:cNvSpPr>
            <a:spLocks noGrp="1"/>
          </p:cNvSpPr>
          <p:nvPr/>
        </p:nvSpPr>
        <p:spPr>
          <a:xfrm>
            <a:off x="838200" y="4095750"/>
            <a:ext cx="2952750" cy="1066800"/>
          </a:xfrm>
          <a:prstGeom prst="roundRect">
            <a:avLst>
              <a:gd name="adj" fmla="val 7143"/>
            </a:avLst>
          </a:prstGeom>
          <a:solidFill>
            <a:srgbClr val="FFFFFF"/>
          </a:solidFill>
          <a:ln w="0">
            <a:noFill/>
            <a:prstDash val="solid"/>
          </a:ln>
        </p:spPr>
      </p:sp>
      <p:sp>
        <p:nvSpPr>
          <p:cNvPr id="17" name="Rounded Rectangle 16"/>
          <p:cNvSpPr>
            <a:spLocks noGrp="1"/>
          </p:cNvSpPr>
          <p:nvPr/>
        </p:nvSpPr>
        <p:spPr>
          <a:xfrm>
            <a:off x="971550" y="4210050"/>
            <a:ext cx="66675" cy="838200"/>
          </a:xfrm>
          <a:prstGeom prst="roundRect">
            <a:avLst>
              <a:gd name="adj" fmla="val 50000"/>
            </a:avLst>
          </a:prstGeom>
          <a:solidFill>
            <a:srgbClr val="E9C46A"/>
          </a:solidFill>
          <a:ln w="0">
            <a:noFill/>
            <a:prstDash val="solid"/>
          </a:ln>
        </p:spPr>
      </p:sp>
      <p:sp>
        <p:nvSpPr>
          <p:cNvPr id="18" name="Rectangles 17"/>
          <p:cNvSpPr>
            <a:spLocks noGrp="1"/>
          </p:cNvSpPr>
          <p:nvPr/>
        </p:nvSpPr>
        <p:spPr>
          <a:xfrm>
            <a:off x="1162050" y="4267200"/>
            <a:ext cx="2438400" cy="266700"/>
          </a:xfrm>
          <a:prstGeom prst="rect">
            <a:avLst/>
          </a:prstGeom>
        </p:spPr>
        <p:txBody>
          <a:bodyPr lIns="0" tIns="0" rIns="0" bIns="0">
            <a:normAutofit/>
          </a:bodyPr>
          <a:lstStyle/>
          <a:p>
            <a:pPr algn="l">
              <a:defRPr sz="1350" b="1" i="0">
                <a:solidFill>
                  <a:srgbClr val="16202A"/>
                </a:solidFill>
                <a:latin typeface="Aptos"/>
                <a:ea typeface="Aptos"/>
                <a:cs typeface="Aptos"/>
              </a:defRPr>
            </a:pPr>
            <a:r>
              <a:t>Weighting</a:t>
            </a:r>
          </a:p>
        </p:txBody>
      </p:sp>
      <p:sp>
        <p:nvSpPr>
          <p:cNvPr id="19" name="Rectangles 18"/>
          <p:cNvSpPr>
            <a:spLocks noGrp="1"/>
          </p:cNvSpPr>
          <p:nvPr/>
        </p:nvSpPr>
        <p:spPr>
          <a:xfrm>
            <a:off x="1162050" y="4591050"/>
            <a:ext cx="2438400" cy="457200"/>
          </a:xfrm>
          <a:prstGeom prst="rect">
            <a:avLst/>
          </a:prstGeom>
        </p:spPr>
        <p:txBody>
          <a:bodyPr lIns="0" tIns="0" rIns="0" bIns="0">
            <a:normAutofit/>
          </a:bodyPr>
          <a:lstStyle/>
          <a:p>
            <a:pPr algn="l">
              <a:defRPr sz="1125" b="0" i="0">
                <a:solidFill>
                  <a:srgbClr val="536170"/>
                </a:solidFill>
                <a:latin typeface="Aptos"/>
                <a:ea typeface="Aptos"/>
                <a:cs typeface="Aptos"/>
              </a:defRPr>
            </a:pPr>
            <a:r>
              <a:t>Weighted by observed days so partial weekly data contribute proportionally.</a:t>
            </a:r>
          </a:p>
        </p:txBody>
      </p:sp>
      <p:sp>
        <p:nvSpPr>
          <p:cNvPr id="20" name="Rounded Rectangle 19"/>
          <p:cNvSpPr>
            <a:spLocks noGrp="1"/>
          </p:cNvSpPr>
          <p:nvPr/>
        </p:nvSpPr>
        <p:spPr>
          <a:xfrm>
            <a:off x="4114800" y="4095750"/>
            <a:ext cx="2952750" cy="1066800"/>
          </a:xfrm>
          <a:prstGeom prst="roundRect">
            <a:avLst>
              <a:gd name="adj" fmla="val 7143"/>
            </a:avLst>
          </a:prstGeom>
          <a:solidFill>
            <a:srgbClr val="FFFFFF"/>
          </a:solidFill>
          <a:ln w="0">
            <a:noFill/>
            <a:prstDash val="solid"/>
          </a:ln>
        </p:spPr>
      </p:sp>
      <p:sp>
        <p:nvSpPr>
          <p:cNvPr id="21" name="Rounded Rectangle 20"/>
          <p:cNvSpPr>
            <a:spLocks noGrp="1"/>
          </p:cNvSpPr>
          <p:nvPr/>
        </p:nvSpPr>
        <p:spPr>
          <a:xfrm>
            <a:off x="4248150" y="4210050"/>
            <a:ext cx="66675" cy="838200"/>
          </a:xfrm>
          <a:prstGeom prst="roundRect">
            <a:avLst>
              <a:gd name="adj" fmla="val 50000"/>
            </a:avLst>
          </a:prstGeom>
          <a:solidFill>
            <a:srgbClr val="3B8B5D"/>
          </a:solidFill>
          <a:ln w="0">
            <a:noFill/>
            <a:prstDash val="solid"/>
          </a:ln>
        </p:spPr>
      </p:sp>
      <p:sp>
        <p:nvSpPr>
          <p:cNvPr id="22" name="Rectangles 21"/>
          <p:cNvSpPr>
            <a:spLocks noGrp="1"/>
          </p:cNvSpPr>
          <p:nvPr/>
        </p:nvSpPr>
        <p:spPr>
          <a:xfrm>
            <a:off x="4438650" y="4267200"/>
            <a:ext cx="2438400" cy="266700"/>
          </a:xfrm>
          <a:prstGeom prst="rect">
            <a:avLst/>
          </a:prstGeom>
        </p:spPr>
        <p:txBody>
          <a:bodyPr lIns="0" tIns="0" rIns="0" bIns="0">
            <a:normAutofit/>
          </a:bodyPr>
          <a:lstStyle/>
          <a:p>
            <a:pPr algn="l">
              <a:defRPr sz="1350" b="1" i="0">
                <a:solidFill>
                  <a:srgbClr val="16202A"/>
                </a:solidFill>
                <a:latin typeface="Aptos"/>
                <a:ea typeface="Aptos"/>
                <a:cs typeface="Aptos"/>
              </a:defRPr>
            </a:pPr>
            <a:r>
              <a:t>Seasonality</a:t>
            </a:r>
          </a:p>
        </p:txBody>
      </p:sp>
      <p:sp>
        <p:nvSpPr>
          <p:cNvPr id="23" name="Rectangles 22"/>
          <p:cNvSpPr>
            <a:spLocks noGrp="1"/>
          </p:cNvSpPr>
          <p:nvPr/>
        </p:nvSpPr>
        <p:spPr>
          <a:xfrm>
            <a:off x="4438650" y="4591050"/>
            <a:ext cx="2438400" cy="457200"/>
          </a:xfrm>
          <a:prstGeom prst="rect">
            <a:avLst/>
          </a:prstGeom>
        </p:spPr>
        <p:txBody>
          <a:bodyPr lIns="0" tIns="0" rIns="0" bIns="0">
            <a:normAutofit/>
          </a:bodyPr>
          <a:lstStyle/>
          <a:p>
            <a:pPr algn="l">
              <a:defRPr sz="1125" b="0" i="0">
                <a:solidFill>
                  <a:srgbClr val="536170"/>
                </a:solidFill>
                <a:latin typeface="Aptos"/>
                <a:ea typeface="Aptos"/>
                <a:cs typeface="Aptos"/>
              </a:defRPr>
            </a:pPr>
            <a:r>
              <a:t>Sine and cosine terms capture annual seasonal cycling/walking patterns.</a:t>
            </a:r>
          </a:p>
        </p:txBody>
      </p:sp>
      <p:sp>
        <p:nvSpPr>
          <p:cNvPr id="24" name="Rounded Rectangle 23"/>
          <p:cNvSpPr>
            <a:spLocks noGrp="1"/>
          </p:cNvSpPr>
          <p:nvPr/>
        </p:nvSpPr>
        <p:spPr>
          <a:xfrm>
            <a:off x="7391400" y="4095750"/>
            <a:ext cx="2952750" cy="1066800"/>
          </a:xfrm>
          <a:prstGeom prst="roundRect">
            <a:avLst>
              <a:gd name="adj" fmla="val 7143"/>
            </a:avLst>
          </a:prstGeom>
          <a:solidFill>
            <a:srgbClr val="FFFFFF"/>
          </a:solidFill>
          <a:ln w="0">
            <a:noFill/>
            <a:prstDash val="solid"/>
          </a:ln>
        </p:spPr>
      </p:sp>
      <p:sp>
        <p:nvSpPr>
          <p:cNvPr id="25" name="Rounded Rectangle 24"/>
          <p:cNvSpPr>
            <a:spLocks noGrp="1"/>
          </p:cNvSpPr>
          <p:nvPr/>
        </p:nvSpPr>
        <p:spPr>
          <a:xfrm>
            <a:off x="7524750" y="4210050"/>
            <a:ext cx="66675" cy="838200"/>
          </a:xfrm>
          <a:prstGeom prst="roundRect">
            <a:avLst>
              <a:gd name="adj" fmla="val 50000"/>
            </a:avLst>
          </a:prstGeom>
          <a:solidFill>
            <a:srgbClr val="C84C3A"/>
          </a:solidFill>
          <a:ln w="0">
            <a:noFill/>
            <a:prstDash val="solid"/>
          </a:ln>
        </p:spPr>
      </p:sp>
      <p:sp>
        <p:nvSpPr>
          <p:cNvPr id="26" name="Rectangles 25"/>
          <p:cNvSpPr>
            <a:spLocks noGrp="1"/>
          </p:cNvSpPr>
          <p:nvPr/>
        </p:nvSpPr>
        <p:spPr>
          <a:xfrm>
            <a:off x="7715250" y="4267200"/>
            <a:ext cx="2438400" cy="266700"/>
          </a:xfrm>
          <a:prstGeom prst="rect">
            <a:avLst/>
          </a:prstGeom>
        </p:spPr>
        <p:txBody>
          <a:bodyPr lIns="0" tIns="0" rIns="0" bIns="0">
            <a:normAutofit/>
          </a:bodyPr>
          <a:lstStyle/>
          <a:p>
            <a:pPr algn="l">
              <a:defRPr sz="1350" b="1" i="0">
                <a:solidFill>
                  <a:srgbClr val="16202A"/>
                </a:solidFill>
                <a:latin typeface="Aptos"/>
                <a:ea typeface="Aptos"/>
                <a:cs typeface="Aptos"/>
              </a:defRPr>
            </a:pPr>
            <a:r>
              <a:t>Uncertainty</a:t>
            </a:r>
          </a:p>
        </p:txBody>
      </p:sp>
      <p:sp>
        <p:nvSpPr>
          <p:cNvPr id="27" name="Rectangles 26"/>
          <p:cNvSpPr>
            <a:spLocks noGrp="1"/>
          </p:cNvSpPr>
          <p:nvPr/>
        </p:nvSpPr>
        <p:spPr>
          <a:xfrm>
            <a:off x="7715250" y="4591050"/>
            <a:ext cx="2438400" cy="457200"/>
          </a:xfrm>
          <a:prstGeom prst="rect">
            <a:avLst/>
          </a:prstGeom>
        </p:spPr>
        <p:txBody>
          <a:bodyPr lIns="0" tIns="0" rIns="0" bIns="0">
            <a:normAutofit/>
          </a:bodyPr>
          <a:lstStyle/>
          <a:p>
            <a:pPr algn="l">
              <a:defRPr sz="1125" b="0" i="0">
                <a:solidFill>
                  <a:srgbClr val="536170"/>
                </a:solidFill>
                <a:latin typeface="Aptos"/>
                <a:ea typeface="Aptos"/>
                <a:cs typeface="Aptos"/>
              </a:defRPr>
            </a:pPr>
            <a:r>
              <a:t>Cluster-robust standard errors by countline.</a:t>
            </a:r>
          </a:p>
        </p:txBody>
      </p:sp>
      <p:sp>
        <p:nvSpPr>
          <p:cNvPr id="29" name="Rectangles 28"/>
          <p:cNvSpPr>
            <a:spLocks noGrp="1"/>
          </p:cNvSpPr>
          <p:nvPr/>
        </p:nvSpPr>
        <p:spPr>
          <a:xfrm>
            <a:off x="11239500" y="6419850"/>
            <a:ext cx="381000" cy="228600"/>
          </a:xfrm>
          <a:prstGeom prst="rect">
            <a:avLst/>
          </a:prstGeom>
        </p:spPr>
        <p:txBody>
          <a:bodyPr lIns="0" tIns="0" rIns="0" bIns="0">
            <a:normAutofit/>
          </a:bodyPr>
          <a:lstStyle/>
          <a:p>
            <a:pPr algn="r">
              <a:defRPr sz="900" b="0" i="0">
                <a:solidFill>
                  <a:srgbClr val="7B8794"/>
                </a:solidFill>
                <a:latin typeface="Aptos"/>
                <a:ea typeface="Aptos"/>
                <a:cs typeface="Aptos"/>
              </a:defRPr>
            </a:pPr>
            <a:r>
              <a:t>07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s 1"/>
          <p:cNvSpPr>
            <a:spLocks noGrp="1"/>
          </p:cNvSpPr>
          <p:nvPr/>
        </p:nvSpPr>
        <p:spPr>
          <a:xfrm>
            <a:off x="0" y="0"/>
            <a:ext cx="12192000" cy="6858000"/>
          </a:xfrm>
          <a:prstGeom prst="rect">
            <a:avLst/>
          </a:prstGeom>
          <a:solidFill>
            <a:srgbClr val="FAFBFB"/>
          </a:solidFill>
          <a:ln w="0">
            <a:noFill/>
            <a:prstDash val="solid"/>
          </a:ln>
        </p:spPr>
      </p:sp>
      <p:sp>
        <p:nvSpPr>
          <p:cNvPr id="3" name="Rectangles 2"/>
          <p:cNvSpPr>
            <a:spLocks noGrp="1"/>
          </p:cNvSpPr>
          <p:nvPr/>
        </p:nvSpPr>
        <p:spPr>
          <a:xfrm>
            <a:off x="609600" y="342900"/>
            <a:ext cx="7048500" cy="266700"/>
          </a:xfrm>
          <a:prstGeom prst="rect">
            <a:avLst/>
          </a:prstGeom>
        </p:spPr>
        <p:txBody>
          <a:bodyPr lIns="0" tIns="0" rIns="0" bIns="0">
            <a:normAutofit/>
          </a:bodyPr>
          <a:lstStyle/>
          <a:p>
            <a:pPr algn="l">
              <a:defRPr sz="1125" b="1" i="0">
                <a:solidFill>
                  <a:srgbClr val="1F6F8B"/>
                </a:solidFill>
                <a:latin typeface="Aptos"/>
                <a:ea typeface="Aptos"/>
                <a:cs typeface="Aptos"/>
              </a:defRPr>
            </a:pPr>
            <a:r>
              <a:t>CAUSAL DIAGNOSTICS</a:t>
            </a:r>
          </a:p>
        </p:txBody>
      </p:sp>
      <p:sp>
        <p:nvSpPr>
          <p:cNvPr id="4" name="Rectangles 3"/>
          <p:cNvSpPr>
            <a:spLocks noGrp="1"/>
          </p:cNvSpPr>
          <p:nvPr/>
        </p:nvSpPr>
        <p:spPr>
          <a:xfrm>
            <a:off x="609600" y="666750"/>
            <a:ext cx="8191500" cy="838200"/>
          </a:xfrm>
          <a:prstGeom prst="rect">
            <a:avLst/>
          </a:prstGeom>
        </p:spPr>
        <p:txBody>
          <a:bodyPr lIns="0" tIns="0" rIns="0" bIns="0">
            <a:normAutofit fontScale="91667"/>
          </a:bodyPr>
          <a:lstStyle/>
          <a:p>
            <a:pPr algn="l">
              <a:defRPr sz="3000" b="1" i="0">
                <a:solidFill>
                  <a:srgbClr val="16202A"/>
                </a:solidFill>
                <a:latin typeface="Aptos"/>
                <a:ea typeface="Aptos"/>
                <a:cs typeface="Aptos"/>
              </a:defRPr>
            </a:pPr>
            <a:r>
              <a:t>Diagnostics explain why the causal language must stay cautious</a:t>
            </a:r>
          </a:p>
        </p:txBody>
      </p:sp>
      <p:sp>
        <p:nvSpPr>
          <p:cNvPr id="5" name="Rectangles 4"/>
          <p:cNvSpPr>
            <a:spLocks noGrp="1"/>
          </p:cNvSpPr>
          <p:nvPr/>
        </p:nvSpPr>
        <p:spPr>
          <a:xfrm>
            <a:off x="609600" y="1466850"/>
            <a:ext cx="8858250" cy="457200"/>
          </a:xfrm>
          <a:prstGeom prst="rect">
            <a:avLst/>
          </a:prstGeom>
        </p:spPr>
        <p:txBody>
          <a:bodyPr lIns="0" tIns="0" rIns="0" bIns="0">
            <a:normAutofit/>
          </a:bodyPr>
          <a:lstStyle/>
          <a:p>
            <a:pPr algn="l">
              <a:defRPr sz="1350" b="0" i="0">
                <a:solidFill>
                  <a:srgbClr val="536170"/>
                </a:solidFill>
                <a:latin typeface="Aptos"/>
                <a:ea typeface="Aptos"/>
                <a:cs typeface="Aptos"/>
              </a:defRPr>
            </a:pPr>
            <a:r>
              <a:t>All three modelled schemes currently show weak pretrend support in the diagnostic summary.</a:t>
            </a:r>
          </a:p>
        </p:txBody>
      </p:sp>
      <p:pic>
        <p:nvPicPr>
          <p:cNvPr id="6" name="Picture 5"/>
          <p:cNvPicPr>
            <a:picLocks noChangeAspect="1"/>
          </p:cNvPicPr>
          <p:nvPr/>
        </p:nvPicPr>
        <p:blipFill>
          <a:blip r:embed="rId1"/>
          <a:stretch>
            <a:fillRect/>
          </a:stretch>
        </p:blipFill>
        <p:spPr>
          <a:xfrm>
            <a:off x="590550" y="1924050"/>
            <a:ext cx="6572250" cy="4000500"/>
          </a:xfrm>
          <a:prstGeom prst="rect">
            <a:avLst/>
          </a:prstGeom>
        </p:spPr>
      </p:pic>
      <p:sp>
        <p:nvSpPr>
          <p:cNvPr id="7" name="Rectangles 6"/>
          <p:cNvSpPr>
            <a:spLocks noGrp="1"/>
          </p:cNvSpPr>
          <p:nvPr/>
        </p:nvSpPr>
        <p:spPr>
          <a:xfrm>
            <a:off x="7429500" y="2057400"/>
            <a:ext cx="685800" cy="361950"/>
          </a:xfrm>
          <a:prstGeom prst="rect">
            <a:avLst/>
          </a:prstGeom>
          <a:solidFill>
            <a:srgbClr val="C84C3A"/>
          </a:solidFill>
          <a:ln w="0">
            <a:noFill/>
            <a:prstDash val="solid"/>
          </a:ln>
        </p:spPr>
      </p:sp>
      <p:sp>
        <p:nvSpPr>
          <p:cNvPr id="8" name="Rectangles 7"/>
          <p:cNvSpPr>
            <a:spLocks noGrp="1"/>
          </p:cNvSpPr>
          <p:nvPr/>
        </p:nvSpPr>
        <p:spPr>
          <a:xfrm>
            <a:off x="7524750" y="2133600"/>
            <a:ext cx="495300" cy="247650"/>
          </a:xfrm>
          <a:prstGeom prst="rect">
            <a:avLst/>
          </a:prstGeom>
        </p:spPr>
        <p:txBody>
          <a:bodyPr lIns="0" tIns="0" rIns="0" bIns="0">
            <a:normAutofit/>
          </a:bodyPr>
          <a:lstStyle/>
          <a:p>
            <a:pPr algn="l">
              <a:defRPr sz="975" b="1" i="0">
                <a:solidFill>
                  <a:srgbClr val="FFFFFF"/>
                </a:solidFill>
                <a:latin typeface="Aptos"/>
                <a:ea typeface="Aptos"/>
                <a:cs typeface="Aptos"/>
              </a:defRPr>
            </a:pPr>
            <a:r>
              <a:t>Scheme</a:t>
            </a:r>
          </a:p>
        </p:txBody>
      </p:sp>
      <p:sp>
        <p:nvSpPr>
          <p:cNvPr id="9" name="Rectangles 8"/>
          <p:cNvSpPr>
            <a:spLocks noGrp="1"/>
          </p:cNvSpPr>
          <p:nvPr/>
        </p:nvSpPr>
        <p:spPr>
          <a:xfrm>
            <a:off x="8115300" y="2057400"/>
            <a:ext cx="781050" cy="361950"/>
          </a:xfrm>
          <a:prstGeom prst="rect">
            <a:avLst/>
          </a:prstGeom>
          <a:solidFill>
            <a:srgbClr val="C84C3A"/>
          </a:solidFill>
          <a:ln w="0">
            <a:noFill/>
            <a:prstDash val="solid"/>
          </a:ln>
        </p:spPr>
      </p:sp>
      <p:sp>
        <p:nvSpPr>
          <p:cNvPr id="10" name="Rectangles 9"/>
          <p:cNvSpPr>
            <a:spLocks noGrp="1"/>
          </p:cNvSpPr>
          <p:nvPr/>
        </p:nvSpPr>
        <p:spPr>
          <a:xfrm>
            <a:off x="8210550" y="2133600"/>
            <a:ext cx="590550" cy="247650"/>
          </a:xfrm>
          <a:prstGeom prst="rect">
            <a:avLst/>
          </a:prstGeom>
        </p:spPr>
        <p:txBody>
          <a:bodyPr lIns="0" tIns="0" rIns="0" bIns="0">
            <a:normAutofit/>
          </a:bodyPr>
          <a:lstStyle/>
          <a:p>
            <a:pPr algn="l">
              <a:defRPr sz="975" b="1" i="0">
                <a:solidFill>
                  <a:srgbClr val="FFFFFF"/>
                </a:solidFill>
                <a:latin typeface="Aptos"/>
                <a:ea typeface="Aptos"/>
                <a:cs typeface="Aptos"/>
              </a:defRPr>
            </a:pPr>
            <a:r>
              <a:t>Pretrend</a:t>
            </a:r>
          </a:p>
        </p:txBody>
      </p:sp>
      <p:sp>
        <p:nvSpPr>
          <p:cNvPr id="11" name="Rectangles 10"/>
          <p:cNvSpPr>
            <a:spLocks noGrp="1"/>
          </p:cNvSpPr>
          <p:nvPr/>
        </p:nvSpPr>
        <p:spPr>
          <a:xfrm>
            <a:off x="8896350" y="2057400"/>
            <a:ext cx="819150" cy="361950"/>
          </a:xfrm>
          <a:prstGeom prst="rect">
            <a:avLst/>
          </a:prstGeom>
          <a:solidFill>
            <a:srgbClr val="C84C3A"/>
          </a:solidFill>
          <a:ln w="0">
            <a:noFill/>
            <a:prstDash val="solid"/>
          </a:ln>
        </p:spPr>
      </p:sp>
      <p:sp>
        <p:nvSpPr>
          <p:cNvPr id="12" name="Rectangles 11"/>
          <p:cNvSpPr>
            <a:spLocks noGrp="1"/>
          </p:cNvSpPr>
          <p:nvPr/>
        </p:nvSpPr>
        <p:spPr>
          <a:xfrm>
            <a:off x="8991600" y="2133600"/>
            <a:ext cx="628650" cy="247650"/>
          </a:xfrm>
          <a:prstGeom prst="rect">
            <a:avLst/>
          </a:prstGeom>
        </p:spPr>
        <p:txBody>
          <a:bodyPr lIns="0" tIns="0" rIns="0" bIns="0">
            <a:normAutofit/>
          </a:bodyPr>
          <a:lstStyle/>
          <a:p>
            <a:pPr algn="l">
              <a:defRPr sz="975" b="1" i="0">
                <a:solidFill>
                  <a:srgbClr val="FFFFFF"/>
                </a:solidFill>
                <a:latin typeface="Aptos"/>
                <a:ea typeface="Aptos"/>
                <a:cs typeface="Aptos"/>
              </a:defRPr>
            </a:pPr>
            <a:r>
              <a:t>Pre-event</a:t>
            </a:r>
          </a:p>
        </p:txBody>
      </p:sp>
      <p:sp>
        <p:nvSpPr>
          <p:cNvPr id="13" name="Rectangles 12"/>
          <p:cNvSpPr>
            <a:spLocks noGrp="1"/>
          </p:cNvSpPr>
          <p:nvPr/>
        </p:nvSpPr>
        <p:spPr>
          <a:xfrm>
            <a:off x="9715500" y="2057400"/>
            <a:ext cx="781050" cy="361950"/>
          </a:xfrm>
          <a:prstGeom prst="rect">
            <a:avLst/>
          </a:prstGeom>
          <a:solidFill>
            <a:srgbClr val="C84C3A"/>
          </a:solidFill>
          <a:ln w="0">
            <a:noFill/>
            <a:prstDash val="solid"/>
          </a:ln>
        </p:spPr>
      </p:sp>
      <p:sp>
        <p:nvSpPr>
          <p:cNvPr id="14" name="Rectangles 13"/>
          <p:cNvSpPr>
            <a:spLocks noGrp="1"/>
          </p:cNvSpPr>
          <p:nvPr/>
        </p:nvSpPr>
        <p:spPr>
          <a:xfrm>
            <a:off x="9810750" y="2133600"/>
            <a:ext cx="590550" cy="247650"/>
          </a:xfrm>
          <a:prstGeom prst="rect">
            <a:avLst/>
          </a:prstGeom>
        </p:spPr>
        <p:txBody>
          <a:bodyPr lIns="0" tIns="0" rIns="0" bIns="0">
            <a:normAutofit fontScale="99812"/>
          </a:bodyPr>
          <a:lstStyle/>
          <a:p>
            <a:pPr algn="l">
              <a:defRPr sz="975" b="1" i="0">
                <a:solidFill>
                  <a:srgbClr val="FFFFFF"/>
                </a:solidFill>
                <a:latin typeface="Aptos"/>
                <a:ea typeface="Aptos"/>
                <a:cs typeface="Aptos"/>
              </a:defRPr>
            </a:pPr>
            <a:r>
              <a:t>Post flags</a:t>
            </a:r>
          </a:p>
        </p:txBody>
      </p:sp>
      <p:sp>
        <p:nvSpPr>
          <p:cNvPr id="15" name="Rectangles 14"/>
          <p:cNvSpPr>
            <a:spLocks noGrp="1"/>
          </p:cNvSpPr>
          <p:nvPr/>
        </p:nvSpPr>
        <p:spPr>
          <a:xfrm>
            <a:off x="10496550" y="2057400"/>
            <a:ext cx="838200" cy="361950"/>
          </a:xfrm>
          <a:prstGeom prst="rect">
            <a:avLst/>
          </a:prstGeom>
          <a:solidFill>
            <a:srgbClr val="C84C3A"/>
          </a:solidFill>
          <a:ln w="0">
            <a:noFill/>
            <a:prstDash val="solid"/>
          </a:ln>
        </p:spPr>
      </p:sp>
      <p:sp>
        <p:nvSpPr>
          <p:cNvPr id="16" name="Rectangles 15"/>
          <p:cNvSpPr>
            <a:spLocks noGrp="1"/>
          </p:cNvSpPr>
          <p:nvPr/>
        </p:nvSpPr>
        <p:spPr>
          <a:xfrm>
            <a:off x="10591800" y="2133600"/>
            <a:ext cx="647700" cy="247650"/>
          </a:xfrm>
          <a:prstGeom prst="rect">
            <a:avLst/>
          </a:prstGeom>
        </p:spPr>
        <p:txBody>
          <a:bodyPr lIns="0" tIns="0" rIns="0" bIns="0">
            <a:normAutofit/>
          </a:bodyPr>
          <a:lstStyle/>
          <a:p>
            <a:pPr algn="l">
              <a:defRPr sz="975" b="1" i="0">
                <a:solidFill>
                  <a:srgbClr val="FFFFFF"/>
                </a:solidFill>
                <a:latin typeface="Aptos"/>
                <a:ea typeface="Aptos"/>
                <a:cs typeface="Aptos"/>
              </a:defRPr>
            </a:pPr>
            <a:r>
              <a:t>Readiness</a:t>
            </a:r>
          </a:p>
        </p:txBody>
      </p:sp>
      <p:sp>
        <p:nvSpPr>
          <p:cNvPr id="17" name="Rectangles 16"/>
          <p:cNvSpPr>
            <a:spLocks noGrp="1"/>
          </p:cNvSpPr>
          <p:nvPr/>
        </p:nvSpPr>
        <p:spPr>
          <a:xfrm>
            <a:off x="7429500" y="2419350"/>
            <a:ext cx="685800" cy="361950"/>
          </a:xfrm>
          <a:prstGeom prst="rect">
            <a:avLst/>
          </a:prstGeom>
          <a:solidFill>
            <a:srgbClr val="FFFFFF"/>
          </a:solidFill>
          <a:ln w="0">
            <a:noFill/>
            <a:prstDash val="solid"/>
          </a:ln>
        </p:spPr>
      </p:sp>
      <p:sp>
        <p:nvSpPr>
          <p:cNvPr id="18" name="Rectangles 17"/>
          <p:cNvSpPr>
            <a:spLocks noGrp="1"/>
          </p:cNvSpPr>
          <p:nvPr/>
        </p:nvSpPr>
        <p:spPr>
          <a:xfrm>
            <a:off x="7524750" y="2495550"/>
            <a:ext cx="495300" cy="247650"/>
          </a:xfrm>
          <a:prstGeom prst="rect">
            <a:avLst/>
          </a:prstGeom>
        </p:spPr>
        <p:txBody>
          <a:bodyPr lIns="0" tIns="0" rIns="0" bIns="0">
            <a:normAutofit/>
          </a:bodyPr>
          <a:lstStyle/>
          <a:p>
            <a:pPr algn="l">
              <a:defRPr sz="900" b="0" i="0">
                <a:solidFill>
                  <a:srgbClr val="16202A"/>
                </a:solidFill>
                <a:latin typeface="Aptos"/>
                <a:ea typeface="Aptos"/>
                <a:cs typeface="Aptos"/>
              </a:defRPr>
            </a:pPr>
            <a:r>
              <a:t>12d</a:t>
            </a:r>
          </a:p>
        </p:txBody>
      </p:sp>
      <p:sp>
        <p:nvSpPr>
          <p:cNvPr id="19" name="Rectangles 18"/>
          <p:cNvSpPr>
            <a:spLocks noGrp="1"/>
          </p:cNvSpPr>
          <p:nvPr/>
        </p:nvSpPr>
        <p:spPr>
          <a:xfrm>
            <a:off x="8115300" y="2419350"/>
            <a:ext cx="781050" cy="361950"/>
          </a:xfrm>
          <a:prstGeom prst="rect">
            <a:avLst/>
          </a:prstGeom>
          <a:solidFill>
            <a:srgbClr val="FFFFFF"/>
          </a:solidFill>
          <a:ln w="0">
            <a:noFill/>
            <a:prstDash val="solid"/>
          </a:ln>
        </p:spPr>
      </p:sp>
      <p:sp>
        <p:nvSpPr>
          <p:cNvPr id="20" name="Rectangles 19"/>
          <p:cNvSpPr>
            <a:spLocks noGrp="1"/>
          </p:cNvSpPr>
          <p:nvPr/>
        </p:nvSpPr>
        <p:spPr>
          <a:xfrm>
            <a:off x="8210550" y="2495550"/>
            <a:ext cx="590550" cy="247650"/>
          </a:xfrm>
          <a:prstGeom prst="rect">
            <a:avLst/>
          </a:prstGeom>
        </p:spPr>
        <p:txBody>
          <a:bodyPr lIns="0" tIns="0" rIns="0" bIns="0">
            <a:normAutofit/>
          </a:bodyPr>
          <a:lstStyle/>
          <a:p>
            <a:pPr algn="l">
              <a:defRPr sz="900" b="0" i="0">
                <a:solidFill>
                  <a:srgbClr val="16202A"/>
                </a:solidFill>
                <a:latin typeface="Aptos"/>
                <a:ea typeface="Aptos"/>
                <a:cs typeface="Aptos"/>
              </a:defRPr>
            </a:pPr>
            <a:r>
              <a:t>2</a:t>
            </a:r>
          </a:p>
        </p:txBody>
      </p:sp>
      <p:sp>
        <p:nvSpPr>
          <p:cNvPr id="21" name="Rectangles 20"/>
          <p:cNvSpPr>
            <a:spLocks noGrp="1"/>
          </p:cNvSpPr>
          <p:nvPr/>
        </p:nvSpPr>
        <p:spPr>
          <a:xfrm>
            <a:off x="8896350" y="2419350"/>
            <a:ext cx="819150" cy="361950"/>
          </a:xfrm>
          <a:prstGeom prst="rect">
            <a:avLst/>
          </a:prstGeom>
          <a:solidFill>
            <a:srgbClr val="FFFFFF"/>
          </a:solidFill>
          <a:ln w="0">
            <a:noFill/>
            <a:prstDash val="solid"/>
          </a:ln>
        </p:spPr>
      </p:sp>
      <p:sp>
        <p:nvSpPr>
          <p:cNvPr id="22" name="Rectangles 21"/>
          <p:cNvSpPr>
            <a:spLocks noGrp="1"/>
          </p:cNvSpPr>
          <p:nvPr/>
        </p:nvSpPr>
        <p:spPr>
          <a:xfrm>
            <a:off x="8991600" y="2495550"/>
            <a:ext cx="628650" cy="247650"/>
          </a:xfrm>
          <a:prstGeom prst="rect">
            <a:avLst/>
          </a:prstGeom>
        </p:spPr>
        <p:txBody>
          <a:bodyPr lIns="0" tIns="0" rIns="0" bIns="0">
            <a:normAutofit/>
          </a:bodyPr>
          <a:lstStyle/>
          <a:p>
            <a:pPr algn="l">
              <a:defRPr sz="900" b="0" i="0">
                <a:solidFill>
                  <a:srgbClr val="16202A"/>
                </a:solidFill>
                <a:latin typeface="Aptos"/>
                <a:ea typeface="Aptos"/>
                <a:cs typeface="Aptos"/>
              </a:defRPr>
            </a:pPr>
            <a:r>
              <a:t>0</a:t>
            </a:r>
          </a:p>
        </p:txBody>
      </p:sp>
      <p:sp>
        <p:nvSpPr>
          <p:cNvPr id="23" name="Rectangles 22"/>
          <p:cNvSpPr>
            <a:spLocks noGrp="1"/>
          </p:cNvSpPr>
          <p:nvPr/>
        </p:nvSpPr>
        <p:spPr>
          <a:xfrm>
            <a:off x="9715500" y="2419350"/>
            <a:ext cx="781050" cy="361950"/>
          </a:xfrm>
          <a:prstGeom prst="rect">
            <a:avLst/>
          </a:prstGeom>
          <a:solidFill>
            <a:srgbClr val="FFFFFF"/>
          </a:solidFill>
          <a:ln w="0">
            <a:noFill/>
            <a:prstDash val="solid"/>
          </a:ln>
        </p:spPr>
      </p:sp>
      <p:sp>
        <p:nvSpPr>
          <p:cNvPr id="24" name="Rectangles 23"/>
          <p:cNvSpPr>
            <a:spLocks noGrp="1"/>
          </p:cNvSpPr>
          <p:nvPr/>
        </p:nvSpPr>
        <p:spPr>
          <a:xfrm>
            <a:off x="9810750" y="2495550"/>
            <a:ext cx="590550" cy="247650"/>
          </a:xfrm>
          <a:prstGeom prst="rect">
            <a:avLst/>
          </a:prstGeom>
        </p:spPr>
        <p:txBody>
          <a:bodyPr lIns="0" tIns="0" rIns="0" bIns="0">
            <a:normAutofit/>
          </a:bodyPr>
          <a:lstStyle/>
          <a:p>
            <a:pPr algn="l">
              <a:defRPr sz="900" b="0" i="0">
                <a:solidFill>
                  <a:srgbClr val="16202A"/>
                </a:solidFill>
                <a:latin typeface="Aptos"/>
                <a:ea typeface="Aptos"/>
                <a:cs typeface="Aptos"/>
              </a:defRPr>
            </a:pPr>
            <a:r>
              <a:t>2</a:t>
            </a:r>
          </a:p>
        </p:txBody>
      </p:sp>
      <p:sp>
        <p:nvSpPr>
          <p:cNvPr id="25" name="Rectangles 24"/>
          <p:cNvSpPr>
            <a:spLocks noGrp="1"/>
          </p:cNvSpPr>
          <p:nvPr/>
        </p:nvSpPr>
        <p:spPr>
          <a:xfrm>
            <a:off x="10496550" y="2419350"/>
            <a:ext cx="838200" cy="361950"/>
          </a:xfrm>
          <a:prstGeom prst="rect">
            <a:avLst/>
          </a:prstGeom>
          <a:solidFill>
            <a:srgbClr val="FFFFFF"/>
          </a:solidFill>
          <a:ln w="0">
            <a:noFill/>
            <a:prstDash val="solid"/>
          </a:ln>
        </p:spPr>
      </p:sp>
      <p:sp>
        <p:nvSpPr>
          <p:cNvPr id="26" name="Rectangles 25"/>
          <p:cNvSpPr>
            <a:spLocks noGrp="1"/>
          </p:cNvSpPr>
          <p:nvPr/>
        </p:nvSpPr>
        <p:spPr>
          <a:xfrm>
            <a:off x="10591800" y="2495550"/>
            <a:ext cx="647700" cy="247650"/>
          </a:xfrm>
          <a:prstGeom prst="rect">
            <a:avLst/>
          </a:prstGeom>
        </p:spPr>
        <p:txBody>
          <a:bodyPr lIns="0" tIns="0" rIns="0" bIns="0">
            <a:normAutofit/>
          </a:bodyPr>
          <a:lstStyle/>
          <a:p>
            <a:pPr algn="l">
              <a:defRPr sz="900" b="0" i="0">
                <a:solidFill>
                  <a:srgbClr val="16202A"/>
                </a:solidFill>
                <a:latin typeface="Aptos"/>
                <a:ea typeface="Aptos"/>
                <a:cs typeface="Aptos"/>
              </a:defRPr>
            </a:pPr>
            <a:r>
              <a:t>weak</a:t>
            </a:r>
          </a:p>
        </p:txBody>
      </p:sp>
      <p:sp>
        <p:nvSpPr>
          <p:cNvPr id="27" name="Rectangles 26"/>
          <p:cNvSpPr>
            <a:spLocks noGrp="1"/>
          </p:cNvSpPr>
          <p:nvPr/>
        </p:nvSpPr>
        <p:spPr>
          <a:xfrm>
            <a:off x="7429500" y="2781300"/>
            <a:ext cx="685800" cy="361950"/>
          </a:xfrm>
          <a:prstGeom prst="rect">
            <a:avLst/>
          </a:prstGeom>
          <a:solidFill>
            <a:srgbClr val="FFFFFF"/>
          </a:solidFill>
          <a:ln w="0">
            <a:noFill/>
            <a:prstDash val="solid"/>
          </a:ln>
        </p:spPr>
      </p:sp>
      <p:sp>
        <p:nvSpPr>
          <p:cNvPr id="28" name="Rectangles 27"/>
          <p:cNvSpPr>
            <a:spLocks noGrp="1"/>
          </p:cNvSpPr>
          <p:nvPr/>
        </p:nvSpPr>
        <p:spPr>
          <a:xfrm>
            <a:off x="7524750" y="2857500"/>
            <a:ext cx="495300" cy="247650"/>
          </a:xfrm>
          <a:prstGeom prst="rect">
            <a:avLst/>
          </a:prstGeom>
        </p:spPr>
        <p:txBody>
          <a:bodyPr lIns="0" tIns="0" rIns="0" bIns="0">
            <a:normAutofit/>
          </a:bodyPr>
          <a:lstStyle/>
          <a:p>
            <a:pPr algn="l">
              <a:defRPr sz="900" b="0" i="0">
                <a:solidFill>
                  <a:srgbClr val="16202A"/>
                </a:solidFill>
                <a:latin typeface="Aptos"/>
                <a:ea typeface="Aptos"/>
                <a:cs typeface="Aptos"/>
              </a:defRPr>
            </a:pPr>
            <a:r>
              <a:t>12f</a:t>
            </a:r>
          </a:p>
        </p:txBody>
      </p:sp>
      <p:sp>
        <p:nvSpPr>
          <p:cNvPr id="29" name="Rectangles 28"/>
          <p:cNvSpPr>
            <a:spLocks noGrp="1"/>
          </p:cNvSpPr>
          <p:nvPr/>
        </p:nvSpPr>
        <p:spPr>
          <a:xfrm>
            <a:off x="8115300" y="2781300"/>
            <a:ext cx="781050" cy="361950"/>
          </a:xfrm>
          <a:prstGeom prst="rect">
            <a:avLst/>
          </a:prstGeom>
          <a:solidFill>
            <a:srgbClr val="FFFFFF"/>
          </a:solidFill>
          <a:ln w="0">
            <a:noFill/>
            <a:prstDash val="solid"/>
          </a:ln>
        </p:spPr>
      </p:sp>
      <p:sp>
        <p:nvSpPr>
          <p:cNvPr id="30" name="Rectangles 29"/>
          <p:cNvSpPr>
            <a:spLocks noGrp="1"/>
          </p:cNvSpPr>
          <p:nvPr/>
        </p:nvSpPr>
        <p:spPr>
          <a:xfrm>
            <a:off x="8210550" y="2857500"/>
            <a:ext cx="590550" cy="247650"/>
          </a:xfrm>
          <a:prstGeom prst="rect">
            <a:avLst/>
          </a:prstGeom>
        </p:spPr>
        <p:txBody>
          <a:bodyPr lIns="0" tIns="0" rIns="0" bIns="0">
            <a:normAutofit/>
          </a:bodyPr>
          <a:lstStyle/>
          <a:p>
            <a:pPr algn="l">
              <a:defRPr sz="900" b="0" i="0">
                <a:solidFill>
                  <a:srgbClr val="16202A"/>
                </a:solidFill>
                <a:latin typeface="Aptos"/>
                <a:ea typeface="Aptos"/>
                <a:cs typeface="Aptos"/>
              </a:defRPr>
            </a:pPr>
            <a:r>
              <a:t>0</a:t>
            </a:r>
          </a:p>
        </p:txBody>
      </p:sp>
      <p:sp>
        <p:nvSpPr>
          <p:cNvPr id="31" name="Rectangles 30"/>
          <p:cNvSpPr>
            <a:spLocks noGrp="1"/>
          </p:cNvSpPr>
          <p:nvPr/>
        </p:nvSpPr>
        <p:spPr>
          <a:xfrm>
            <a:off x="8896350" y="2781300"/>
            <a:ext cx="819150" cy="361950"/>
          </a:xfrm>
          <a:prstGeom prst="rect">
            <a:avLst/>
          </a:prstGeom>
          <a:solidFill>
            <a:srgbClr val="FFFFFF"/>
          </a:solidFill>
          <a:ln w="0">
            <a:noFill/>
            <a:prstDash val="solid"/>
          </a:ln>
        </p:spPr>
      </p:sp>
      <p:sp>
        <p:nvSpPr>
          <p:cNvPr id="32" name="Rectangles 31"/>
          <p:cNvSpPr>
            <a:spLocks noGrp="1"/>
          </p:cNvSpPr>
          <p:nvPr/>
        </p:nvSpPr>
        <p:spPr>
          <a:xfrm>
            <a:off x="8991600" y="2857500"/>
            <a:ext cx="628650" cy="247650"/>
          </a:xfrm>
          <a:prstGeom prst="rect">
            <a:avLst/>
          </a:prstGeom>
        </p:spPr>
        <p:txBody>
          <a:bodyPr lIns="0" tIns="0" rIns="0" bIns="0">
            <a:normAutofit/>
          </a:bodyPr>
          <a:lstStyle/>
          <a:p>
            <a:pPr algn="l">
              <a:defRPr sz="900" b="0" i="0">
                <a:solidFill>
                  <a:srgbClr val="16202A"/>
                </a:solidFill>
                <a:latin typeface="Aptos"/>
                <a:ea typeface="Aptos"/>
                <a:cs typeface="Aptos"/>
              </a:defRPr>
            </a:pPr>
            <a:r>
              <a:t>1</a:t>
            </a:r>
          </a:p>
        </p:txBody>
      </p:sp>
      <p:sp>
        <p:nvSpPr>
          <p:cNvPr id="33" name="Rectangles 32"/>
          <p:cNvSpPr>
            <a:spLocks noGrp="1"/>
          </p:cNvSpPr>
          <p:nvPr/>
        </p:nvSpPr>
        <p:spPr>
          <a:xfrm>
            <a:off x="9715500" y="2781300"/>
            <a:ext cx="781050" cy="361950"/>
          </a:xfrm>
          <a:prstGeom prst="rect">
            <a:avLst/>
          </a:prstGeom>
          <a:solidFill>
            <a:srgbClr val="FFFFFF"/>
          </a:solidFill>
          <a:ln w="0">
            <a:noFill/>
            <a:prstDash val="solid"/>
          </a:ln>
        </p:spPr>
      </p:sp>
      <p:sp>
        <p:nvSpPr>
          <p:cNvPr id="34" name="Rectangles 33"/>
          <p:cNvSpPr>
            <a:spLocks noGrp="1"/>
          </p:cNvSpPr>
          <p:nvPr/>
        </p:nvSpPr>
        <p:spPr>
          <a:xfrm>
            <a:off x="9810750" y="2857500"/>
            <a:ext cx="590550" cy="247650"/>
          </a:xfrm>
          <a:prstGeom prst="rect">
            <a:avLst/>
          </a:prstGeom>
        </p:spPr>
        <p:txBody>
          <a:bodyPr lIns="0" tIns="0" rIns="0" bIns="0">
            <a:normAutofit/>
          </a:bodyPr>
          <a:lstStyle/>
          <a:p>
            <a:pPr algn="l">
              <a:defRPr sz="900" b="0" i="0">
                <a:solidFill>
                  <a:srgbClr val="16202A"/>
                </a:solidFill>
                <a:latin typeface="Aptos"/>
                <a:ea typeface="Aptos"/>
                <a:cs typeface="Aptos"/>
              </a:defRPr>
            </a:pPr>
            <a:r>
              <a:t>4</a:t>
            </a:r>
          </a:p>
        </p:txBody>
      </p:sp>
      <p:sp>
        <p:nvSpPr>
          <p:cNvPr id="35" name="Rectangles 34"/>
          <p:cNvSpPr>
            <a:spLocks noGrp="1"/>
          </p:cNvSpPr>
          <p:nvPr/>
        </p:nvSpPr>
        <p:spPr>
          <a:xfrm>
            <a:off x="10496550" y="2781300"/>
            <a:ext cx="838200" cy="361950"/>
          </a:xfrm>
          <a:prstGeom prst="rect">
            <a:avLst/>
          </a:prstGeom>
          <a:solidFill>
            <a:srgbClr val="FFFFFF"/>
          </a:solidFill>
          <a:ln w="0">
            <a:noFill/>
            <a:prstDash val="solid"/>
          </a:ln>
        </p:spPr>
      </p:sp>
      <p:sp>
        <p:nvSpPr>
          <p:cNvPr id="36" name="Rectangles 35"/>
          <p:cNvSpPr>
            <a:spLocks noGrp="1"/>
          </p:cNvSpPr>
          <p:nvPr/>
        </p:nvSpPr>
        <p:spPr>
          <a:xfrm>
            <a:off x="10591800" y="2857500"/>
            <a:ext cx="647700" cy="247650"/>
          </a:xfrm>
          <a:prstGeom prst="rect">
            <a:avLst/>
          </a:prstGeom>
        </p:spPr>
        <p:txBody>
          <a:bodyPr lIns="0" tIns="0" rIns="0" bIns="0">
            <a:normAutofit/>
          </a:bodyPr>
          <a:lstStyle/>
          <a:p>
            <a:pPr algn="l">
              <a:defRPr sz="900" b="0" i="0">
                <a:solidFill>
                  <a:srgbClr val="16202A"/>
                </a:solidFill>
                <a:latin typeface="Aptos"/>
                <a:ea typeface="Aptos"/>
                <a:cs typeface="Aptos"/>
              </a:defRPr>
            </a:pPr>
            <a:r>
              <a:t>weak</a:t>
            </a:r>
          </a:p>
        </p:txBody>
      </p:sp>
      <p:sp>
        <p:nvSpPr>
          <p:cNvPr id="37" name="Rectangles 36"/>
          <p:cNvSpPr>
            <a:spLocks noGrp="1"/>
          </p:cNvSpPr>
          <p:nvPr/>
        </p:nvSpPr>
        <p:spPr>
          <a:xfrm>
            <a:off x="7429500" y="3143250"/>
            <a:ext cx="685800" cy="361950"/>
          </a:xfrm>
          <a:prstGeom prst="rect">
            <a:avLst/>
          </a:prstGeom>
          <a:solidFill>
            <a:srgbClr val="FFFFFF"/>
          </a:solidFill>
          <a:ln w="0">
            <a:noFill/>
            <a:prstDash val="solid"/>
          </a:ln>
        </p:spPr>
      </p:sp>
      <p:sp>
        <p:nvSpPr>
          <p:cNvPr id="38" name="Rectangles 37"/>
          <p:cNvSpPr>
            <a:spLocks noGrp="1"/>
          </p:cNvSpPr>
          <p:nvPr/>
        </p:nvSpPr>
        <p:spPr>
          <a:xfrm>
            <a:off x="7524750" y="3219450"/>
            <a:ext cx="495300" cy="247650"/>
          </a:xfrm>
          <a:prstGeom prst="rect">
            <a:avLst/>
          </a:prstGeom>
        </p:spPr>
        <p:txBody>
          <a:bodyPr lIns="0" tIns="0" rIns="0" bIns="0">
            <a:normAutofit/>
          </a:bodyPr>
          <a:lstStyle/>
          <a:p>
            <a:pPr algn="l">
              <a:defRPr sz="900" b="0" i="0">
                <a:solidFill>
                  <a:srgbClr val="16202A"/>
                </a:solidFill>
                <a:latin typeface="Aptos"/>
                <a:ea typeface="Aptos"/>
                <a:cs typeface="Aptos"/>
              </a:defRPr>
            </a:pPr>
            <a:r>
              <a:t>13</a:t>
            </a:r>
          </a:p>
        </p:txBody>
      </p:sp>
      <p:sp>
        <p:nvSpPr>
          <p:cNvPr id="39" name="Rectangles 38"/>
          <p:cNvSpPr>
            <a:spLocks noGrp="1"/>
          </p:cNvSpPr>
          <p:nvPr/>
        </p:nvSpPr>
        <p:spPr>
          <a:xfrm>
            <a:off x="8115300" y="3143250"/>
            <a:ext cx="781050" cy="361950"/>
          </a:xfrm>
          <a:prstGeom prst="rect">
            <a:avLst/>
          </a:prstGeom>
          <a:solidFill>
            <a:srgbClr val="FFFFFF"/>
          </a:solidFill>
          <a:ln w="0">
            <a:noFill/>
            <a:prstDash val="solid"/>
          </a:ln>
        </p:spPr>
      </p:sp>
      <p:sp>
        <p:nvSpPr>
          <p:cNvPr id="40" name="Rectangles 39"/>
          <p:cNvSpPr>
            <a:spLocks noGrp="1"/>
          </p:cNvSpPr>
          <p:nvPr/>
        </p:nvSpPr>
        <p:spPr>
          <a:xfrm>
            <a:off x="8210550" y="3219450"/>
            <a:ext cx="590550" cy="247650"/>
          </a:xfrm>
          <a:prstGeom prst="rect">
            <a:avLst/>
          </a:prstGeom>
        </p:spPr>
        <p:txBody>
          <a:bodyPr lIns="0" tIns="0" rIns="0" bIns="0">
            <a:normAutofit/>
          </a:bodyPr>
          <a:lstStyle/>
          <a:p>
            <a:pPr algn="l">
              <a:defRPr sz="900" b="0" i="0">
                <a:solidFill>
                  <a:srgbClr val="16202A"/>
                </a:solidFill>
                <a:latin typeface="Aptos"/>
                <a:ea typeface="Aptos"/>
                <a:cs typeface="Aptos"/>
              </a:defRPr>
            </a:pPr>
            <a:r>
              <a:t>0</a:t>
            </a:r>
          </a:p>
        </p:txBody>
      </p:sp>
      <p:sp>
        <p:nvSpPr>
          <p:cNvPr id="41" name="Rectangles 40"/>
          <p:cNvSpPr>
            <a:spLocks noGrp="1"/>
          </p:cNvSpPr>
          <p:nvPr/>
        </p:nvSpPr>
        <p:spPr>
          <a:xfrm>
            <a:off x="8896350" y="3143250"/>
            <a:ext cx="819150" cy="361950"/>
          </a:xfrm>
          <a:prstGeom prst="rect">
            <a:avLst/>
          </a:prstGeom>
          <a:solidFill>
            <a:srgbClr val="FFFFFF"/>
          </a:solidFill>
          <a:ln w="0">
            <a:noFill/>
            <a:prstDash val="solid"/>
          </a:ln>
        </p:spPr>
      </p:sp>
      <p:sp>
        <p:nvSpPr>
          <p:cNvPr id="42" name="Rectangles 41"/>
          <p:cNvSpPr>
            <a:spLocks noGrp="1"/>
          </p:cNvSpPr>
          <p:nvPr/>
        </p:nvSpPr>
        <p:spPr>
          <a:xfrm>
            <a:off x="8991600" y="3219450"/>
            <a:ext cx="628650" cy="247650"/>
          </a:xfrm>
          <a:prstGeom prst="rect">
            <a:avLst/>
          </a:prstGeom>
        </p:spPr>
        <p:txBody>
          <a:bodyPr lIns="0" tIns="0" rIns="0" bIns="0">
            <a:normAutofit/>
          </a:bodyPr>
          <a:lstStyle/>
          <a:p>
            <a:pPr algn="l">
              <a:defRPr sz="900" b="0" i="0">
                <a:solidFill>
                  <a:srgbClr val="16202A"/>
                </a:solidFill>
                <a:latin typeface="Aptos"/>
                <a:ea typeface="Aptos"/>
                <a:cs typeface="Aptos"/>
              </a:defRPr>
            </a:pPr>
            <a:r>
              <a:t>1</a:t>
            </a:r>
          </a:p>
        </p:txBody>
      </p:sp>
      <p:sp>
        <p:nvSpPr>
          <p:cNvPr id="43" name="Rectangles 42"/>
          <p:cNvSpPr>
            <a:spLocks noGrp="1"/>
          </p:cNvSpPr>
          <p:nvPr/>
        </p:nvSpPr>
        <p:spPr>
          <a:xfrm>
            <a:off x="9715500" y="3143250"/>
            <a:ext cx="781050" cy="361950"/>
          </a:xfrm>
          <a:prstGeom prst="rect">
            <a:avLst/>
          </a:prstGeom>
          <a:solidFill>
            <a:srgbClr val="FFFFFF"/>
          </a:solidFill>
          <a:ln w="0">
            <a:noFill/>
            <a:prstDash val="solid"/>
          </a:ln>
        </p:spPr>
      </p:sp>
      <p:sp>
        <p:nvSpPr>
          <p:cNvPr id="44" name="Rectangles 43"/>
          <p:cNvSpPr>
            <a:spLocks noGrp="1"/>
          </p:cNvSpPr>
          <p:nvPr/>
        </p:nvSpPr>
        <p:spPr>
          <a:xfrm>
            <a:off x="9810750" y="3219450"/>
            <a:ext cx="590550" cy="247650"/>
          </a:xfrm>
          <a:prstGeom prst="rect">
            <a:avLst/>
          </a:prstGeom>
        </p:spPr>
        <p:txBody>
          <a:bodyPr lIns="0" tIns="0" rIns="0" bIns="0">
            <a:normAutofit/>
          </a:bodyPr>
          <a:lstStyle/>
          <a:p>
            <a:pPr algn="l">
              <a:defRPr sz="900" b="0" i="0">
                <a:solidFill>
                  <a:srgbClr val="16202A"/>
                </a:solidFill>
                <a:latin typeface="Aptos"/>
                <a:ea typeface="Aptos"/>
                <a:cs typeface="Aptos"/>
              </a:defRPr>
            </a:pPr>
            <a:r>
              <a:t>0</a:t>
            </a:r>
          </a:p>
        </p:txBody>
      </p:sp>
      <p:sp>
        <p:nvSpPr>
          <p:cNvPr id="45" name="Rectangles 44"/>
          <p:cNvSpPr>
            <a:spLocks noGrp="1"/>
          </p:cNvSpPr>
          <p:nvPr/>
        </p:nvSpPr>
        <p:spPr>
          <a:xfrm>
            <a:off x="10496550" y="3143250"/>
            <a:ext cx="838200" cy="361950"/>
          </a:xfrm>
          <a:prstGeom prst="rect">
            <a:avLst/>
          </a:prstGeom>
          <a:solidFill>
            <a:srgbClr val="FFFFFF"/>
          </a:solidFill>
          <a:ln w="0">
            <a:noFill/>
            <a:prstDash val="solid"/>
          </a:ln>
        </p:spPr>
      </p:sp>
      <p:sp>
        <p:nvSpPr>
          <p:cNvPr id="46" name="Rectangles 45"/>
          <p:cNvSpPr>
            <a:spLocks noGrp="1"/>
          </p:cNvSpPr>
          <p:nvPr/>
        </p:nvSpPr>
        <p:spPr>
          <a:xfrm>
            <a:off x="10591800" y="3219450"/>
            <a:ext cx="647700" cy="247650"/>
          </a:xfrm>
          <a:prstGeom prst="rect">
            <a:avLst/>
          </a:prstGeom>
        </p:spPr>
        <p:txBody>
          <a:bodyPr lIns="0" tIns="0" rIns="0" bIns="0">
            <a:normAutofit/>
          </a:bodyPr>
          <a:lstStyle/>
          <a:p>
            <a:pPr algn="l">
              <a:defRPr sz="900" b="0" i="0">
                <a:solidFill>
                  <a:srgbClr val="16202A"/>
                </a:solidFill>
                <a:latin typeface="Aptos"/>
                <a:ea typeface="Aptos"/>
                <a:cs typeface="Aptos"/>
              </a:defRPr>
            </a:pPr>
            <a:r>
              <a:t>weak</a:t>
            </a:r>
          </a:p>
        </p:txBody>
      </p:sp>
      <p:sp>
        <p:nvSpPr>
          <p:cNvPr id="47" name="Rounded Rectangle 46"/>
          <p:cNvSpPr>
            <a:spLocks noGrp="1"/>
          </p:cNvSpPr>
          <p:nvPr/>
        </p:nvSpPr>
        <p:spPr>
          <a:xfrm>
            <a:off x="7429500" y="3829050"/>
            <a:ext cx="3905250" cy="1066800"/>
          </a:xfrm>
          <a:prstGeom prst="roundRect">
            <a:avLst>
              <a:gd name="adj" fmla="val 7143"/>
            </a:avLst>
          </a:prstGeom>
          <a:solidFill>
            <a:srgbClr val="FFFFFF"/>
          </a:solidFill>
          <a:ln w="0">
            <a:noFill/>
            <a:prstDash val="solid"/>
          </a:ln>
        </p:spPr>
      </p:sp>
      <p:sp>
        <p:nvSpPr>
          <p:cNvPr id="48" name="Rounded Rectangle 47"/>
          <p:cNvSpPr>
            <a:spLocks noGrp="1"/>
          </p:cNvSpPr>
          <p:nvPr/>
        </p:nvSpPr>
        <p:spPr>
          <a:xfrm>
            <a:off x="7562850" y="3943350"/>
            <a:ext cx="66675" cy="838200"/>
          </a:xfrm>
          <a:prstGeom prst="roundRect">
            <a:avLst>
              <a:gd name="adj" fmla="val 50000"/>
            </a:avLst>
          </a:prstGeom>
          <a:solidFill>
            <a:srgbClr val="C84C3A"/>
          </a:solidFill>
          <a:ln w="0">
            <a:noFill/>
            <a:prstDash val="solid"/>
          </a:ln>
        </p:spPr>
      </p:sp>
      <p:sp>
        <p:nvSpPr>
          <p:cNvPr id="49" name="Rectangles 48"/>
          <p:cNvSpPr>
            <a:spLocks noGrp="1"/>
          </p:cNvSpPr>
          <p:nvPr/>
        </p:nvSpPr>
        <p:spPr>
          <a:xfrm>
            <a:off x="7753350" y="4000500"/>
            <a:ext cx="3390900" cy="266700"/>
          </a:xfrm>
          <a:prstGeom prst="rect">
            <a:avLst/>
          </a:prstGeom>
        </p:spPr>
        <p:txBody>
          <a:bodyPr lIns="0" tIns="0" rIns="0" bIns="0">
            <a:normAutofit/>
          </a:bodyPr>
          <a:lstStyle/>
          <a:p>
            <a:pPr algn="l">
              <a:defRPr sz="1350" b="1" i="0">
                <a:solidFill>
                  <a:srgbClr val="16202A"/>
                </a:solidFill>
                <a:latin typeface="Aptos"/>
                <a:ea typeface="Aptos"/>
                <a:cs typeface="Aptos"/>
              </a:defRPr>
            </a:pPr>
            <a:r>
              <a:t>Interpretation</a:t>
            </a:r>
          </a:p>
        </p:txBody>
      </p:sp>
      <p:sp>
        <p:nvSpPr>
          <p:cNvPr id="50" name="Rectangles 49"/>
          <p:cNvSpPr>
            <a:spLocks noGrp="1"/>
          </p:cNvSpPr>
          <p:nvPr/>
        </p:nvSpPr>
        <p:spPr>
          <a:xfrm>
            <a:off x="7753350" y="4324350"/>
            <a:ext cx="3390900" cy="457200"/>
          </a:xfrm>
          <a:prstGeom prst="rect">
            <a:avLst/>
          </a:prstGeom>
        </p:spPr>
        <p:txBody>
          <a:bodyPr lIns="0" tIns="0" rIns="0" bIns="0">
            <a:normAutofit fontScale="88889"/>
          </a:bodyPr>
          <a:lstStyle/>
          <a:p>
            <a:pPr algn="l">
              <a:defRPr sz="1125" b="0" i="0">
                <a:solidFill>
                  <a:srgbClr val="536170"/>
                </a:solidFill>
                <a:latin typeface="Aptos"/>
                <a:ea typeface="Aptos"/>
                <a:cs typeface="Aptos"/>
              </a:defRPr>
            </a:pPr>
            <a:r>
              <a:t>Pre-trend and event-study checks are a strength of the workflow, but they do not justify a final strong causal impact estimate.</a:t>
            </a:r>
          </a:p>
        </p:txBody>
      </p:sp>
      <p:sp>
        <p:nvSpPr>
          <p:cNvPr id="51" name="Rounded Rectangle 50"/>
          <p:cNvSpPr>
            <a:spLocks noGrp="1"/>
          </p:cNvSpPr>
          <p:nvPr/>
        </p:nvSpPr>
        <p:spPr>
          <a:xfrm>
            <a:off x="7429500" y="5067300"/>
            <a:ext cx="3905250" cy="685800"/>
          </a:xfrm>
          <a:prstGeom prst="roundRect">
            <a:avLst>
              <a:gd name="adj" fmla="val 11111"/>
            </a:avLst>
          </a:prstGeom>
          <a:solidFill>
            <a:srgbClr val="FFFFFF"/>
          </a:solidFill>
          <a:ln w="0">
            <a:noFill/>
            <a:prstDash val="solid"/>
          </a:ln>
        </p:spPr>
      </p:sp>
      <p:sp>
        <p:nvSpPr>
          <p:cNvPr id="52" name="Rounded Rectangle 51"/>
          <p:cNvSpPr>
            <a:spLocks noGrp="1"/>
          </p:cNvSpPr>
          <p:nvPr/>
        </p:nvSpPr>
        <p:spPr>
          <a:xfrm>
            <a:off x="7562850" y="5181600"/>
            <a:ext cx="66675" cy="457200"/>
          </a:xfrm>
          <a:prstGeom prst="roundRect">
            <a:avLst>
              <a:gd name="adj" fmla="val 50000"/>
            </a:avLst>
          </a:prstGeom>
          <a:solidFill>
            <a:srgbClr val="1F6F8B"/>
          </a:solidFill>
          <a:ln w="0">
            <a:noFill/>
            <a:prstDash val="solid"/>
          </a:ln>
        </p:spPr>
      </p:sp>
      <p:sp>
        <p:nvSpPr>
          <p:cNvPr id="53" name="Rectangles 52"/>
          <p:cNvSpPr>
            <a:spLocks noGrp="1"/>
          </p:cNvSpPr>
          <p:nvPr/>
        </p:nvSpPr>
        <p:spPr>
          <a:xfrm>
            <a:off x="7753350" y="5238750"/>
            <a:ext cx="3390900" cy="266700"/>
          </a:xfrm>
          <a:prstGeom prst="rect">
            <a:avLst/>
          </a:prstGeom>
        </p:spPr>
        <p:txBody>
          <a:bodyPr lIns="0" tIns="0" rIns="0" bIns="0">
            <a:normAutofit/>
          </a:bodyPr>
          <a:lstStyle/>
          <a:p>
            <a:pPr algn="l">
              <a:defRPr sz="1350" b="1" i="0">
                <a:solidFill>
                  <a:srgbClr val="16202A"/>
                </a:solidFill>
                <a:latin typeface="Aptos"/>
                <a:ea typeface="Aptos"/>
                <a:cs typeface="Aptos"/>
              </a:defRPr>
            </a:pPr>
            <a:r>
              <a:t>Defensible label</a:t>
            </a:r>
          </a:p>
        </p:txBody>
      </p:sp>
      <p:sp>
        <p:nvSpPr>
          <p:cNvPr id="54" name="Rectangles 53"/>
          <p:cNvSpPr>
            <a:spLocks noGrp="1"/>
          </p:cNvSpPr>
          <p:nvPr/>
        </p:nvSpPr>
        <p:spPr>
          <a:xfrm>
            <a:off x="7753350" y="5562600"/>
            <a:ext cx="3390900" cy="76200"/>
          </a:xfrm>
          <a:prstGeom prst="rect">
            <a:avLst/>
          </a:prstGeom>
        </p:spPr>
        <p:txBody>
          <a:bodyPr lIns="0" tIns="0" rIns="0" bIns="0">
            <a:normAutofit fontScale="44444"/>
          </a:bodyPr>
          <a:lstStyle/>
          <a:p>
            <a:pPr algn="l">
              <a:defRPr sz="1125" b="0" i="0">
                <a:solidFill>
                  <a:srgbClr val="536170"/>
                </a:solidFill>
                <a:latin typeface="Aptos"/>
                <a:ea typeface="Aptos"/>
                <a:cs typeface="Aptos"/>
              </a:defRPr>
            </a:pPr>
            <a:r>
              <a:t>Exploratory matched-control interrupted time-series analysis with diagnostics.</a:t>
            </a:r>
          </a:p>
        </p:txBody>
      </p:sp>
      <p:sp>
        <p:nvSpPr>
          <p:cNvPr id="56" name="Rectangles 55"/>
          <p:cNvSpPr>
            <a:spLocks noGrp="1"/>
          </p:cNvSpPr>
          <p:nvPr/>
        </p:nvSpPr>
        <p:spPr>
          <a:xfrm>
            <a:off x="11239500" y="6419850"/>
            <a:ext cx="381000" cy="228600"/>
          </a:xfrm>
          <a:prstGeom prst="rect">
            <a:avLst/>
          </a:prstGeom>
        </p:spPr>
        <p:txBody>
          <a:bodyPr lIns="0" tIns="0" rIns="0" bIns="0">
            <a:normAutofit/>
          </a:bodyPr>
          <a:lstStyle/>
          <a:p>
            <a:pPr algn="r">
              <a:defRPr sz="900" b="0" i="0">
                <a:solidFill>
                  <a:srgbClr val="7B8794"/>
                </a:solidFill>
                <a:latin typeface="Aptos"/>
                <a:ea typeface="Aptos"/>
                <a:cs typeface="Aptos"/>
              </a:defRPr>
            </a:pPr>
            <a:r>
              <a:t>08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s 1"/>
          <p:cNvSpPr>
            <a:spLocks noGrp="1"/>
          </p:cNvSpPr>
          <p:nvPr/>
        </p:nvSpPr>
        <p:spPr>
          <a:xfrm>
            <a:off x="0" y="0"/>
            <a:ext cx="12192000" cy="6858000"/>
          </a:xfrm>
          <a:prstGeom prst="rect">
            <a:avLst/>
          </a:prstGeom>
          <a:solidFill>
            <a:srgbClr val="FAFBFB"/>
          </a:solidFill>
          <a:ln w="0">
            <a:noFill/>
            <a:prstDash val="solid"/>
          </a:ln>
        </p:spPr>
      </p:sp>
      <p:sp>
        <p:nvSpPr>
          <p:cNvPr id="3" name="Rectangles 2"/>
          <p:cNvSpPr>
            <a:spLocks noGrp="1"/>
          </p:cNvSpPr>
          <p:nvPr/>
        </p:nvSpPr>
        <p:spPr>
          <a:xfrm>
            <a:off x="609600" y="342900"/>
            <a:ext cx="7048500" cy="266700"/>
          </a:xfrm>
          <a:prstGeom prst="rect">
            <a:avLst/>
          </a:prstGeom>
        </p:spPr>
        <p:txBody>
          <a:bodyPr lIns="0" tIns="0" rIns="0" bIns="0">
            <a:normAutofit/>
          </a:bodyPr>
          <a:lstStyle/>
          <a:p>
            <a:pPr algn="l">
              <a:defRPr sz="1125" b="1" i="0">
                <a:solidFill>
                  <a:srgbClr val="1F6F8B"/>
                </a:solidFill>
                <a:latin typeface="Aptos"/>
                <a:ea typeface="Aptos"/>
                <a:cs typeface="Aptos"/>
              </a:defRPr>
            </a:pPr>
            <a:r>
              <a:t>DESCRIPTIVE ANALYSIS</a:t>
            </a:r>
          </a:p>
        </p:txBody>
      </p:sp>
      <p:sp>
        <p:nvSpPr>
          <p:cNvPr id="4" name="Rectangles 3"/>
          <p:cNvSpPr>
            <a:spLocks noGrp="1"/>
          </p:cNvSpPr>
          <p:nvPr/>
        </p:nvSpPr>
        <p:spPr>
          <a:xfrm>
            <a:off x="609600" y="666750"/>
            <a:ext cx="8191500" cy="838200"/>
          </a:xfrm>
          <a:prstGeom prst="rect">
            <a:avLst/>
          </a:prstGeom>
        </p:spPr>
        <p:txBody>
          <a:bodyPr lIns="0" tIns="0" rIns="0" bIns="0">
            <a:normAutofit fontScale="91667"/>
          </a:bodyPr>
          <a:lstStyle/>
          <a:p>
            <a:pPr algn="l">
              <a:defRPr sz="3000" b="1" i="0">
                <a:solidFill>
                  <a:srgbClr val="16202A"/>
                </a:solidFill>
                <a:latin typeface="Aptos"/>
                <a:ea typeface="Aptos"/>
                <a:cs typeface="Aptos"/>
              </a:defRPr>
            </a:pPr>
            <a:r>
              <a:t>Observed trends should be split by mode and route type</a:t>
            </a:r>
          </a:p>
        </p:txBody>
      </p:sp>
      <p:sp>
        <p:nvSpPr>
          <p:cNvPr id="5" name="Rectangles 4"/>
          <p:cNvSpPr>
            <a:spLocks noGrp="1"/>
          </p:cNvSpPr>
          <p:nvPr/>
        </p:nvSpPr>
        <p:spPr>
          <a:xfrm>
            <a:off x="609600" y="1466850"/>
            <a:ext cx="8858250" cy="457200"/>
          </a:xfrm>
          <a:prstGeom prst="rect">
            <a:avLst/>
          </a:prstGeom>
        </p:spPr>
        <p:txBody>
          <a:bodyPr lIns="0" tIns="0" rIns="0" bIns="0">
            <a:normAutofit/>
          </a:bodyPr>
          <a:lstStyle/>
          <a:p>
            <a:pPr algn="l">
              <a:defRPr sz="1350" b="0" i="0">
                <a:solidFill>
                  <a:srgbClr val="536170"/>
                </a:solidFill>
                <a:latin typeface="Aptos"/>
                <a:ea typeface="Aptos"/>
                <a:cs typeface="Aptos"/>
              </a:defRPr>
            </a:pPr>
            <a:r>
              <a:t>Descriptive analysis supports interpretation even where causal modelling is not defensible.</a:t>
            </a:r>
          </a:p>
        </p:txBody>
      </p:sp>
      <p:pic>
        <p:nvPicPr>
          <p:cNvPr id="6" name="Picture 5"/>
          <p:cNvPicPr>
            <a:picLocks noChangeAspect="1"/>
          </p:cNvPicPr>
          <p:nvPr/>
        </p:nvPicPr>
        <p:blipFill>
          <a:blip r:embed="rId1"/>
          <a:stretch>
            <a:fillRect/>
          </a:stretch>
        </p:blipFill>
        <p:spPr>
          <a:xfrm>
            <a:off x="609600" y="1771650"/>
            <a:ext cx="6191250" cy="4476750"/>
          </a:xfrm>
          <a:prstGeom prst="rect">
            <a:avLst/>
          </a:prstGeom>
        </p:spPr>
      </p:pic>
      <p:sp>
        <p:nvSpPr>
          <p:cNvPr id="7" name="Rounded Rectangle 6"/>
          <p:cNvSpPr>
            <a:spLocks noGrp="1"/>
          </p:cNvSpPr>
          <p:nvPr/>
        </p:nvSpPr>
        <p:spPr>
          <a:xfrm>
            <a:off x="7239000" y="1924050"/>
            <a:ext cx="3543300" cy="914400"/>
          </a:xfrm>
          <a:prstGeom prst="roundRect">
            <a:avLst>
              <a:gd name="adj" fmla="val 8333"/>
            </a:avLst>
          </a:prstGeom>
          <a:solidFill>
            <a:srgbClr val="FFFFFF"/>
          </a:solidFill>
          <a:ln w="0">
            <a:noFill/>
            <a:prstDash val="solid"/>
          </a:ln>
        </p:spPr>
      </p:sp>
      <p:sp>
        <p:nvSpPr>
          <p:cNvPr id="8" name="Rounded Rectangle 7"/>
          <p:cNvSpPr>
            <a:spLocks noGrp="1"/>
          </p:cNvSpPr>
          <p:nvPr/>
        </p:nvSpPr>
        <p:spPr>
          <a:xfrm>
            <a:off x="7372350" y="2038350"/>
            <a:ext cx="66675" cy="685800"/>
          </a:xfrm>
          <a:prstGeom prst="roundRect">
            <a:avLst>
              <a:gd name="adj" fmla="val 50000"/>
            </a:avLst>
          </a:prstGeom>
          <a:solidFill>
            <a:srgbClr val="1F6F8B"/>
          </a:solidFill>
          <a:ln w="0">
            <a:noFill/>
            <a:prstDash val="solid"/>
          </a:ln>
        </p:spPr>
      </p:sp>
      <p:sp>
        <p:nvSpPr>
          <p:cNvPr id="9" name="Rectangles 8"/>
          <p:cNvSpPr>
            <a:spLocks noGrp="1"/>
          </p:cNvSpPr>
          <p:nvPr/>
        </p:nvSpPr>
        <p:spPr>
          <a:xfrm>
            <a:off x="7562850" y="2095500"/>
            <a:ext cx="3028950" cy="266700"/>
          </a:xfrm>
          <a:prstGeom prst="rect">
            <a:avLst/>
          </a:prstGeom>
        </p:spPr>
        <p:txBody>
          <a:bodyPr lIns="0" tIns="0" rIns="0" bIns="0">
            <a:normAutofit/>
          </a:bodyPr>
          <a:lstStyle/>
          <a:p>
            <a:pPr algn="l">
              <a:defRPr sz="1350" b="1" i="0">
                <a:solidFill>
                  <a:srgbClr val="16202A"/>
                </a:solidFill>
                <a:latin typeface="Aptos"/>
                <a:ea typeface="Aptos"/>
                <a:cs typeface="Aptos"/>
              </a:defRPr>
            </a:pPr>
            <a:r>
              <a:t>Trend plots</a:t>
            </a:r>
          </a:p>
        </p:txBody>
      </p:sp>
      <p:sp>
        <p:nvSpPr>
          <p:cNvPr id="10" name="Rectangles 9"/>
          <p:cNvSpPr>
            <a:spLocks noGrp="1"/>
          </p:cNvSpPr>
          <p:nvPr/>
        </p:nvSpPr>
        <p:spPr>
          <a:xfrm>
            <a:off x="7562850" y="2419350"/>
            <a:ext cx="3028950" cy="304800"/>
          </a:xfrm>
          <a:prstGeom prst="rect">
            <a:avLst/>
          </a:prstGeom>
        </p:spPr>
        <p:txBody>
          <a:bodyPr lIns="0" tIns="0" rIns="0" bIns="0">
            <a:normAutofit fontScale="88889"/>
          </a:bodyPr>
          <a:lstStyle/>
          <a:p>
            <a:pPr algn="l">
              <a:defRPr sz="1125" b="0" i="0">
                <a:solidFill>
                  <a:srgbClr val="536170"/>
                </a:solidFill>
                <a:latin typeface="Aptos"/>
                <a:ea typeface="Aptos"/>
                <a:cs typeface="Aptos"/>
              </a:defRPr>
            </a:pPr>
            <a:r>
              <a:t>Weekly and monthly trends by scheme, role, pedestrian/cyclist mode, and road/path route type.</a:t>
            </a:r>
          </a:p>
        </p:txBody>
      </p:sp>
      <p:sp>
        <p:nvSpPr>
          <p:cNvPr id="11" name="Rounded Rectangle 10"/>
          <p:cNvSpPr>
            <a:spLocks noGrp="1"/>
          </p:cNvSpPr>
          <p:nvPr/>
        </p:nvSpPr>
        <p:spPr>
          <a:xfrm>
            <a:off x="7239000" y="3028950"/>
            <a:ext cx="3543300" cy="914400"/>
          </a:xfrm>
          <a:prstGeom prst="roundRect">
            <a:avLst>
              <a:gd name="adj" fmla="val 8333"/>
            </a:avLst>
          </a:prstGeom>
          <a:solidFill>
            <a:srgbClr val="FFFFFF"/>
          </a:solidFill>
          <a:ln w="0">
            <a:noFill/>
            <a:prstDash val="solid"/>
          </a:ln>
        </p:spPr>
      </p:sp>
      <p:sp>
        <p:nvSpPr>
          <p:cNvPr id="12" name="Rounded Rectangle 11"/>
          <p:cNvSpPr>
            <a:spLocks noGrp="1"/>
          </p:cNvSpPr>
          <p:nvPr/>
        </p:nvSpPr>
        <p:spPr>
          <a:xfrm>
            <a:off x="7372350" y="3143250"/>
            <a:ext cx="66675" cy="685800"/>
          </a:xfrm>
          <a:prstGeom prst="roundRect">
            <a:avLst>
              <a:gd name="adj" fmla="val 50000"/>
            </a:avLst>
          </a:prstGeom>
          <a:solidFill>
            <a:srgbClr val="2A9D8F"/>
          </a:solidFill>
          <a:ln w="0">
            <a:noFill/>
            <a:prstDash val="solid"/>
          </a:ln>
        </p:spPr>
      </p:sp>
      <p:sp>
        <p:nvSpPr>
          <p:cNvPr id="13" name="Rectangles 12"/>
          <p:cNvSpPr>
            <a:spLocks noGrp="1"/>
          </p:cNvSpPr>
          <p:nvPr/>
        </p:nvSpPr>
        <p:spPr>
          <a:xfrm>
            <a:off x="7562850" y="3200400"/>
            <a:ext cx="3028950" cy="266700"/>
          </a:xfrm>
          <a:prstGeom prst="rect">
            <a:avLst/>
          </a:prstGeom>
        </p:spPr>
        <p:txBody>
          <a:bodyPr lIns="0" tIns="0" rIns="0" bIns="0">
            <a:normAutofit/>
          </a:bodyPr>
          <a:lstStyle/>
          <a:p>
            <a:pPr algn="l">
              <a:defRPr sz="1350" b="1" i="0">
                <a:solidFill>
                  <a:srgbClr val="16202A"/>
                </a:solidFill>
                <a:latin typeface="Aptos"/>
                <a:ea typeface="Aptos"/>
                <a:cs typeface="Aptos"/>
              </a:defRPr>
            </a:pPr>
            <a:r>
              <a:t>Route-type checks</a:t>
            </a:r>
          </a:p>
        </p:txBody>
      </p:sp>
      <p:sp>
        <p:nvSpPr>
          <p:cNvPr id="14" name="Rectangles 13"/>
          <p:cNvSpPr>
            <a:spLocks noGrp="1"/>
          </p:cNvSpPr>
          <p:nvPr/>
        </p:nvSpPr>
        <p:spPr>
          <a:xfrm>
            <a:off x="7562850" y="3524250"/>
            <a:ext cx="3028950" cy="304800"/>
          </a:xfrm>
          <a:prstGeom prst="rect">
            <a:avLst/>
          </a:prstGeom>
        </p:spPr>
        <p:txBody>
          <a:bodyPr lIns="0" tIns="0" rIns="0" bIns="0">
            <a:normAutofit fontScale="88889"/>
          </a:bodyPr>
          <a:lstStyle/>
          <a:p>
            <a:pPr algn="l">
              <a:defRPr sz="1125" b="0" i="0">
                <a:solidFill>
                  <a:srgbClr val="536170"/>
                </a:solidFill>
                <a:latin typeface="Aptos"/>
                <a:ea typeface="Aptos"/>
                <a:cs typeface="Aptos"/>
              </a:defRPr>
            </a:pPr>
            <a:r>
              <a:t>Road versus path/cycle-facility patterns should be analysed separately to identify redistribution or facility-specific differences.</a:t>
            </a:r>
          </a:p>
        </p:txBody>
      </p:sp>
      <p:sp>
        <p:nvSpPr>
          <p:cNvPr id="15" name="Rounded Rectangle 14"/>
          <p:cNvSpPr>
            <a:spLocks noGrp="1"/>
          </p:cNvSpPr>
          <p:nvPr/>
        </p:nvSpPr>
        <p:spPr>
          <a:xfrm>
            <a:off x="7239000" y="4133850"/>
            <a:ext cx="3543300" cy="914400"/>
          </a:xfrm>
          <a:prstGeom prst="roundRect">
            <a:avLst>
              <a:gd name="adj" fmla="val 8333"/>
            </a:avLst>
          </a:prstGeom>
          <a:solidFill>
            <a:srgbClr val="FFFFFF"/>
          </a:solidFill>
          <a:ln w="0">
            <a:noFill/>
            <a:prstDash val="solid"/>
          </a:ln>
        </p:spPr>
      </p:sp>
      <p:sp>
        <p:nvSpPr>
          <p:cNvPr id="16" name="Rounded Rectangle 15"/>
          <p:cNvSpPr>
            <a:spLocks noGrp="1"/>
          </p:cNvSpPr>
          <p:nvPr/>
        </p:nvSpPr>
        <p:spPr>
          <a:xfrm>
            <a:off x="7372350" y="4248150"/>
            <a:ext cx="66675" cy="685800"/>
          </a:xfrm>
          <a:prstGeom prst="roundRect">
            <a:avLst>
              <a:gd name="adj" fmla="val 50000"/>
            </a:avLst>
          </a:prstGeom>
          <a:solidFill>
            <a:srgbClr val="E9C46A"/>
          </a:solidFill>
          <a:ln w="0">
            <a:noFill/>
            <a:prstDash val="solid"/>
          </a:ln>
        </p:spPr>
      </p:sp>
      <p:sp>
        <p:nvSpPr>
          <p:cNvPr id="17" name="Rectangles 16"/>
          <p:cNvSpPr>
            <a:spLocks noGrp="1"/>
          </p:cNvSpPr>
          <p:nvPr/>
        </p:nvSpPr>
        <p:spPr>
          <a:xfrm>
            <a:off x="7562850" y="4305300"/>
            <a:ext cx="3028950" cy="266700"/>
          </a:xfrm>
          <a:prstGeom prst="rect">
            <a:avLst/>
          </a:prstGeom>
        </p:spPr>
        <p:txBody>
          <a:bodyPr lIns="0" tIns="0" rIns="0" bIns="0">
            <a:normAutofit/>
          </a:bodyPr>
          <a:lstStyle/>
          <a:p>
            <a:pPr algn="l">
              <a:defRPr sz="1350" b="1" i="0">
                <a:solidFill>
                  <a:srgbClr val="16202A"/>
                </a:solidFill>
                <a:latin typeface="Aptos"/>
                <a:ea typeface="Aptos"/>
                <a:cs typeface="Aptos"/>
              </a:defRPr>
            </a:pPr>
            <a:r>
              <a:t>Seasonality</a:t>
            </a:r>
          </a:p>
        </p:txBody>
      </p:sp>
      <p:sp>
        <p:nvSpPr>
          <p:cNvPr id="18" name="Rectangles 17"/>
          <p:cNvSpPr>
            <a:spLocks noGrp="1"/>
          </p:cNvSpPr>
          <p:nvPr/>
        </p:nvSpPr>
        <p:spPr>
          <a:xfrm>
            <a:off x="7562850" y="4629150"/>
            <a:ext cx="3028950" cy="304800"/>
          </a:xfrm>
          <a:prstGeom prst="rect">
            <a:avLst/>
          </a:prstGeom>
        </p:spPr>
        <p:txBody>
          <a:bodyPr lIns="0" tIns="0" rIns="0" bIns="0">
            <a:normAutofit fontScale="88889"/>
          </a:bodyPr>
          <a:lstStyle/>
          <a:p>
            <a:pPr algn="l">
              <a:defRPr sz="1125" b="0" i="0">
                <a:solidFill>
                  <a:srgbClr val="536170"/>
                </a:solidFill>
                <a:latin typeface="Aptos"/>
                <a:ea typeface="Aptos"/>
                <a:cs typeface="Aptos"/>
              </a:defRPr>
            </a:pPr>
            <a:r>
              <a:t>Monthly profiles separate seasonal cycling/walking variation from possible scheme timing.</a:t>
            </a:r>
          </a:p>
        </p:txBody>
      </p:sp>
      <p:sp>
        <p:nvSpPr>
          <p:cNvPr id="19" name="Rounded Rectangle 18"/>
          <p:cNvSpPr>
            <a:spLocks noGrp="1"/>
          </p:cNvSpPr>
          <p:nvPr/>
        </p:nvSpPr>
        <p:spPr>
          <a:xfrm>
            <a:off x="7239000" y="5238750"/>
            <a:ext cx="3543300" cy="914400"/>
          </a:xfrm>
          <a:prstGeom prst="roundRect">
            <a:avLst>
              <a:gd name="adj" fmla="val 8333"/>
            </a:avLst>
          </a:prstGeom>
          <a:solidFill>
            <a:srgbClr val="FFFFFF"/>
          </a:solidFill>
          <a:ln w="0">
            <a:noFill/>
            <a:prstDash val="solid"/>
          </a:ln>
        </p:spPr>
      </p:sp>
      <p:sp>
        <p:nvSpPr>
          <p:cNvPr id="20" name="Rounded Rectangle 19"/>
          <p:cNvSpPr>
            <a:spLocks noGrp="1"/>
          </p:cNvSpPr>
          <p:nvPr/>
        </p:nvSpPr>
        <p:spPr>
          <a:xfrm>
            <a:off x="7372350" y="5353050"/>
            <a:ext cx="66675" cy="685800"/>
          </a:xfrm>
          <a:prstGeom prst="roundRect">
            <a:avLst>
              <a:gd name="adj" fmla="val 50000"/>
            </a:avLst>
          </a:prstGeom>
          <a:solidFill>
            <a:srgbClr val="3B8B5D"/>
          </a:solidFill>
          <a:ln w="0">
            <a:noFill/>
            <a:prstDash val="solid"/>
          </a:ln>
        </p:spPr>
      </p:sp>
      <p:sp>
        <p:nvSpPr>
          <p:cNvPr id="21" name="Rectangles 20"/>
          <p:cNvSpPr>
            <a:spLocks noGrp="1"/>
          </p:cNvSpPr>
          <p:nvPr/>
        </p:nvSpPr>
        <p:spPr>
          <a:xfrm>
            <a:off x="7562850" y="5410200"/>
            <a:ext cx="3028950" cy="266700"/>
          </a:xfrm>
          <a:prstGeom prst="rect">
            <a:avLst/>
          </a:prstGeom>
        </p:spPr>
        <p:txBody>
          <a:bodyPr lIns="0" tIns="0" rIns="0" bIns="0">
            <a:normAutofit/>
          </a:bodyPr>
          <a:lstStyle/>
          <a:p>
            <a:pPr algn="l">
              <a:defRPr sz="1350" b="1" i="0">
                <a:solidFill>
                  <a:srgbClr val="16202A"/>
                </a:solidFill>
                <a:latin typeface="Aptos"/>
                <a:ea typeface="Aptos"/>
                <a:cs typeface="Aptos"/>
              </a:defRPr>
            </a:pPr>
            <a:r>
              <a:t>Pre/post summaries</a:t>
            </a:r>
          </a:p>
        </p:txBody>
      </p:sp>
      <p:sp>
        <p:nvSpPr>
          <p:cNvPr id="22" name="Rectangles 21"/>
          <p:cNvSpPr>
            <a:spLocks noGrp="1"/>
          </p:cNvSpPr>
          <p:nvPr/>
        </p:nvSpPr>
        <p:spPr>
          <a:xfrm>
            <a:off x="7562850" y="5734050"/>
            <a:ext cx="3028950" cy="304800"/>
          </a:xfrm>
          <a:prstGeom prst="rect">
            <a:avLst/>
          </a:prstGeom>
        </p:spPr>
        <p:txBody>
          <a:bodyPr lIns="0" tIns="0" rIns="0" bIns="0">
            <a:normAutofit fontScale="74610"/>
          </a:bodyPr>
          <a:lstStyle/>
          <a:p>
            <a:pPr algn="l">
              <a:defRPr sz="1125" b="0" i="0">
                <a:solidFill>
                  <a:srgbClr val="536170"/>
                </a:solidFill>
                <a:latin typeface="Aptos"/>
                <a:ea typeface="Aptos"/>
                <a:cs typeface="Aptos"/>
              </a:defRPr>
            </a:pPr>
            <a:r>
              <a:t>Sensitivity-ready tables compare start-of-month, end-of-month, transition-exclusion, road-only, and path-only scenarios.</a:t>
            </a:r>
          </a:p>
        </p:txBody>
      </p:sp>
      <p:sp>
        <p:nvSpPr>
          <p:cNvPr id="24" name="Rectangles 23"/>
          <p:cNvSpPr>
            <a:spLocks noGrp="1"/>
          </p:cNvSpPr>
          <p:nvPr/>
        </p:nvSpPr>
        <p:spPr>
          <a:xfrm>
            <a:off x="11239500" y="6419850"/>
            <a:ext cx="381000" cy="228600"/>
          </a:xfrm>
          <a:prstGeom prst="rect">
            <a:avLst/>
          </a:prstGeom>
        </p:spPr>
        <p:txBody>
          <a:bodyPr lIns="0" tIns="0" rIns="0" bIns="0">
            <a:normAutofit/>
          </a:bodyPr>
          <a:lstStyle/>
          <a:p>
            <a:pPr algn="r">
              <a:defRPr sz="900" b="0" i="0">
                <a:solidFill>
                  <a:srgbClr val="7B8794"/>
                </a:solidFill>
                <a:latin typeface="Aptos"/>
                <a:ea typeface="Aptos"/>
                <a:cs typeface="Aptos"/>
              </a:defRPr>
            </a:pPr>
            <a:r>
              <a:t>09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s 1"/>
          <p:cNvSpPr>
            <a:spLocks noGrp="1"/>
          </p:cNvSpPr>
          <p:nvPr/>
        </p:nvSpPr>
        <p:spPr>
          <a:xfrm>
            <a:off x="0" y="0"/>
            <a:ext cx="12192000" cy="6858000"/>
          </a:xfrm>
          <a:prstGeom prst="rect">
            <a:avLst/>
          </a:prstGeom>
          <a:solidFill>
            <a:srgbClr val="FAFBFB"/>
          </a:solidFill>
          <a:ln w="0">
            <a:noFill/>
            <a:prstDash val="solid"/>
          </a:ln>
        </p:spPr>
      </p:sp>
      <p:sp>
        <p:nvSpPr>
          <p:cNvPr id="3" name="Rectangles 2"/>
          <p:cNvSpPr>
            <a:spLocks noGrp="1"/>
          </p:cNvSpPr>
          <p:nvPr/>
        </p:nvSpPr>
        <p:spPr>
          <a:xfrm>
            <a:off x="609600" y="342900"/>
            <a:ext cx="7048500" cy="266700"/>
          </a:xfrm>
          <a:prstGeom prst="rect">
            <a:avLst/>
          </a:prstGeom>
        </p:spPr>
        <p:txBody>
          <a:bodyPr lIns="0" tIns="0" rIns="0" bIns="0">
            <a:normAutofit/>
          </a:bodyPr>
          <a:lstStyle/>
          <a:p>
            <a:pPr algn="l">
              <a:defRPr sz="1125" b="1" i="0">
                <a:solidFill>
                  <a:srgbClr val="1F6F8B"/>
                </a:solidFill>
                <a:latin typeface="Aptos"/>
                <a:ea typeface="Aptos"/>
                <a:cs typeface="Aptos"/>
              </a:defRPr>
            </a:pPr>
            <a:r>
              <a:t>EXPLORATORY MODEL RESULTS</a:t>
            </a:r>
          </a:p>
        </p:txBody>
      </p:sp>
      <p:sp>
        <p:nvSpPr>
          <p:cNvPr id="4" name="Rectangles 3"/>
          <p:cNvSpPr>
            <a:spLocks noGrp="1"/>
          </p:cNvSpPr>
          <p:nvPr/>
        </p:nvSpPr>
        <p:spPr>
          <a:xfrm>
            <a:off x="609600" y="666750"/>
            <a:ext cx="8191500" cy="838200"/>
          </a:xfrm>
          <a:prstGeom prst="rect">
            <a:avLst/>
          </a:prstGeom>
        </p:spPr>
        <p:txBody>
          <a:bodyPr lIns="0" tIns="0" rIns="0" bIns="0">
            <a:normAutofit fontScale="91667"/>
          </a:bodyPr>
          <a:lstStyle/>
          <a:p>
            <a:pPr algn="l">
              <a:defRPr sz="3000" b="1" i="0">
                <a:solidFill>
                  <a:srgbClr val="16202A"/>
                </a:solidFill>
                <a:latin typeface="Aptos"/>
                <a:ea typeface="Aptos"/>
                <a:cs typeface="Aptos"/>
              </a:defRPr>
            </a:pPr>
            <a:r>
              <a:t>The next model run should separate pedestrian/cyclist and road/path outcomes</a:t>
            </a:r>
          </a:p>
        </p:txBody>
      </p:sp>
      <p:sp>
        <p:nvSpPr>
          <p:cNvPr id="5" name="Rectangles 4"/>
          <p:cNvSpPr>
            <a:spLocks noGrp="1"/>
          </p:cNvSpPr>
          <p:nvPr/>
        </p:nvSpPr>
        <p:spPr>
          <a:xfrm>
            <a:off x="609600" y="1466850"/>
            <a:ext cx="8858250" cy="457200"/>
          </a:xfrm>
          <a:prstGeom prst="rect">
            <a:avLst/>
          </a:prstGeom>
        </p:spPr>
        <p:txBody>
          <a:bodyPr lIns="0" tIns="0" rIns="0" bIns="0">
            <a:normAutofit/>
          </a:bodyPr>
          <a:lstStyle/>
          <a:p>
            <a:pPr algn="l">
              <a:defRPr sz="1350" b="0" i="0">
                <a:solidFill>
                  <a:srgbClr val="536170"/>
                </a:solidFill>
                <a:latin typeface="Aptos"/>
                <a:ea typeface="Aptos"/>
                <a:cs typeface="Aptos"/>
              </a:defRPr>
            </a:pPr>
            <a:r>
              <a:t>The current combined results are mixed; separating mode and route type may reveal clearer, more interpretable trajectories.</a:t>
            </a:r>
          </a:p>
        </p:txBody>
      </p:sp>
      <p:pic>
        <p:nvPicPr>
          <p:cNvPr id="6" name="Picture 5"/>
          <p:cNvPicPr>
            <a:picLocks noChangeAspect="1"/>
          </p:cNvPicPr>
          <p:nvPr/>
        </p:nvPicPr>
        <p:blipFill>
          <a:blip r:embed="rId1"/>
          <a:stretch>
            <a:fillRect/>
          </a:stretch>
        </p:blipFill>
        <p:spPr>
          <a:xfrm>
            <a:off x="837565" y="2057400"/>
            <a:ext cx="6191250" cy="4095750"/>
          </a:xfrm>
          <a:prstGeom prst="rect">
            <a:avLst/>
          </a:prstGeom>
        </p:spPr>
      </p:pic>
      <p:sp>
        <p:nvSpPr>
          <p:cNvPr id="7" name="Rounded Rectangle 6"/>
          <p:cNvSpPr>
            <a:spLocks noGrp="1"/>
          </p:cNvSpPr>
          <p:nvPr/>
        </p:nvSpPr>
        <p:spPr>
          <a:xfrm>
            <a:off x="7390765" y="2114550"/>
            <a:ext cx="3714750" cy="876300"/>
          </a:xfrm>
          <a:prstGeom prst="roundRect">
            <a:avLst>
              <a:gd name="adj" fmla="val 8696"/>
            </a:avLst>
          </a:prstGeom>
          <a:solidFill>
            <a:srgbClr val="FFFFFF"/>
          </a:solidFill>
          <a:ln w="0">
            <a:noFill/>
            <a:prstDash val="solid"/>
          </a:ln>
        </p:spPr>
      </p:sp>
      <p:sp>
        <p:nvSpPr>
          <p:cNvPr id="8" name="Rounded Rectangle 7"/>
          <p:cNvSpPr>
            <a:spLocks noGrp="1"/>
          </p:cNvSpPr>
          <p:nvPr/>
        </p:nvSpPr>
        <p:spPr>
          <a:xfrm>
            <a:off x="7524115" y="2228850"/>
            <a:ext cx="66675" cy="647700"/>
          </a:xfrm>
          <a:prstGeom prst="roundRect">
            <a:avLst>
              <a:gd name="adj" fmla="val 50000"/>
            </a:avLst>
          </a:prstGeom>
          <a:solidFill>
            <a:srgbClr val="C84C3A"/>
          </a:solidFill>
          <a:ln w="0">
            <a:noFill/>
            <a:prstDash val="solid"/>
          </a:ln>
        </p:spPr>
      </p:sp>
      <p:sp>
        <p:nvSpPr>
          <p:cNvPr id="9" name="Rectangles 8"/>
          <p:cNvSpPr>
            <a:spLocks noGrp="1"/>
          </p:cNvSpPr>
          <p:nvPr/>
        </p:nvSpPr>
        <p:spPr>
          <a:xfrm>
            <a:off x="7714615" y="2286000"/>
            <a:ext cx="3200400" cy="266700"/>
          </a:xfrm>
          <a:prstGeom prst="rect">
            <a:avLst/>
          </a:prstGeom>
        </p:spPr>
        <p:txBody>
          <a:bodyPr lIns="0" tIns="0" rIns="0" bIns="0">
            <a:normAutofit/>
          </a:bodyPr>
          <a:lstStyle/>
          <a:p>
            <a:pPr algn="l">
              <a:defRPr sz="1350" b="1" i="0">
                <a:solidFill>
                  <a:srgbClr val="16202A"/>
                </a:solidFill>
                <a:latin typeface="Aptos"/>
                <a:ea typeface="Aptos"/>
                <a:cs typeface="Aptos"/>
              </a:defRPr>
            </a:pPr>
            <a:r>
              <a:t>12d</a:t>
            </a:r>
          </a:p>
        </p:txBody>
      </p:sp>
      <p:sp>
        <p:nvSpPr>
          <p:cNvPr id="10" name="Rectangles 9"/>
          <p:cNvSpPr>
            <a:spLocks noGrp="1"/>
          </p:cNvSpPr>
          <p:nvPr/>
        </p:nvSpPr>
        <p:spPr>
          <a:xfrm>
            <a:off x="7714615" y="2609850"/>
            <a:ext cx="3200400" cy="266700"/>
          </a:xfrm>
          <a:prstGeom prst="rect">
            <a:avLst/>
          </a:prstGeom>
        </p:spPr>
        <p:txBody>
          <a:bodyPr lIns="0" tIns="0" rIns="0" bIns="0">
            <a:normAutofit fontScale="69843"/>
          </a:bodyPr>
          <a:lstStyle/>
          <a:p>
            <a:pPr algn="l">
              <a:defRPr sz="1125" b="0" i="0">
                <a:solidFill>
                  <a:srgbClr val="536170"/>
                </a:solidFill>
                <a:latin typeface="Aptos"/>
                <a:ea typeface="Aptos"/>
                <a:cs typeface="Aptos"/>
              </a:defRPr>
            </a:pPr>
            <a:r>
              <a:t>Cyclist slope is negative and statistically flagged: about -0.15% per week relative to controls. Active travel and pedestrian terms are unclear.</a:t>
            </a:r>
          </a:p>
        </p:txBody>
      </p:sp>
      <p:sp>
        <p:nvSpPr>
          <p:cNvPr id="11" name="Rounded Rectangle 10"/>
          <p:cNvSpPr>
            <a:spLocks noGrp="1"/>
          </p:cNvSpPr>
          <p:nvPr/>
        </p:nvSpPr>
        <p:spPr>
          <a:xfrm>
            <a:off x="7390765" y="3181350"/>
            <a:ext cx="3714750" cy="876300"/>
          </a:xfrm>
          <a:prstGeom prst="roundRect">
            <a:avLst>
              <a:gd name="adj" fmla="val 8696"/>
            </a:avLst>
          </a:prstGeom>
          <a:solidFill>
            <a:srgbClr val="FFFFFF"/>
          </a:solidFill>
          <a:ln w="0">
            <a:noFill/>
            <a:prstDash val="solid"/>
          </a:ln>
        </p:spPr>
      </p:sp>
      <p:sp>
        <p:nvSpPr>
          <p:cNvPr id="12" name="Rounded Rectangle 11"/>
          <p:cNvSpPr>
            <a:spLocks noGrp="1"/>
          </p:cNvSpPr>
          <p:nvPr/>
        </p:nvSpPr>
        <p:spPr>
          <a:xfrm>
            <a:off x="7524115" y="3295650"/>
            <a:ext cx="66675" cy="647700"/>
          </a:xfrm>
          <a:prstGeom prst="roundRect">
            <a:avLst>
              <a:gd name="adj" fmla="val 50000"/>
            </a:avLst>
          </a:prstGeom>
          <a:solidFill>
            <a:srgbClr val="C84C3A"/>
          </a:solidFill>
          <a:ln w="0">
            <a:noFill/>
            <a:prstDash val="solid"/>
          </a:ln>
        </p:spPr>
      </p:sp>
      <p:sp>
        <p:nvSpPr>
          <p:cNvPr id="13" name="Rectangles 12"/>
          <p:cNvSpPr>
            <a:spLocks noGrp="1"/>
          </p:cNvSpPr>
          <p:nvPr/>
        </p:nvSpPr>
        <p:spPr>
          <a:xfrm>
            <a:off x="7714615" y="3352800"/>
            <a:ext cx="3200400" cy="266700"/>
          </a:xfrm>
          <a:prstGeom prst="rect">
            <a:avLst/>
          </a:prstGeom>
        </p:spPr>
        <p:txBody>
          <a:bodyPr lIns="0" tIns="0" rIns="0" bIns="0">
            <a:normAutofit/>
          </a:bodyPr>
          <a:lstStyle/>
          <a:p>
            <a:pPr algn="l">
              <a:defRPr sz="1350" b="1" i="0">
                <a:solidFill>
                  <a:srgbClr val="16202A"/>
                </a:solidFill>
                <a:latin typeface="Aptos"/>
                <a:ea typeface="Aptos"/>
                <a:cs typeface="Aptos"/>
              </a:defRPr>
            </a:pPr>
            <a:r>
              <a:t>12f</a:t>
            </a:r>
          </a:p>
        </p:txBody>
      </p:sp>
      <p:sp>
        <p:nvSpPr>
          <p:cNvPr id="14" name="Rectangles 13"/>
          <p:cNvSpPr>
            <a:spLocks noGrp="1"/>
          </p:cNvSpPr>
          <p:nvPr/>
        </p:nvSpPr>
        <p:spPr>
          <a:xfrm>
            <a:off x="7714615" y="3676650"/>
            <a:ext cx="3200400" cy="266700"/>
          </a:xfrm>
          <a:prstGeom prst="rect">
            <a:avLst/>
          </a:prstGeom>
        </p:spPr>
        <p:txBody>
          <a:bodyPr lIns="0" tIns="0" rIns="0" bIns="0">
            <a:normAutofit fontScale="72783"/>
          </a:bodyPr>
          <a:lstStyle/>
          <a:p>
            <a:pPr algn="l">
              <a:defRPr sz="1125" b="0" i="0">
                <a:solidFill>
                  <a:srgbClr val="536170"/>
                </a:solidFill>
                <a:latin typeface="Aptos"/>
                <a:ea typeface="Aptos"/>
                <a:cs typeface="Aptos"/>
              </a:defRPr>
            </a:pPr>
            <a:r>
              <a:t>Active travel slope is negative and statistically flagged: about -0.11% per week. Pedestrian and cyclist terms are negative but uncertain.</a:t>
            </a:r>
          </a:p>
        </p:txBody>
      </p:sp>
      <p:sp>
        <p:nvSpPr>
          <p:cNvPr id="15" name="Rounded Rectangle 14"/>
          <p:cNvSpPr>
            <a:spLocks noGrp="1"/>
          </p:cNvSpPr>
          <p:nvPr/>
        </p:nvSpPr>
        <p:spPr>
          <a:xfrm>
            <a:off x="7390765" y="4248150"/>
            <a:ext cx="3714750" cy="876300"/>
          </a:xfrm>
          <a:prstGeom prst="roundRect">
            <a:avLst>
              <a:gd name="adj" fmla="val 8696"/>
            </a:avLst>
          </a:prstGeom>
          <a:solidFill>
            <a:srgbClr val="FFFFFF"/>
          </a:solidFill>
          <a:ln w="0">
            <a:noFill/>
            <a:prstDash val="solid"/>
          </a:ln>
        </p:spPr>
      </p:sp>
      <p:sp>
        <p:nvSpPr>
          <p:cNvPr id="16" name="Rounded Rectangle 15"/>
          <p:cNvSpPr>
            <a:spLocks noGrp="1"/>
          </p:cNvSpPr>
          <p:nvPr/>
        </p:nvSpPr>
        <p:spPr>
          <a:xfrm>
            <a:off x="7524115" y="4362450"/>
            <a:ext cx="66675" cy="647700"/>
          </a:xfrm>
          <a:prstGeom prst="roundRect">
            <a:avLst>
              <a:gd name="adj" fmla="val 50000"/>
            </a:avLst>
          </a:prstGeom>
          <a:solidFill>
            <a:srgbClr val="E9C46A"/>
          </a:solidFill>
          <a:ln w="0">
            <a:noFill/>
            <a:prstDash val="solid"/>
          </a:ln>
        </p:spPr>
      </p:sp>
      <p:sp>
        <p:nvSpPr>
          <p:cNvPr id="17" name="Rectangles 16"/>
          <p:cNvSpPr>
            <a:spLocks noGrp="1"/>
          </p:cNvSpPr>
          <p:nvPr/>
        </p:nvSpPr>
        <p:spPr>
          <a:xfrm>
            <a:off x="7714615" y="4419600"/>
            <a:ext cx="3200400" cy="266700"/>
          </a:xfrm>
          <a:prstGeom prst="rect">
            <a:avLst/>
          </a:prstGeom>
        </p:spPr>
        <p:txBody>
          <a:bodyPr lIns="0" tIns="0" rIns="0" bIns="0">
            <a:normAutofit/>
          </a:bodyPr>
          <a:lstStyle/>
          <a:p>
            <a:pPr algn="l">
              <a:defRPr sz="1350" b="1" i="0">
                <a:solidFill>
                  <a:srgbClr val="16202A"/>
                </a:solidFill>
                <a:latin typeface="Aptos"/>
                <a:ea typeface="Aptos"/>
                <a:cs typeface="Aptos"/>
              </a:defRPr>
            </a:pPr>
            <a:r>
              <a:t>13</a:t>
            </a:r>
          </a:p>
        </p:txBody>
      </p:sp>
      <p:sp>
        <p:nvSpPr>
          <p:cNvPr id="18" name="Rectangles 17"/>
          <p:cNvSpPr>
            <a:spLocks noGrp="1"/>
          </p:cNvSpPr>
          <p:nvPr/>
        </p:nvSpPr>
        <p:spPr>
          <a:xfrm>
            <a:off x="7714615" y="4743450"/>
            <a:ext cx="3200400" cy="266700"/>
          </a:xfrm>
          <a:prstGeom prst="rect">
            <a:avLst/>
          </a:prstGeom>
        </p:spPr>
        <p:txBody>
          <a:bodyPr lIns="0" tIns="0" rIns="0" bIns="0">
            <a:normAutofit fontScale="77778"/>
          </a:bodyPr>
          <a:lstStyle/>
          <a:p>
            <a:pPr algn="l">
              <a:defRPr sz="1125" b="0" i="0">
                <a:solidFill>
                  <a:srgbClr val="536170"/>
                </a:solidFill>
                <a:latin typeface="Aptos"/>
                <a:ea typeface="Aptos"/>
                <a:cs typeface="Aptos"/>
              </a:defRPr>
            </a:pPr>
            <a:r>
              <a:t>Immediate level changes are negative but uncertain. Post-intervention slope terms are not statistically clear.</a:t>
            </a:r>
          </a:p>
        </p:txBody>
      </p:sp>
      <p:sp>
        <p:nvSpPr>
          <p:cNvPr id="19" name="Rounded Rectangle 18"/>
          <p:cNvSpPr>
            <a:spLocks noGrp="1"/>
          </p:cNvSpPr>
          <p:nvPr/>
        </p:nvSpPr>
        <p:spPr>
          <a:xfrm>
            <a:off x="7390765" y="5314950"/>
            <a:ext cx="3714750" cy="762000"/>
          </a:xfrm>
          <a:prstGeom prst="roundRect">
            <a:avLst>
              <a:gd name="adj" fmla="val 10000"/>
            </a:avLst>
          </a:prstGeom>
          <a:solidFill>
            <a:srgbClr val="FFFFFF"/>
          </a:solidFill>
          <a:ln w="0">
            <a:noFill/>
            <a:prstDash val="solid"/>
          </a:ln>
        </p:spPr>
      </p:sp>
      <p:sp>
        <p:nvSpPr>
          <p:cNvPr id="20" name="Rounded Rectangle 19"/>
          <p:cNvSpPr>
            <a:spLocks noGrp="1"/>
          </p:cNvSpPr>
          <p:nvPr/>
        </p:nvSpPr>
        <p:spPr>
          <a:xfrm>
            <a:off x="7524115" y="5429250"/>
            <a:ext cx="66675" cy="533400"/>
          </a:xfrm>
          <a:prstGeom prst="roundRect">
            <a:avLst>
              <a:gd name="adj" fmla="val 50000"/>
            </a:avLst>
          </a:prstGeom>
          <a:solidFill>
            <a:srgbClr val="1F6F8B"/>
          </a:solidFill>
          <a:ln w="0">
            <a:noFill/>
            <a:prstDash val="solid"/>
          </a:ln>
        </p:spPr>
      </p:sp>
      <p:sp>
        <p:nvSpPr>
          <p:cNvPr id="21" name="Rectangles 20"/>
          <p:cNvSpPr>
            <a:spLocks noGrp="1"/>
          </p:cNvSpPr>
          <p:nvPr/>
        </p:nvSpPr>
        <p:spPr>
          <a:xfrm>
            <a:off x="7714615" y="5486400"/>
            <a:ext cx="3200400" cy="266700"/>
          </a:xfrm>
          <a:prstGeom prst="rect">
            <a:avLst/>
          </a:prstGeom>
        </p:spPr>
        <p:txBody>
          <a:bodyPr lIns="0" tIns="0" rIns="0" bIns="0">
            <a:normAutofit/>
          </a:bodyPr>
          <a:lstStyle/>
          <a:p>
            <a:pPr algn="l">
              <a:defRPr sz="1350" b="1" i="0">
                <a:solidFill>
                  <a:srgbClr val="16202A"/>
                </a:solidFill>
                <a:latin typeface="Aptos"/>
                <a:ea typeface="Aptos"/>
                <a:cs typeface="Aptos"/>
              </a:defRPr>
            </a:pPr>
            <a:r>
              <a:t>Writing implication</a:t>
            </a:r>
          </a:p>
        </p:txBody>
      </p:sp>
      <p:sp>
        <p:nvSpPr>
          <p:cNvPr id="22" name="Rectangles 21"/>
          <p:cNvSpPr>
            <a:spLocks noGrp="1"/>
          </p:cNvSpPr>
          <p:nvPr/>
        </p:nvSpPr>
        <p:spPr>
          <a:xfrm>
            <a:off x="7714615" y="5810250"/>
            <a:ext cx="3200400" cy="152400"/>
          </a:xfrm>
          <a:prstGeom prst="rect">
            <a:avLst/>
          </a:prstGeom>
        </p:spPr>
        <p:txBody>
          <a:bodyPr lIns="0" tIns="0" rIns="0" bIns="0">
            <a:normAutofit fontScale="55050"/>
          </a:bodyPr>
          <a:lstStyle/>
          <a:p>
            <a:pPr algn="l">
              <a:defRPr sz="1125" b="0" i="0">
                <a:solidFill>
                  <a:srgbClr val="536170"/>
                </a:solidFill>
                <a:latin typeface="Aptos"/>
                <a:ea typeface="Aptos"/>
                <a:cs typeface="Aptos"/>
              </a:defRPr>
            </a:pPr>
            <a:r>
              <a:t>Use 'relative trajectory differences' and 'evidence consistent with', not direct causal claims.</a:t>
            </a:r>
          </a:p>
        </p:txBody>
      </p:sp>
      <p:sp>
        <p:nvSpPr>
          <p:cNvPr id="24" name="Rectangles 23"/>
          <p:cNvSpPr>
            <a:spLocks noGrp="1"/>
          </p:cNvSpPr>
          <p:nvPr/>
        </p:nvSpPr>
        <p:spPr>
          <a:xfrm>
            <a:off x="11239500" y="6419850"/>
            <a:ext cx="381000" cy="228600"/>
          </a:xfrm>
          <a:prstGeom prst="rect">
            <a:avLst/>
          </a:prstGeom>
        </p:spPr>
        <p:txBody>
          <a:bodyPr lIns="0" tIns="0" rIns="0" bIns="0">
            <a:normAutofit/>
          </a:bodyPr>
          <a:lstStyle/>
          <a:p>
            <a:pPr algn="r">
              <a:defRPr sz="900" b="0" i="0">
                <a:solidFill>
                  <a:srgbClr val="7B8794"/>
                </a:solidFill>
                <a:latin typeface="Aptos"/>
                <a:ea typeface="Aptos"/>
                <a:cs typeface="Aptos"/>
              </a:defRPr>
            </a:pPr>
            <a: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s 1"/>
          <p:cNvSpPr>
            <a:spLocks noGrp="1"/>
          </p:cNvSpPr>
          <p:nvPr/>
        </p:nvSpPr>
        <p:spPr>
          <a:xfrm>
            <a:off x="0" y="0"/>
            <a:ext cx="12192000" cy="6858000"/>
          </a:xfrm>
          <a:prstGeom prst="rect">
            <a:avLst/>
          </a:prstGeom>
          <a:solidFill>
            <a:srgbClr val="FAFBFB"/>
          </a:solidFill>
          <a:ln w="0">
            <a:noFill/>
            <a:prstDash val="solid"/>
          </a:ln>
        </p:spPr>
      </p:sp>
      <p:sp>
        <p:nvSpPr>
          <p:cNvPr id="3" name="Rectangles 2"/>
          <p:cNvSpPr>
            <a:spLocks noGrp="1"/>
          </p:cNvSpPr>
          <p:nvPr/>
        </p:nvSpPr>
        <p:spPr>
          <a:xfrm>
            <a:off x="609600" y="342900"/>
            <a:ext cx="7048500" cy="266700"/>
          </a:xfrm>
          <a:prstGeom prst="rect">
            <a:avLst/>
          </a:prstGeom>
        </p:spPr>
        <p:txBody>
          <a:bodyPr lIns="0" tIns="0" rIns="0" bIns="0">
            <a:normAutofit/>
          </a:bodyPr>
          <a:lstStyle/>
          <a:p>
            <a:pPr algn="l">
              <a:defRPr sz="1125" b="1" i="0">
                <a:solidFill>
                  <a:srgbClr val="1F6F8B"/>
                </a:solidFill>
                <a:latin typeface="Aptos"/>
                <a:ea typeface="Aptos"/>
                <a:cs typeface="Aptos"/>
              </a:defRPr>
            </a:pPr>
            <a:r>
              <a:t>EQUITY AND DEPRIVATION LENS</a:t>
            </a:r>
          </a:p>
        </p:txBody>
      </p:sp>
      <p:sp>
        <p:nvSpPr>
          <p:cNvPr id="4" name="Rectangles 3"/>
          <p:cNvSpPr>
            <a:spLocks noGrp="1"/>
          </p:cNvSpPr>
          <p:nvPr/>
        </p:nvSpPr>
        <p:spPr>
          <a:xfrm>
            <a:off x="609600" y="666750"/>
            <a:ext cx="8191500" cy="838200"/>
          </a:xfrm>
          <a:prstGeom prst="rect">
            <a:avLst/>
          </a:prstGeom>
        </p:spPr>
        <p:txBody>
          <a:bodyPr lIns="0" tIns="0" rIns="0" bIns="0">
            <a:normAutofit fontScale="82964"/>
          </a:bodyPr>
          <a:lstStyle/>
          <a:p>
            <a:pPr algn="l">
              <a:defRPr sz="3000" b="1" i="0">
                <a:solidFill>
                  <a:srgbClr val="16202A"/>
                </a:solidFill>
                <a:latin typeface="Aptos"/>
                <a:ea typeface="Aptos"/>
                <a:cs typeface="Aptos"/>
              </a:defRPr>
            </a:pPr>
            <a:r>
              <a:t>The analysis links trajectories to local socio-economic context, but the sample is not balanced</a:t>
            </a:r>
          </a:p>
        </p:txBody>
      </p:sp>
      <p:sp>
        <p:nvSpPr>
          <p:cNvPr id="5" name="Rectangles 4"/>
          <p:cNvSpPr>
            <a:spLocks noGrp="1"/>
          </p:cNvSpPr>
          <p:nvPr/>
        </p:nvSpPr>
        <p:spPr>
          <a:xfrm>
            <a:off x="609600" y="1466850"/>
            <a:ext cx="8858250" cy="457200"/>
          </a:xfrm>
          <a:prstGeom prst="rect">
            <a:avLst/>
          </a:prstGeom>
        </p:spPr>
        <p:txBody>
          <a:bodyPr lIns="0" tIns="0" rIns="0" bIns="0">
            <a:normAutofit/>
          </a:bodyPr>
          <a:lstStyle/>
          <a:p>
            <a:pPr algn="l">
              <a:defRPr sz="1350" b="0" i="0">
                <a:solidFill>
                  <a:srgbClr val="536170"/>
                </a:solidFill>
                <a:latin typeface="Aptos"/>
                <a:ea typeface="Aptos"/>
                <a:cs typeface="Aptos"/>
              </a:defRPr>
            </a:pPr>
            <a:r>
              <a:t>This section should be framed as contextual interpretation rather than a clean deprivation effect estimate.</a:t>
            </a:r>
          </a:p>
        </p:txBody>
      </p:sp>
      <p:pic>
        <p:nvPicPr>
          <p:cNvPr id="6" name="Picture 5"/>
          <p:cNvPicPr>
            <a:picLocks noChangeAspect="1"/>
          </p:cNvPicPr>
          <p:nvPr/>
        </p:nvPicPr>
        <p:blipFill>
          <a:blip r:embed="rId1"/>
          <a:stretch>
            <a:fillRect/>
          </a:stretch>
        </p:blipFill>
        <p:spPr>
          <a:xfrm>
            <a:off x="628650" y="1828800"/>
            <a:ext cx="4953000" cy="4000500"/>
          </a:xfrm>
          <a:prstGeom prst="rect">
            <a:avLst/>
          </a:prstGeom>
        </p:spPr>
      </p:pic>
      <p:sp>
        <p:nvSpPr>
          <p:cNvPr id="7" name="Rounded Rectangle 6"/>
          <p:cNvSpPr>
            <a:spLocks noGrp="1"/>
          </p:cNvSpPr>
          <p:nvPr/>
        </p:nvSpPr>
        <p:spPr>
          <a:xfrm>
            <a:off x="6115050" y="1866900"/>
            <a:ext cx="4476750" cy="952500"/>
          </a:xfrm>
          <a:prstGeom prst="roundRect">
            <a:avLst>
              <a:gd name="adj" fmla="val 8000"/>
            </a:avLst>
          </a:prstGeom>
          <a:solidFill>
            <a:srgbClr val="FFFFFF"/>
          </a:solidFill>
          <a:ln w="0">
            <a:noFill/>
            <a:prstDash val="solid"/>
          </a:ln>
        </p:spPr>
      </p:sp>
      <p:sp>
        <p:nvSpPr>
          <p:cNvPr id="8" name="Rounded Rectangle 7"/>
          <p:cNvSpPr>
            <a:spLocks noGrp="1"/>
          </p:cNvSpPr>
          <p:nvPr/>
        </p:nvSpPr>
        <p:spPr>
          <a:xfrm>
            <a:off x="6248400" y="1981200"/>
            <a:ext cx="66675" cy="723900"/>
          </a:xfrm>
          <a:prstGeom prst="roundRect">
            <a:avLst>
              <a:gd name="adj" fmla="val 50000"/>
            </a:avLst>
          </a:prstGeom>
          <a:solidFill>
            <a:srgbClr val="2A9D8F"/>
          </a:solidFill>
          <a:ln w="0">
            <a:noFill/>
            <a:prstDash val="solid"/>
          </a:ln>
        </p:spPr>
      </p:sp>
      <p:sp>
        <p:nvSpPr>
          <p:cNvPr id="9" name="Rectangles 8"/>
          <p:cNvSpPr>
            <a:spLocks noGrp="1"/>
          </p:cNvSpPr>
          <p:nvPr/>
        </p:nvSpPr>
        <p:spPr>
          <a:xfrm>
            <a:off x="6438900" y="2038350"/>
            <a:ext cx="3962400" cy="266700"/>
          </a:xfrm>
          <a:prstGeom prst="rect">
            <a:avLst/>
          </a:prstGeom>
        </p:spPr>
        <p:txBody>
          <a:bodyPr lIns="0" tIns="0" rIns="0" bIns="0">
            <a:normAutofit/>
          </a:bodyPr>
          <a:lstStyle/>
          <a:p>
            <a:pPr algn="l">
              <a:defRPr sz="1350" b="1" i="0">
                <a:solidFill>
                  <a:srgbClr val="16202A"/>
                </a:solidFill>
                <a:latin typeface="Aptos"/>
                <a:ea typeface="Aptos"/>
                <a:cs typeface="Aptos"/>
              </a:defRPr>
            </a:pPr>
            <a:r>
              <a:t>Context variables used</a:t>
            </a:r>
          </a:p>
        </p:txBody>
      </p:sp>
      <p:sp>
        <p:nvSpPr>
          <p:cNvPr id="10" name="Rectangles 9"/>
          <p:cNvSpPr>
            <a:spLocks noGrp="1"/>
          </p:cNvSpPr>
          <p:nvPr/>
        </p:nvSpPr>
        <p:spPr>
          <a:xfrm>
            <a:off x="6438900" y="2362200"/>
            <a:ext cx="3962400" cy="342900"/>
          </a:xfrm>
          <a:prstGeom prst="rect">
            <a:avLst/>
          </a:prstGeom>
        </p:spPr>
        <p:txBody>
          <a:bodyPr lIns="0" tIns="0" rIns="0" bIns="0">
            <a:normAutofit fontScale="68023"/>
          </a:bodyPr>
          <a:lstStyle/>
          <a:p>
            <a:pPr algn="l">
              <a:defRPr sz="1125" b="0" i="0">
                <a:solidFill>
                  <a:srgbClr val="536170"/>
                </a:solidFill>
                <a:latin typeface="Aptos"/>
                <a:ea typeface="Aptos"/>
                <a:cs typeface="Aptos"/>
              </a:defRPr>
            </a:pPr>
            <a:r>
              <a:t>IMD decile/band, income and employment deprivation, population density, no-car households, walk/cycle commute share, car-driver commute share, work-from-home share.</a:t>
            </a:r>
          </a:p>
        </p:txBody>
      </p:sp>
      <p:sp>
        <p:nvSpPr>
          <p:cNvPr id="11" name="Rounded Rectangle 10"/>
          <p:cNvSpPr>
            <a:spLocks noGrp="1"/>
          </p:cNvSpPr>
          <p:nvPr/>
        </p:nvSpPr>
        <p:spPr>
          <a:xfrm>
            <a:off x="6115050" y="3067050"/>
            <a:ext cx="4476750" cy="952500"/>
          </a:xfrm>
          <a:prstGeom prst="roundRect">
            <a:avLst>
              <a:gd name="adj" fmla="val 8000"/>
            </a:avLst>
          </a:prstGeom>
          <a:solidFill>
            <a:srgbClr val="FFFFFF"/>
          </a:solidFill>
          <a:ln w="0">
            <a:noFill/>
            <a:prstDash val="solid"/>
          </a:ln>
        </p:spPr>
      </p:sp>
      <p:sp>
        <p:nvSpPr>
          <p:cNvPr id="12" name="Rounded Rectangle 11"/>
          <p:cNvSpPr>
            <a:spLocks noGrp="1"/>
          </p:cNvSpPr>
          <p:nvPr/>
        </p:nvSpPr>
        <p:spPr>
          <a:xfrm>
            <a:off x="6248400" y="3181350"/>
            <a:ext cx="66675" cy="723900"/>
          </a:xfrm>
          <a:prstGeom prst="roundRect">
            <a:avLst>
              <a:gd name="adj" fmla="val 50000"/>
            </a:avLst>
          </a:prstGeom>
          <a:solidFill>
            <a:srgbClr val="1F6F8B"/>
          </a:solidFill>
          <a:ln w="0">
            <a:noFill/>
            <a:prstDash val="solid"/>
          </a:ln>
        </p:spPr>
      </p:sp>
      <p:sp>
        <p:nvSpPr>
          <p:cNvPr id="13" name="Rectangles 12"/>
          <p:cNvSpPr>
            <a:spLocks noGrp="1"/>
          </p:cNvSpPr>
          <p:nvPr/>
        </p:nvSpPr>
        <p:spPr>
          <a:xfrm>
            <a:off x="6438900" y="3238500"/>
            <a:ext cx="3962400" cy="266700"/>
          </a:xfrm>
          <a:prstGeom prst="rect">
            <a:avLst/>
          </a:prstGeom>
        </p:spPr>
        <p:txBody>
          <a:bodyPr lIns="0" tIns="0" rIns="0" bIns="0">
            <a:normAutofit/>
          </a:bodyPr>
          <a:lstStyle/>
          <a:p>
            <a:pPr algn="l">
              <a:defRPr sz="1350" b="1" i="0">
                <a:solidFill>
                  <a:srgbClr val="16202A"/>
                </a:solidFill>
                <a:latin typeface="Aptos"/>
                <a:ea typeface="Aptos"/>
                <a:cs typeface="Aptos"/>
              </a:defRPr>
            </a:pPr>
            <a:r>
              <a:t>Analytical use</a:t>
            </a:r>
          </a:p>
        </p:txBody>
      </p:sp>
      <p:sp>
        <p:nvSpPr>
          <p:cNvPr id="14" name="Rectangles 13"/>
          <p:cNvSpPr>
            <a:spLocks noGrp="1"/>
          </p:cNvSpPr>
          <p:nvPr/>
        </p:nvSpPr>
        <p:spPr>
          <a:xfrm>
            <a:off x="6438900" y="3562350"/>
            <a:ext cx="3962400" cy="342900"/>
          </a:xfrm>
          <a:prstGeom prst="rect">
            <a:avLst/>
          </a:prstGeom>
        </p:spPr>
        <p:txBody>
          <a:bodyPr lIns="0" tIns="0" rIns="0" bIns="0">
            <a:normAutofit fontScale="81203"/>
          </a:bodyPr>
          <a:lstStyle/>
          <a:p>
            <a:pPr algn="l">
              <a:defRPr sz="1125" b="0" i="0">
                <a:solidFill>
                  <a:srgbClr val="536170"/>
                </a:solidFill>
                <a:latin typeface="Aptos"/>
                <a:ea typeface="Aptos"/>
                <a:cs typeface="Aptos"/>
              </a:defRPr>
            </a:pPr>
            <a:r>
              <a:t>Explain where interventions and controls sit within deprived or affluent urban contexts, and whether observed count trajectories align with those contexts.</a:t>
            </a:r>
          </a:p>
        </p:txBody>
      </p:sp>
      <p:sp>
        <p:nvSpPr>
          <p:cNvPr id="15" name="Rounded Rectangle 14"/>
          <p:cNvSpPr>
            <a:spLocks noGrp="1"/>
          </p:cNvSpPr>
          <p:nvPr/>
        </p:nvSpPr>
        <p:spPr>
          <a:xfrm>
            <a:off x="6115050" y="4267200"/>
            <a:ext cx="4476750" cy="952500"/>
          </a:xfrm>
          <a:prstGeom prst="roundRect">
            <a:avLst>
              <a:gd name="adj" fmla="val 8000"/>
            </a:avLst>
          </a:prstGeom>
          <a:solidFill>
            <a:srgbClr val="FFFFFF"/>
          </a:solidFill>
          <a:ln w="0">
            <a:noFill/>
            <a:prstDash val="solid"/>
          </a:ln>
        </p:spPr>
      </p:sp>
      <p:sp>
        <p:nvSpPr>
          <p:cNvPr id="16" name="Rounded Rectangle 15"/>
          <p:cNvSpPr>
            <a:spLocks noGrp="1"/>
          </p:cNvSpPr>
          <p:nvPr/>
        </p:nvSpPr>
        <p:spPr>
          <a:xfrm>
            <a:off x="6248400" y="4381500"/>
            <a:ext cx="66675" cy="723900"/>
          </a:xfrm>
          <a:prstGeom prst="roundRect">
            <a:avLst>
              <a:gd name="adj" fmla="val 50000"/>
            </a:avLst>
          </a:prstGeom>
          <a:solidFill>
            <a:srgbClr val="C84C3A"/>
          </a:solidFill>
          <a:ln w="0">
            <a:noFill/>
            <a:prstDash val="solid"/>
          </a:ln>
        </p:spPr>
      </p:sp>
      <p:sp>
        <p:nvSpPr>
          <p:cNvPr id="17" name="Rectangles 16"/>
          <p:cNvSpPr>
            <a:spLocks noGrp="1"/>
          </p:cNvSpPr>
          <p:nvPr/>
        </p:nvSpPr>
        <p:spPr>
          <a:xfrm>
            <a:off x="6438900" y="4438650"/>
            <a:ext cx="3962400" cy="266700"/>
          </a:xfrm>
          <a:prstGeom prst="rect">
            <a:avLst/>
          </a:prstGeom>
        </p:spPr>
        <p:txBody>
          <a:bodyPr lIns="0" tIns="0" rIns="0" bIns="0">
            <a:normAutofit/>
          </a:bodyPr>
          <a:lstStyle/>
          <a:p>
            <a:pPr algn="l">
              <a:defRPr sz="1350" b="1" i="0">
                <a:solidFill>
                  <a:srgbClr val="16202A"/>
                </a:solidFill>
                <a:latin typeface="Aptos"/>
                <a:ea typeface="Aptos"/>
                <a:cs typeface="Aptos"/>
              </a:defRPr>
            </a:pPr>
            <a:r>
              <a:t>Key caution</a:t>
            </a:r>
          </a:p>
        </p:txBody>
      </p:sp>
      <p:sp>
        <p:nvSpPr>
          <p:cNvPr id="18" name="Rectangles 17"/>
          <p:cNvSpPr>
            <a:spLocks noGrp="1"/>
          </p:cNvSpPr>
          <p:nvPr/>
        </p:nvSpPr>
        <p:spPr>
          <a:xfrm>
            <a:off x="6438900" y="4762500"/>
            <a:ext cx="3962400" cy="342900"/>
          </a:xfrm>
          <a:prstGeom prst="rect">
            <a:avLst/>
          </a:prstGeom>
        </p:spPr>
        <p:txBody>
          <a:bodyPr lIns="0" tIns="0" rIns="0" bIns="0">
            <a:normAutofit/>
          </a:bodyPr>
          <a:lstStyle/>
          <a:p>
            <a:pPr algn="l">
              <a:defRPr sz="1125" b="0" i="0">
                <a:solidFill>
                  <a:srgbClr val="536170"/>
                </a:solidFill>
                <a:latin typeface="Aptos"/>
                <a:ea typeface="Aptos"/>
                <a:cs typeface="Aptos"/>
              </a:defRPr>
            </a:pPr>
            <a:r>
              <a:t>Countline sample is small and uneven across IMD bands, so this is not yet a robust deprivation gradient model.</a:t>
            </a:r>
          </a:p>
        </p:txBody>
      </p:sp>
      <p:sp>
        <p:nvSpPr>
          <p:cNvPr id="20" name="Rectangles 19"/>
          <p:cNvSpPr>
            <a:spLocks noGrp="1"/>
          </p:cNvSpPr>
          <p:nvPr/>
        </p:nvSpPr>
        <p:spPr>
          <a:xfrm>
            <a:off x="11239500" y="6419850"/>
            <a:ext cx="381000" cy="228600"/>
          </a:xfrm>
          <a:prstGeom prst="rect">
            <a:avLst/>
          </a:prstGeom>
        </p:spPr>
        <p:txBody>
          <a:bodyPr lIns="0" tIns="0" rIns="0" bIns="0">
            <a:normAutofit/>
          </a:bodyPr>
          <a:lstStyle/>
          <a:p>
            <a:pPr algn="r">
              <a:defRPr sz="900" b="0" i="0">
                <a:solidFill>
                  <a:srgbClr val="7B8794"/>
                </a:solidFill>
                <a:latin typeface="Aptos"/>
                <a:ea typeface="Aptos"/>
                <a:cs typeface="Aptos"/>
              </a:defRPr>
            </a:pPr>
            <a: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s 1"/>
          <p:cNvSpPr>
            <a:spLocks noGrp="1"/>
          </p:cNvSpPr>
          <p:nvPr/>
        </p:nvSpPr>
        <p:spPr>
          <a:xfrm>
            <a:off x="0" y="0"/>
            <a:ext cx="12192000" cy="6858000"/>
          </a:xfrm>
          <a:prstGeom prst="rect">
            <a:avLst/>
          </a:prstGeom>
          <a:solidFill>
            <a:srgbClr val="FAFBFB"/>
          </a:solidFill>
          <a:ln w="0">
            <a:noFill/>
            <a:prstDash val="solid"/>
          </a:ln>
        </p:spPr>
      </p:sp>
      <p:sp>
        <p:nvSpPr>
          <p:cNvPr id="3" name="Rectangles 2"/>
          <p:cNvSpPr>
            <a:spLocks noGrp="1"/>
          </p:cNvSpPr>
          <p:nvPr/>
        </p:nvSpPr>
        <p:spPr>
          <a:xfrm>
            <a:off x="609600" y="342900"/>
            <a:ext cx="7048500" cy="266700"/>
          </a:xfrm>
          <a:prstGeom prst="rect">
            <a:avLst/>
          </a:prstGeom>
        </p:spPr>
        <p:txBody>
          <a:bodyPr lIns="0" tIns="0" rIns="0" bIns="0">
            <a:normAutofit/>
          </a:bodyPr>
          <a:lstStyle/>
          <a:p>
            <a:pPr algn="l">
              <a:defRPr sz="1125" b="1" i="0">
                <a:solidFill>
                  <a:srgbClr val="1F6F8B"/>
                </a:solidFill>
                <a:latin typeface="Aptos"/>
                <a:ea typeface="Aptos"/>
                <a:cs typeface="Aptos"/>
              </a:defRPr>
            </a:pPr>
            <a:r>
              <a:t>LIMITATIONS AND SUPERVISOR DECISIONS</a:t>
            </a:r>
          </a:p>
        </p:txBody>
      </p:sp>
      <p:sp>
        <p:nvSpPr>
          <p:cNvPr id="4" name="Rectangles 3"/>
          <p:cNvSpPr>
            <a:spLocks noGrp="1"/>
          </p:cNvSpPr>
          <p:nvPr/>
        </p:nvSpPr>
        <p:spPr>
          <a:xfrm>
            <a:off x="609600" y="666750"/>
            <a:ext cx="8191500" cy="838200"/>
          </a:xfrm>
          <a:prstGeom prst="rect">
            <a:avLst/>
          </a:prstGeom>
        </p:spPr>
        <p:txBody>
          <a:bodyPr lIns="0" tIns="0" rIns="0" bIns="0">
            <a:normAutofit fontScale="91667"/>
          </a:bodyPr>
          <a:lstStyle/>
          <a:p>
            <a:pPr algn="l">
              <a:defRPr sz="3000" b="1" i="0">
                <a:solidFill>
                  <a:srgbClr val="16202A"/>
                </a:solidFill>
                <a:latin typeface="Aptos"/>
                <a:ea typeface="Aptos"/>
                <a:cs typeface="Aptos"/>
              </a:defRPr>
            </a:pPr>
            <a:r>
              <a:t>The project is on track, but the claims need a carefully bounded frame</a:t>
            </a:r>
          </a:p>
        </p:txBody>
      </p:sp>
      <p:sp>
        <p:nvSpPr>
          <p:cNvPr id="5" name="Rectangles 4"/>
          <p:cNvSpPr>
            <a:spLocks noGrp="1"/>
          </p:cNvSpPr>
          <p:nvPr/>
        </p:nvSpPr>
        <p:spPr>
          <a:xfrm>
            <a:off x="609600" y="1466850"/>
            <a:ext cx="8858250" cy="457200"/>
          </a:xfrm>
          <a:prstGeom prst="rect">
            <a:avLst/>
          </a:prstGeom>
        </p:spPr>
        <p:txBody>
          <a:bodyPr lIns="0" tIns="0" rIns="0" bIns="0">
            <a:normAutofit/>
          </a:bodyPr>
          <a:lstStyle/>
          <a:p>
            <a:pPr algn="l">
              <a:defRPr sz="1350" b="0" i="0">
                <a:solidFill>
                  <a:srgbClr val="536170"/>
                </a:solidFill>
                <a:latin typeface="Aptos"/>
                <a:ea typeface="Aptos"/>
                <a:cs typeface="Aptos"/>
              </a:defRPr>
            </a:pPr>
            <a:r>
              <a:t>The strongest dissertation route is to treat this as transparent exploratory causal evaluation, not final impact attribution.</a:t>
            </a:r>
          </a:p>
        </p:txBody>
      </p:sp>
      <p:sp>
        <p:nvSpPr>
          <p:cNvPr id="6" name="Rounded Rectangle 5"/>
          <p:cNvSpPr>
            <a:spLocks noGrp="1"/>
          </p:cNvSpPr>
          <p:nvPr/>
        </p:nvSpPr>
        <p:spPr>
          <a:xfrm>
            <a:off x="704850" y="1866900"/>
            <a:ext cx="3333750" cy="1066800"/>
          </a:xfrm>
          <a:prstGeom prst="roundRect">
            <a:avLst>
              <a:gd name="adj" fmla="val 7143"/>
            </a:avLst>
          </a:prstGeom>
          <a:solidFill>
            <a:srgbClr val="FFFFFF"/>
          </a:solidFill>
          <a:ln w="0">
            <a:noFill/>
            <a:prstDash val="solid"/>
          </a:ln>
        </p:spPr>
      </p:sp>
      <p:sp>
        <p:nvSpPr>
          <p:cNvPr id="7" name="Rounded Rectangle 6"/>
          <p:cNvSpPr>
            <a:spLocks noGrp="1"/>
          </p:cNvSpPr>
          <p:nvPr/>
        </p:nvSpPr>
        <p:spPr>
          <a:xfrm>
            <a:off x="967105" y="2609850"/>
            <a:ext cx="66675" cy="838200"/>
          </a:xfrm>
          <a:prstGeom prst="roundRect">
            <a:avLst>
              <a:gd name="adj" fmla="val 50000"/>
            </a:avLst>
          </a:prstGeom>
          <a:solidFill>
            <a:srgbClr val="E9C46A"/>
          </a:solidFill>
          <a:ln w="0">
            <a:noFill/>
            <a:prstDash val="solid"/>
          </a:ln>
        </p:spPr>
      </p:sp>
      <p:sp>
        <p:nvSpPr>
          <p:cNvPr id="8" name="Rectangles 7"/>
          <p:cNvSpPr>
            <a:spLocks noGrp="1"/>
          </p:cNvSpPr>
          <p:nvPr/>
        </p:nvSpPr>
        <p:spPr>
          <a:xfrm>
            <a:off x="1157605" y="2667000"/>
            <a:ext cx="2819400" cy="266700"/>
          </a:xfrm>
          <a:prstGeom prst="rect">
            <a:avLst/>
          </a:prstGeom>
        </p:spPr>
        <p:txBody>
          <a:bodyPr lIns="0" tIns="0" rIns="0" bIns="0">
            <a:normAutofit/>
          </a:bodyPr>
          <a:lstStyle/>
          <a:p>
            <a:pPr algn="l">
              <a:defRPr sz="1350" b="1" i="0">
                <a:solidFill>
                  <a:srgbClr val="16202A"/>
                </a:solidFill>
                <a:latin typeface="Aptos"/>
                <a:ea typeface="Aptos"/>
                <a:cs typeface="Aptos"/>
              </a:defRPr>
            </a:pPr>
            <a:r>
              <a:t>Confirmed scheme dates</a:t>
            </a:r>
          </a:p>
        </p:txBody>
      </p:sp>
      <p:sp>
        <p:nvSpPr>
          <p:cNvPr id="9" name="Rectangles 8"/>
          <p:cNvSpPr>
            <a:spLocks noGrp="1"/>
          </p:cNvSpPr>
          <p:nvPr/>
        </p:nvSpPr>
        <p:spPr>
          <a:xfrm>
            <a:off x="1157605" y="2990850"/>
            <a:ext cx="2819400" cy="457200"/>
          </a:xfrm>
          <a:prstGeom prst="rect">
            <a:avLst/>
          </a:prstGeom>
        </p:spPr>
        <p:txBody>
          <a:bodyPr lIns="0" tIns="0" rIns="0" bIns="0">
            <a:normAutofit fontScale="94117"/>
          </a:bodyPr>
          <a:lstStyle/>
          <a:p>
            <a:pPr algn="l">
              <a:defRPr sz="1125" b="0" i="0">
                <a:solidFill>
                  <a:srgbClr val="536170"/>
                </a:solidFill>
                <a:latin typeface="Aptos"/>
                <a:ea typeface="Aptos"/>
                <a:cs typeface="Aptos"/>
              </a:defRPr>
            </a:pPr>
            <a:r>
              <a:t>Exact scheme dates are now available and certain; update intervention-date fields and rerun the gate, models, and diagnostics.</a:t>
            </a:r>
          </a:p>
        </p:txBody>
      </p:sp>
      <p:sp>
        <p:nvSpPr>
          <p:cNvPr id="10" name="Rounded Rectangle 9"/>
          <p:cNvSpPr>
            <a:spLocks noGrp="1"/>
          </p:cNvSpPr>
          <p:nvPr/>
        </p:nvSpPr>
        <p:spPr>
          <a:xfrm>
            <a:off x="4400550" y="1866900"/>
            <a:ext cx="3333750" cy="1066800"/>
          </a:xfrm>
          <a:prstGeom prst="roundRect">
            <a:avLst>
              <a:gd name="adj" fmla="val 7143"/>
            </a:avLst>
          </a:prstGeom>
          <a:solidFill>
            <a:srgbClr val="FFFFFF"/>
          </a:solidFill>
          <a:ln w="0">
            <a:noFill/>
            <a:prstDash val="solid"/>
          </a:ln>
        </p:spPr>
      </p:sp>
      <p:sp>
        <p:nvSpPr>
          <p:cNvPr id="11" name="Rounded Rectangle 10"/>
          <p:cNvSpPr>
            <a:spLocks noGrp="1"/>
          </p:cNvSpPr>
          <p:nvPr/>
        </p:nvSpPr>
        <p:spPr>
          <a:xfrm>
            <a:off x="4662805" y="2609850"/>
            <a:ext cx="66675" cy="838200"/>
          </a:xfrm>
          <a:prstGeom prst="roundRect">
            <a:avLst>
              <a:gd name="adj" fmla="val 50000"/>
            </a:avLst>
          </a:prstGeom>
          <a:solidFill>
            <a:srgbClr val="C84C3A"/>
          </a:solidFill>
          <a:ln w="0">
            <a:noFill/>
            <a:prstDash val="solid"/>
          </a:ln>
        </p:spPr>
      </p:sp>
      <p:sp>
        <p:nvSpPr>
          <p:cNvPr id="12" name="Rectangles 11"/>
          <p:cNvSpPr>
            <a:spLocks noGrp="1"/>
          </p:cNvSpPr>
          <p:nvPr/>
        </p:nvSpPr>
        <p:spPr>
          <a:xfrm>
            <a:off x="4853305" y="2667000"/>
            <a:ext cx="2819400" cy="266700"/>
          </a:xfrm>
          <a:prstGeom prst="rect">
            <a:avLst/>
          </a:prstGeom>
        </p:spPr>
        <p:txBody>
          <a:bodyPr lIns="0" tIns="0" rIns="0" bIns="0">
            <a:normAutofit/>
          </a:bodyPr>
          <a:lstStyle/>
          <a:p>
            <a:pPr algn="l">
              <a:defRPr sz="1350" b="1" i="0">
                <a:solidFill>
                  <a:srgbClr val="16202A"/>
                </a:solidFill>
                <a:latin typeface="Aptos"/>
                <a:ea typeface="Aptos"/>
                <a:cs typeface="Aptos"/>
              </a:defRPr>
            </a:pPr>
            <a:r>
              <a:t>Control contamination</a:t>
            </a:r>
          </a:p>
        </p:txBody>
      </p:sp>
      <p:sp>
        <p:nvSpPr>
          <p:cNvPr id="13" name="Rectangles 12"/>
          <p:cNvSpPr>
            <a:spLocks noGrp="1"/>
          </p:cNvSpPr>
          <p:nvPr/>
        </p:nvSpPr>
        <p:spPr>
          <a:xfrm>
            <a:off x="4853305" y="2990850"/>
            <a:ext cx="2819400" cy="457200"/>
          </a:xfrm>
          <a:prstGeom prst="rect">
            <a:avLst/>
          </a:prstGeom>
        </p:spPr>
        <p:txBody>
          <a:bodyPr lIns="0" tIns="0" rIns="0" bIns="0">
            <a:normAutofit/>
          </a:bodyPr>
          <a:lstStyle/>
          <a:p>
            <a:pPr algn="l">
              <a:defRPr sz="1125" b="0" i="0">
                <a:solidFill>
                  <a:srgbClr val="536170"/>
                </a:solidFill>
                <a:latin typeface="Aptos"/>
                <a:ea typeface="Aptos"/>
                <a:cs typeface="Aptos"/>
              </a:defRPr>
            </a:pPr>
            <a:r>
              <a:t>Shortlisted controls need manual checks against other local interventions.</a:t>
            </a:r>
          </a:p>
        </p:txBody>
      </p:sp>
      <p:sp>
        <p:nvSpPr>
          <p:cNvPr id="14" name="Rounded Rectangle 13"/>
          <p:cNvSpPr>
            <a:spLocks noGrp="1"/>
          </p:cNvSpPr>
          <p:nvPr/>
        </p:nvSpPr>
        <p:spPr>
          <a:xfrm>
            <a:off x="8096250" y="1866900"/>
            <a:ext cx="3333750" cy="1066800"/>
          </a:xfrm>
          <a:prstGeom prst="roundRect">
            <a:avLst>
              <a:gd name="adj" fmla="val 7143"/>
            </a:avLst>
          </a:prstGeom>
          <a:solidFill>
            <a:srgbClr val="FFFFFF"/>
          </a:solidFill>
          <a:ln w="0">
            <a:noFill/>
            <a:prstDash val="solid"/>
          </a:ln>
        </p:spPr>
      </p:sp>
      <p:sp>
        <p:nvSpPr>
          <p:cNvPr id="15" name="Rounded Rectangle 14"/>
          <p:cNvSpPr>
            <a:spLocks noGrp="1"/>
          </p:cNvSpPr>
          <p:nvPr/>
        </p:nvSpPr>
        <p:spPr>
          <a:xfrm>
            <a:off x="8358505" y="2609850"/>
            <a:ext cx="66675" cy="838200"/>
          </a:xfrm>
          <a:prstGeom prst="roundRect">
            <a:avLst>
              <a:gd name="adj" fmla="val 50000"/>
            </a:avLst>
          </a:prstGeom>
          <a:solidFill>
            <a:srgbClr val="C84C3A"/>
          </a:solidFill>
          <a:ln w="0">
            <a:noFill/>
            <a:prstDash val="solid"/>
          </a:ln>
        </p:spPr>
      </p:sp>
      <p:sp>
        <p:nvSpPr>
          <p:cNvPr id="16" name="Rectangles 15"/>
          <p:cNvSpPr>
            <a:spLocks noGrp="1"/>
          </p:cNvSpPr>
          <p:nvPr/>
        </p:nvSpPr>
        <p:spPr>
          <a:xfrm>
            <a:off x="8549005" y="2667000"/>
            <a:ext cx="2819400" cy="266700"/>
          </a:xfrm>
          <a:prstGeom prst="rect">
            <a:avLst/>
          </a:prstGeom>
        </p:spPr>
        <p:txBody>
          <a:bodyPr lIns="0" tIns="0" rIns="0" bIns="0">
            <a:normAutofit/>
          </a:bodyPr>
          <a:lstStyle/>
          <a:p>
            <a:pPr algn="l">
              <a:defRPr sz="1350" b="1" i="0">
                <a:solidFill>
                  <a:srgbClr val="16202A"/>
                </a:solidFill>
                <a:latin typeface="Aptos"/>
                <a:ea typeface="Aptos"/>
                <a:cs typeface="Aptos"/>
              </a:defRPr>
            </a:pPr>
            <a:r>
              <a:t>Baseline coverage</a:t>
            </a:r>
          </a:p>
        </p:txBody>
      </p:sp>
      <p:sp>
        <p:nvSpPr>
          <p:cNvPr id="17" name="Rectangles 16"/>
          <p:cNvSpPr>
            <a:spLocks noGrp="1"/>
          </p:cNvSpPr>
          <p:nvPr/>
        </p:nvSpPr>
        <p:spPr>
          <a:xfrm>
            <a:off x="8549005" y="2990850"/>
            <a:ext cx="2819400" cy="457200"/>
          </a:xfrm>
          <a:prstGeom prst="rect">
            <a:avLst/>
          </a:prstGeom>
        </p:spPr>
        <p:txBody>
          <a:bodyPr lIns="0" tIns="0" rIns="0" bIns="0">
            <a:normAutofit fontScale="93543"/>
          </a:bodyPr>
          <a:lstStyle/>
          <a:p>
            <a:pPr algn="l">
              <a:defRPr sz="1125" b="0" i="0">
                <a:solidFill>
                  <a:srgbClr val="536170"/>
                </a:solidFill>
                <a:latin typeface="Aptos"/>
                <a:ea typeface="Aptos"/>
                <a:cs typeface="Aptos"/>
              </a:defRPr>
            </a:pPr>
            <a:r>
              <a:t>Recheck 12b and 12e against confirmed exact scheme dates and first reliable sensor dates.</a:t>
            </a:r>
          </a:p>
        </p:txBody>
      </p:sp>
      <p:sp>
        <p:nvSpPr>
          <p:cNvPr id="18" name="Rounded Rectangle 17"/>
          <p:cNvSpPr>
            <a:spLocks noGrp="1"/>
          </p:cNvSpPr>
          <p:nvPr/>
        </p:nvSpPr>
        <p:spPr>
          <a:xfrm>
            <a:off x="833755" y="3962400"/>
            <a:ext cx="3333750" cy="1066800"/>
          </a:xfrm>
          <a:prstGeom prst="roundRect">
            <a:avLst>
              <a:gd name="adj" fmla="val 7143"/>
            </a:avLst>
          </a:prstGeom>
          <a:solidFill>
            <a:srgbClr val="FFFFFF"/>
          </a:solidFill>
          <a:ln w="0">
            <a:noFill/>
            <a:prstDash val="solid"/>
          </a:ln>
        </p:spPr>
      </p:sp>
      <p:sp>
        <p:nvSpPr>
          <p:cNvPr id="19" name="Rounded Rectangle 18"/>
          <p:cNvSpPr>
            <a:spLocks noGrp="1"/>
          </p:cNvSpPr>
          <p:nvPr/>
        </p:nvSpPr>
        <p:spPr>
          <a:xfrm>
            <a:off x="967105" y="4076700"/>
            <a:ext cx="66675" cy="838200"/>
          </a:xfrm>
          <a:prstGeom prst="roundRect">
            <a:avLst>
              <a:gd name="adj" fmla="val 50000"/>
            </a:avLst>
          </a:prstGeom>
          <a:solidFill>
            <a:srgbClr val="C84C3A"/>
          </a:solidFill>
          <a:ln w="0">
            <a:noFill/>
            <a:prstDash val="solid"/>
          </a:ln>
        </p:spPr>
      </p:sp>
      <p:sp>
        <p:nvSpPr>
          <p:cNvPr id="20" name="Rectangles 19"/>
          <p:cNvSpPr>
            <a:spLocks noGrp="1"/>
          </p:cNvSpPr>
          <p:nvPr/>
        </p:nvSpPr>
        <p:spPr>
          <a:xfrm>
            <a:off x="1157605" y="4133850"/>
            <a:ext cx="2819400" cy="266700"/>
          </a:xfrm>
          <a:prstGeom prst="rect">
            <a:avLst/>
          </a:prstGeom>
        </p:spPr>
        <p:txBody>
          <a:bodyPr lIns="0" tIns="0" rIns="0" bIns="0">
            <a:normAutofit/>
          </a:bodyPr>
          <a:lstStyle/>
          <a:p>
            <a:pPr algn="l">
              <a:defRPr sz="1350" b="1" i="0">
                <a:solidFill>
                  <a:srgbClr val="16202A"/>
                </a:solidFill>
                <a:latin typeface="Aptos"/>
                <a:ea typeface="Aptos"/>
                <a:cs typeface="Aptos"/>
              </a:defRPr>
            </a:pPr>
            <a:r>
              <a:t>Small control pool</a:t>
            </a:r>
          </a:p>
        </p:txBody>
      </p:sp>
      <p:sp>
        <p:nvSpPr>
          <p:cNvPr id="21" name="Rectangles 20"/>
          <p:cNvSpPr>
            <a:spLocks noGrp="1"/>
          </p:cNvSpPr>
          <p:nvPr/>
        </p:nvSpPr>
        <p:spPr>
          <a:xfrm>
            <a:off x="1157605" y="4457700"/>
            <a:ext cx="2819400" cy="457200"/>
          </a:xfrm>
          <a:prstGeom prst="rect">
            <a:avLst/>
          </a:prstGeom>
        </p:spPr>
        <p:txBody>
          <a:bodyPr lIns="0" tIns="0" rIns="0" bIns="0">
            <a:normAutofit fontScale="93937"/>
          </a:bodyPr>
          <a:lstStyle/>
          <a:p>
            <a:pPr algn="l">
              <a:defRPr sz="1125" b="0" i="0">
                <a:solidFill>
                  <a:srgbClr val="536170"/>
                </a:solidFill>
                <a:latin typeface="Aptos"/>
                <a:ea typeface="Aptos"/>
                <a:cs typeface="Aptos"/>
              </a:defRPr>
            </a:pPr>
            <a:r>
              <a:t>Only 13 controls meet the pragmatic threshold; only 2 meet the strict seasonal threshold.</a:t>
            </a:r>
          </a:p>
        </p:txBody>
      </p:sp>
      <p:sp>
        <p:nvSpPr>
          <p:cNvPr id="22" name="Rounded Rectangle 21"/>
          <p:cNvSpPr>
            <a:spLocks noGrp="1"/>
          </p:cNvSpPr>
          <p:nvPr/>
        </p:nvSpPr>
        <p:spPr>
          <a:xfrm>
            <a:off x="4529455" y="3962400"/>
            <a:ext cx="3333750" cy="1066800"/>
          </a:xfrm>
          <a:prstGeom prst="roundRect">
            <a:avLst>
              <a:gd name="adj" fmla="val 7143"/>
            </a:avLst>
          </a:prstGeom>
          <a:solidFill>
            <a:srgbClr val="FFFFFF"/>
          </a:solidFill>
          <a:ln w="0">
            <a:noFill/>
            <a:prstDash val="solid"/>
          </a:ln>
        </p:spPr>
      </p:sp>
      <p:sp>
        <p:nvSpPr>
          <p:cNvPr id="23" name="Rounded Rectangle 22"/>
          <p:cNvSpPr>
            <a:spLocks noGrp="1"/>
          </p:cNvSpPr>
          <p:nvPr/>
        </p:nvSpPr>
        <p:spPr>
          <a:xfrm>
            <a:off x="4662805" y="4076700"/>
            <a:ext cx="66675" cy="838200"/>
          </a:xfrm>
          <a:prstGeom prst="roundRect">
            <a:avLst>
              <a:gd name="adj" fmla="val 50000"/>
            </a:avLst>
          </a:prstGeom>
          <a:solidFill>
            <a:srgbClr val="E9C46A"/>
          </a:solidFill>
          <a:ln w="0">
            <a:noFill/>
            <a:prstDash val="solid"/>
          </a:ln>
        </p:spPr>
      </p:sp>
      <p:sp>
        <p:nvSpPr>
          <p:cNvPr id="24" name="Rectangles 23"/>
          <p:cNvSpPr>
            <a:spLocks noGrp="1"/>
          </p:cNvSpPr>
          <p:nvPr/>
        </p:nvSpPr>
        <p:spPr>
          <a:xfrm>
            <a:off x="4853305" y="4133850"/>
            <a:ext cx="2819400" cy="266700"/>
          </a:xfrm>
          <a:prstGeom prst="rect">
            <a:avLst/>
          </a:prstGeom>
        </p:spPr>
        <p:txBody>
          <a:bodyPr lIns="0" tIns="0" rIns="0" bIns="0">
            <a:normAutofit/>
          </a:bodyPr>
          <a:lstStyle/>
          <a:p>
            <a:pPr algn="l">
              <a:defRPr sz="1350" b="1" i="0">
                <a:solidFill>
                  <a:srgbClr val="16202A"/>
                </a:solidFill>
                <a:latin typeface="Aptos"/>
                <a:ea typeface="Aptos"/>
                <a:cs typeface="Aptos"/>
              </a:defRPr>
            </a:pPr>
            <a:r>
              <a:t>Sensor measurement</a:t>
            </a:r>
          </a:p>
        </p:txBody>
      </p:sp>
      <p:sp>
        <p:nvSpPr>
          <p:cNvPr id="25" name="Rectangles 24"/>
          <p:cNvSpPr>
            <a:spLocks noGrp="1"/>
          </p:cNvSpPr>
          <p:nvPr/>
        </p:nvSpPr>
        <p:spPr>
          <a:xfrm>
            <a:off x="4853305" y="4457700"/>
            <a:ext cx="2819400" cy="457200"/>
          </a:xfrm>
          <a:prstGeom prst="rect">
            <a:avLst/>
          </a:prstGeom>
        </p:spPr>
        <p:txBody>
          <a:bodyPr lIns="0" tIns="0" rIns="0" bIns="0">
            <a:normAutofit fontScale="88889"/>
          </a:bodyPr>
          <a:lstStyle/>
          <a:p>
            <a:pPr algn="l">
              <a:defRPr sz="1125" b="0" i="0">
                <a:solidFill>
                  <a:srgbClr val="536170"/>
                </a:solidFill>
                <a:latin typeface="Aptos"/>
                <a:ea typeface="Aptos"/>
                <a:cs typeface="Aptos"/>
              </a:defRPr>
            </a:pPr>
            <a:r>
              <a:t>Automated counts are useful but remain sensitive to sensor coverage, classification, and local conditions.</a:t>
            </a:r>
          </a:p>
        </p:txBody>
      </p:sp>
      <p:sp>
        <p:nvSpPr>
          <p:cNvPr id="26" name="Rounded Rectangle 25"/>
          <p:cNvSpPr>
            <a:spLocks noGrp="1"/>
          </p:cNvSpPr>
          <p:nvPr/>
        </p:nvSpPr>
        <p:spPr>
          <a:xfrm>
            <a:off x="8225155" y="3962400"/>
            <a:ext cx="3333750" cy="1066800"/>
          </a:xfrm>
          <a:prstGeom prst="roundRect">
            <a:avLst>
              <a:gd name="adj" fmla="val 7143"/>
            </a:avLst>
          </a:prstGeom>
          <a:solidFill>
            <a:srgbClr val="FFFFFF"/>
          </a:solidFill>
          <a:ln w="0">
            <a:noFill/>
            <a:prstDash val="solid"/>
          </a:ln>
        </p:spPr>
      </p:sp>
      <p:sp>
        <p:nvSpPr>
          <p:cNvPr id="27" name="Rounded Rectangle 26"/>
          <p:cNvSpPr>
            <a:spLocks noGrp="1"/>
          </p:cNvSpPr>
          <p:nvPr/>
        </p:nvSpPr>
        <p:spPr>
          <a:xfrm>
            <a:off x="8358505" y="4076700"/>
            <a:ext cx="66675" cy="838200"/>
          </a:xfrm>
          <a:prstGeom prst="roundRect">
            <a:avLst>
              <a:gd name="adj" fmla="val 50000"/>
            </a:avLst>
          </a:prstGeom>
          <a:solidFill>
            <a:srgbClr val="3B8B5D"/>
          </a:solidFill>
          <a:ln w="0">
            <a:noFill/>
            <a:prstDash val="solid"/>
          </a:ln>
        </p:spPr>
      </p:sp>
      <p:sp>
        <p:nvSpPr>
          <p:cNvPr id="28" name="Rectangles 27"/>
          <p:cNvSpPr>
            <a:spLocks noGrp="1"/>
          </p:cNvSpPr>
          <p:nvPr/>
        </p:nvSpPr>
        <p:spPr>
          <a:xfrm>
            <a:off x="8549005" y="4133850"/>
            <a:ext cx="2819400" cy="266700"/>
          </a:xfrm>
          <a:prstGeom prst="rect">
            <a:avLst/>
          </a:prstGeom>
        </p:spPr>
        <p:txBody>
          <a:bodyPr lIns="0" tIns="0" rIns="0" bIns="0">
            <a:normAutofit/>
          </a:bodyPr>
          <a:lstStyle/>
          <a:p>
            <a:pPr algn="l">
              <a:defRPr sz="1350" b="1" i="0">
                <a:solidFill>
                  <a:srgbClr val="16202A"/>
                </a:solidFill>
                <a:latin typeface="Aptos"/>
                <a:ea typeface="Aptos"/>
                <a:cs typeface="Aptos"/>
              </a:defRPr>
            </a:pPr>
            <a:r>
              <a:t>Next analysis choices</a:t>
            </a:r>
          </a:p>
        </p:txBody>
      </p:sp>
      <p:sp>
        <p:nvSpPr>
          <p:cNvPr id="29" name="Rectangles 28"/>
          <p:cNvSpPr>
            <a:spLocks noGrp="1"/>
          </p:cNvSpPr>
          <p:nvPr/>
        </p:nvSpPr>
        <p:spPr>
          <a:xfrm>
            <a:off x="8549005" y="4457700"/>
            <a:ext cx="2819400" cy="457200"/>
          </a:xfrm>
          <a:prstGeom prst="rect">
            <a:avLst/>
          </a:prstGeom>
        </p:spPr>
        <p:txBody>
          <a:bodyPr lIns="0" tIns="0" rIns="0" bIns="0">
            <a:normAutofit fontScale="88889"/>
          </a:bodyPr>
          <a:lstStyle/>
          <a:p>
            <a:pPr algn="l">
              <a:defRPr sz="1125" b="0" i="0">
                <a:solidFill>
                  <a:srgbClr val="536170"/>
                </a:solidFill>
                <a:latin typeface="Aptos"/>
                <a:ea typeface="Aptos"/>
                <a:cs typeface="Aptos"/>
              </a:defRPr>
            </a:pPr>
            <a:r>
              <a:t>Separate pedestrian/cyclist and road/path outcomes, then prioritise manual control verification.</a:t>
            </a:r>
          </a:p>
        </p:txBody>
      </p:sp>
      <p:sp>
        <p:nvSpPr>
          <p:cNvPr id="32" name="Rectangles 31"/>
          <p:cNvSpPr>
            <a:spLocks noGrp="1"/>
          </p:cNvSpPr>
          <p:nvPr/>
        </p:nvSpPr>
        <p:spPr>
          <a:xfrm>
            <a:off x="11239500" y="6419850"/>
            <a:ext cx="381000" cy="228600"/>
          </a:xfrm>
          <a:prstGeom prst="rect">
            <a:avLst/>
          </a:prstGeom>
        </p:spPr>
        <p:txBody>
          <a:bodyPr lIns="0" tIns="0" rIns="0" bIns="0">
            <a:normAutofit/>
          </a:bodyPr>
          <a:lstStyle/>
          <a:p>
            <a:pPr algn="r">
              <a:defRPr sz="900" b="0" i="0">
                <a:solidFill>
                  <a:srgbClr val="7B8794"/>
                </a:solidFill>
                <a:latin typeface="Aptos"/>
                <a:ea typeface="Aptos"/>
                <a:cs typeface="Aptos"/>
              </a:defRPr>
            </a:pPr>
            <a:r>
              <a:t>12</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8520</Words>
  <Application>WPS Presentation</Application>
  <PresentationFormat>Converted Presentation</PresentationFormat>
  <Paragraphs>418</Paragraphs>
  <Slides>12</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12</vt:i4>
      </vt:variant>
    </vt:vector>
  </HeadingPairs>
  <TitlesOfParts>
    <vt:vector size="25" baseType="lpstr">
      <vt:lpstr>Arial</vt:lpstr>
      <vt:lpstr>宋体</vt:lpstr>
      <vt:lpstr>Wingdings</vt:lpstr>
      <vt:lpstr>Aptos</vt:lpstr>
      <vt:lpstr>Thonburi</vt:lpstr>
      <vt:lpstr>微软雅黑</vt:lpstr>
      <vt:lpstr>汉仪旗黑</vt:lpstr>
      <vt:lpstr>宋体</vt:lpstr>
      <vt:lpstr>Arial Unicode MS</vt:lpstr>
      <vt:lpstr>Calibri</vt:lpstr>
      <vt:lpstr>Helvetica Neue</vt:lpstr>
      <vt:lpstr>汉仪书宋二KW</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lu_nanxi</cp:lastModifiedBy>
  <cp:revision>2</cp:revision>
  <dcterms:created xsi:type="dcterms:W3CDTF">2026-05-31T13:58:54Z</dcterms:created>
  <dcterms:modified xsi:type="dcterms:W3CDTF">2026-05-31T13:58:54Z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2C37DA0DEDED708365351C6AF664B551_42</vt:lpwstr>
  </property>
  <property fmtid="{D5CDD505-2E9C-101B-9397-08002B2CF9AE}" pid="3" name="KSOProductBuildVer">
    <vt:lpwstr>1033-6.7.1.8828</vt:lpwstr>
  </property>
</Properties>
</file>